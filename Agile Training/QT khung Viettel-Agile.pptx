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765" r:id="rId1"/>
  </p:sldMasterIdLst>
  <p:notesMasterIdLst>
    <p:notesMasterId r:id="rId30"/>
  </p:notesMasterIdLst>
  <p:sldIdLst>
    <p:sldId id="314" r:id="rId2"/>
    <p:sldId id="319" r:id="rId3"/>
    <p:sldId id="295" r:id="rId4"/>
    <p:sldId id="321" r:id="rId5"/>
    <p:sldId id="309" r:id="rId6"/>
    <p:sldId id="326" r:id="rId7"/>
    <p:sldId id="287" r:id="rId8"/>
    <p:sldId id="289" r:id="rId9"/>
    <p:sldId id="322" r:id="rId10"/>
    <p:sldId id="312" r:id="rId11"/>
    <p:sldId id="294" r:id="rId12"/>
    <p:sldId id="306" r:id="rId13"/>
    <p:sldId id="276" r:id="rId14"/>
    <p:sldId id="297" r:id="rId15"/>
    <p:sldId id="298" r:id="rId16"/>
    <p:sldId id="299" r:id="rId17"/>
    <p:sldId id="305" r:id="rId18"/>
    <p:sldId id="300" r:id="rId19"/>
    <p:sldId id="320" r:id="rId20"/>
    <p:sldId id="324" r:id="rId21"/>
    <p:sldId id="293" r:id="rId22"/>
    <p:sldId id="308" r:id="rId23"/>
    <p:sldId id="279" r:id="rId24"/>
    <p:sldId id="302" r:id="rId25"/>
    <p:sldId id="325" r:id="rId26"/>
    <p:sldId id="285" r:id="rId27"/>
    <p:sldId id="261" r:id="rId28"/>
    <p:sldId id="262" r:id="rId29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55" autoAdjust="0"/>
    <p:restoredTop sz="78330" autoAdjust="0"/>
  </p:normalViewPr>
  <p:slideViewPr>
    <p:cSldViewPr>
      <p:cViewPr>
        <p:scale>
          <a:sx n="75" d="100"/>
          <a:sy n="75" d="100"/>
        </p:scale>
        <p:origin x="-1344" y="-10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52502B-32AF-4488-8545-D09F21C5711F}" type="datetimeFigureOut">
              <a:rPr lang="en-US" smtClean="0"/>
              <a:t>3/5/2015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BFD7DA-981F-4987-B03C-B68F4C1236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001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BFD7DA-981F-4987-B03C-B68F4C12360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0922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BFD7DA-981F-4987-B03C-B68F4C12360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8377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Là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người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quan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trọng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của</a:t>
            </a:r>
            <a:r>
              <a:rPr lang="en-US" baseline="0" dirty="0" smtClean="0"/>
              <a:t> </a:t>
            </a:r>
            <a:r>
              <a:rPr lang="en-US" baseline="0" dirty="0" err="1" smtClean="0"/>
              <a:t>dự</a:t>
            </a:r>
            <a:r>
              <a:rPr lang="en-US" baseline="0" dirty="0" smtClean="0"/>
              <a:t> </a:t>
            </a:r>
            <a:r>
              <a:rPr lang="en-US" baseline="0" dirty="0" err="1" smtClean="0"/>
              <a:t>án</a:t>
            </a:r>
            <a:r>
              <a:rPr lang="en-US" baseline="0" dirty="0" smtClean="0"/>
              <a:t>/ </a:t>
            </a:r>
            <a:r>
              <a:rPr lang="en-US" baseline="0" dirty="0" err="1" smtClean="0"/>
              <a:t>Điều</a:t>
            </a:r>
            <a:r>
              <a:rPr lang="en-US" baseline="0" dirty="0" smtClean="0"/>
              <a:t> </a:t>
            </a:r>
            <a:r>
              <a:rPr lang="en-US" baseline="0" dirty="0" err="1" smtClean="0"/>
              <a:t>phối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dự</a:t>
            </a:r>
            <a:r>
              <a:rPr lang="en-US" baseline="0" dirty="0" smtClean="0"/>
              <a:t> </a:t>
            </a:r>
            <a:r>
              <a:rPr lang="en-US" baseline="0" dirty="0" err="1" smtClean="0"/>
              <a:t>án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theo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đúng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quy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trình</a:t>
            </a:r>
            <a:r>
              <a:rPr lang="en-US" baseline="0" dirty="0" smtClean="0"/>
              <a:t> Scrum </a:t>
            </a:r>
            <a:r>
              <a:rPr lang="en-US" baseline="0" dirty="0" err="1" smtClean="0"/>
              <a:t>và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tư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tưởng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phương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pháp</a:t>
            </a:r>
            <a:r>
              <a:rPr lang="en-US" baseline="0" dirty="0" smtClean="0"/>
              <a:t> Agile!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BFD7DA-981F-4987-B03C-B68F4C12360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7000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BFD7DA-981F-4987-B03C-B68F4C12360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6614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dirty="0" smtClean="0"/>
              <a:t>Team creates Sprint backlog from product backlog items of highest priority.  Team defines the Sprint goal based on the items that are planned for current Sprint.</a:t>
            </a:r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F21425B6-A10E-49B3-8EA4-FE399F77F35D}" type="slidenum">
              <a:rPr lang="en-US" smtClean="0">
                <a:latin typeface="Arial" pitchFamily="34" charset="0"/>
                <a:cs typeface="Arial" pitchFamily="34" charset="0"/>
              </a:rPr>
              <a:pPr/>
              <a:t>14</a:t>
            </a:fld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dirty="0" smtClean="0"/>
              <a:t>Team breaks down the Sprint backlog features into tasks.  Typically tasks are created in such as way that each task can be completed in one day.</a:t>
            </a:r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CD937FFA-CF52-4754-B9BC-D13393DE07E2}" type="slidenum">
              <a:rPr lang="en-US" smtClean="0">
                <a:latin typeface="Arial" pitchFamily="34" charset="0"/>
                <a:cs typeface="Arial" pitchFamily="34" charset="0"/>
              </a:rPr>
              <a:pPr/>
              <a:t>15</a:t>
            </a:fld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smtClean="0"/>
              <a:t>Team tracks Spring progress with daily scrum.</a:t>
            </a:r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8335EA3C-FF84-4C21-A380-6B12C0D31B59}" type="slidenum">
              <a:rPr lang="en-US" smtClean="0">
                <a:latin typeface="Arial" pitchFamily="34" charset="0"/>
                <a:cs typeface="Arial" pitchFamily="34" charset="0"/>
              </a:rPr>
              <a:pPr/>
              <a:t>16</a:t>
            </a:fld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BFD7DA-981F-4987-B03C-B68F4C12360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0922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BFD7DA-981F-4987-B03C-B68F4C12360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8832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dirty="0" smtClean="0"/>
              <a:t>During the Sprint, team is free to adopt the practices that works best for them.</a:t>
            </a:r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E04B70D6-D356-478D-A379-814914AFF043}" type="slidenum">
              <a:rPr lang="en-US" smtClean="0">
                <a:latin typeface="Arial" pitchFamily="34" charset="0"/>
                <a:cs typeface="Arial" pitchFamily="34" charset="0"/>
              </a:rPr>
              <a:pPr/>
              <a:t>24</a:t>
            </a:fld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3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73BBD-E250-40AA-B886-7A735E148D04}" type="datetimeFigureOut">
              <a:rPr lang="en-US" smtClean="0"/>
              <a:pPr/>
              <a:t>3/5/2015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69AEE-D211-4680-AD77-5F626AD4BF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276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73BBD-E250-40AA-B886-7A735E148D04}" type="datetimeFigureOut">
              <a:rPr lang="en-US" smtClean="0"/>
              <a:pPr/>
              <a:t>3/5/2015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69AEE-D211-4680-AD77-5F626AD4BF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870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73BBD-E250-40AA-B886-7A735E148D04}" type="datetimeFigureOut">
              <a:rPr lang="en-US" smtClean="0"/>
              <a:pPr/>
              <a:t>3/5/2015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69AEE-D211-4680-AD77-5F626AD4BF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051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73BBD-E250-40AA-B886-7A735E148D04}" type="datetimeFigureOut">
              <a:rPr lang="en-US" smtClean="0"/>
              <a:pPr/>
              <a:t>3/5/2015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69AEE-D211-4680-AD77-5F626AD4BF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861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3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3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73BBD-E250-40AA-B886-7A735E148D04}" type="datetimeFigureOut">
              <a:rPr lang="en-US" smtClean="0"/>
              <a:pPr/>
              <a:t>3/5/2015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69AEE-D211-4680-AD77-5F626AD4BF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528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73BBD-E250-40AA-B886-7A735E148D04}" type="datetimeFigureOut">
              <a:rPr lang="en-US" smtClean="0"/>
              <a:pPr/>
              <a:t>3/5/2015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69AEE-D211-4680-AD77-5F626AD4BF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397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73BBD-E250-40AA-B886-7A735E148D04}" type="datetimeFigureOut">
              <a:rPr lang="en-US" smtClean="0"/>
              <a:pPr/>
              <a:t>3/5/2015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69AEE-D211-4680-AD77-5F626AD4BF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591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9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92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9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73BBD-E250-40AA-B886-7A735E148D04}" type="datetimeFigureOut">
              <a:rPr lang="en-US" smtClean="0"/>
              <a:pPr/>
              <a:t>3/5/2015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69AEE-D211-4680-AD77-5F626AD4BF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2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7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73BBD-E250-40AA-B886-7A735E148D04}" type="datetimeFigureOut">
              <a:rPr lang="en-US" smtClean="0"/>
              <a:pPr/>
              <a:t>3/5/2015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69AEE-D211-4680-AD77-5F626AD4BF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326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73BBD-E250-40AA-B886-7A735E148D04}" type="datetimeFigureOut">
              <a:rPr lang="en-US" smtClean="0"/>
              <a:pPr/>
              <a:t>3/5/2015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69AEE-D211-4680-AD77-5F626AD4BF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665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73BBD-E250-40AA-B886-7A735E148D04}" type="datetimeFigureOut">
              <a:rPr lang="en-US" smtClean="0"/>
              <a:pPr/>
              <a:t>3/5/2015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69AEE-D211-4680-AD77-5F626AD4BF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1731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04F0CF-2DE8-491B-AE69-411BEA9B3DB7}" type="datetimeFigureOut">
              <a:rPr lang="en-US"/>
              <a:pPr>
                <a:defRPr/>
              </a:pPr>
              <a:t>3/5/2015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1F5B61-38FE-47F2-A9BC-38CBF2AA3D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973BBD-E250-40AA-B886-7A735E148D04}" type="datetimeFigureOut">
              <a:rPr lang="en-US" smtClean="0"/>
              <a:pPr/>
              <a:t>3/5/2015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F69AEE-D211-4680-AD77-5F626AD4BF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653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4" r:id="rId9"/>
    <p:sldLayoutId id="2147483775" r:id="rId10"/>
    <p:sldLayoutId id="2147483776" r:id="rId11"/>
    <p:sldLayoutId id="2147483777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3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90600" y="1352550"/>
            <a:ext cx="7010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0"/>
              </a:spcBef>
            </a:pPr>
            <a:r>
              <a:rPr lang="en-US" sz="4000" b="1" spc="-150" dirty="0" err="1" smtClean="0">
                <a:latin typeface="+mj-lt"/>
                <a:ea typeface="+mj-ea"/>
                <a:cs typeface="Times New Roman" pitchFamily="18" charset="0"/>
              </a:rPr>
              <a:t>Quy</a:t>
            </a:r>
            <a:r>
              <a:rPr lang="en-US" sz="4000" b="1" spc="-150" dirty="0" smtClean="0">
                <a:latin typeface="+mj-lt"/>
                <a:ea typeface="+mj-ea"/>
                <a:cs typeface="Times New Roman" pitchFamily="18" charset="0"/>
              </a:rPr>
              <a:t> </a:t>
            </a:r>
            <a:r>
              <a:rPr lang="en-US" sz="4000" b="1" spc="-150" dirty="0" err="1" smtClean="0">
                <a:latin typeface="+mj-lt"/>
                <a:ea typeface="+mj-ea"/>
                <a:cs typeface="Times New Roman" pitchFamily="18" charset="0"/>
              </a:rPr>
              <a:t>trình</a:t>
            </a:r>
            <a:r>
              <a:rPr lang="en-US" sz="4000" b="1" spc="-150" dirty="0" smtClean="0">
                <a:latin typeface="+mj-lt"/>
                <a:ea typeface="+mj-ea"/>
                <a:cs typeface="Times New Roman" pitchFamily="18" charset="0"/>
              </a:rPr>
              <a:t> </a:t>
            </a:r>
            <a:r>
              <a:rPr lang="en-US" sz="4000" b="1" spc="-150" dirty="0" err="1" smtClean="0">
                <a:latin typeface="+mj-lt"/>
                <a:ea typeface="+mj-ea"/>
                <a:cs typeface="Times New Roman" pitchFamily="18" charset="0"/>
              </a:rPr>
              <a:t>khung</a:t>
            </a:r>
            <a:r>
              <a:rPr lang="en-US" sz="4000" b="1" spc="-150" dirty="0" smtClean="0">
                <a:latin typeface="+mj-lt"/>
                <a:ea typeface="+mj-ea"/>
                <a:cs typeface="Times New Roman" pitchFamily="18" charset="0"/>
              </a:rPr>
              <a:t> </a:t>
            </a:r>
            <a:r>
              <a:rPr lang="en-US" sz="4000" b="1" spc="-150" dirty="0" err="1" smtClean="0">
                <a:latin typeface="+mj-lt"/>
                <a:ea typeface="+mj-ea"/>
                <a:cs typeface="Times New Roman" pitchFamily="18" charset="0"/>
              </a:rPr>
              <a:t>Viettel</a:t>
            </a:r>
            <a:r>
              <a:rPr lang="en-US" sz="4000" b="1" spc="-150" dirty="0" smtClean="0">
                <a:latin typeface="+mj-lt"/>
                <a:ea typeface="+mj-ea"/>
                <a:cs typeface="Times New Roman" pitchFamily="18" charset="0"/>
              </a:rPr>
              <a:t> - Agile</a:t>
            </a:r>
            <a:endParaRPr lang="en-US" sz="4000" b="1" spc="-150" dirty="0">
              <a:latin typeface="+mj-lt"/>
              <a:ea typeface="+mj-ea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257800" y="2247840"/>
            <a:ext cx="2743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 spc="-150" dirty="0" err="1" smtClean="0">
                <a:latin typeface="+mj-lt"/>
                <a:ea typeface="+mj-ea"/>
                <a:cs typeface="Times New Roman" pitchFamily="18" charset="0"/>
              </a:rPr>
              <a:t>Agileteam</a:t>
            </a:r>
            <a:r>
              <a:rPr lang="en-US" sz="2000" spc="-150" dirty="0" smtClean="0">
                <a:latin typeface="+mj-lt"/>
                <a:ea typeface="+mj-ea"/>
                <a:cs typeface="Times New Roman" pitchFamily="18" charset="0"/>
              </a:rPr>
              <a:t> </a:t>
            </a:r>
            <a:r>
              <a:rPr lang="en-US" sz="2000" spc="-150" dirty="0" smtClean="0">
                <a:latin typeface="+mj-lt"/>
                <a:ea typeface="+mj-ea"/>
                <a:cs typeface="Times New Roman" pitchFamily="18" charset="0"/>
              </a:rPr>
              <a:t>- P.QLCL - 2015</a:t>
            </a:r>
            <a:endParaRPr lang="en-US" sz="2000" spc="-150" dirty="0">
              <a:latin typeface="+mj-lt"/>
              <a:ea typeface="+mj-ea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195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Nội</a:t>
            </a:r>
            <a:r>
              <a:rPr lang="en-US" dirty="0" smtClean="0"/>
              <a:t> dung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1. </a:t>
            </a:r>
            <a:r>
              <a:rPr lang="en-US" dirty="0" err="1" smtClean="0"/>
              <a:t>Quy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</a:t>
            </a:r>
            <a:r>
              <a:rPr lang="en-US" dirty="0" err="1" smtClean="0"/>
              <a:t>khung</a:t>
            </a:r>
            <a:r>
              <a:rPr lang="en-US" dirty="0" smtClean="0"/>
              <a:t> </a:t>
            </a:r>
            <a:r>
              <a:rPr lang="en-US" dirty="0" err="1" smtClean="0"/>
              <a:t>Viettel</a:t>
            </a:r>
            <a:r>
              <a:rPr lang="en-US" dirty="0" smtClean="0"/>
              <a:t> – Agile</a:t>
            </a:r>
          </a:p>
          <a:p>
            <a:pPr marL="0" indent="0">
              <a:buNone/>
            </a:pPr>
            <a:r>
              <a:rPr lang="en-US" dirty="0" smtClean="0"/>
              <a:t>2.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khái</a:t>
            </a:r>
            <a:r>
              <a:rPr lang="en-US" dirty="0" smtClean="0"/>
              <a:t> </a:t>
            </a:r>
            <a:r>
              <a:rPr lang="en-US" dirty="0" err="1" smtClean="0"/>
              <a:t>niệm</a:t>
            </a:r>
            <a:r>
              <a:rPr lang="en-US" dirty="0" smtClean="0"/>
              <a:t> Scrum</a:t>
            </a:r>
          </a:p>
          <a:p>
            <a:pPr marL="0" indent="0">
              <a:buNone/>
            </a:pPr>
            <a:r>
              <a:rPr lang="en-US" dirty="0" smtClean="0"/>
              <a:t>3.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công</a:t>
            </a:r>
            <a:r>
              <a:rPr lang="en-US" dirty="0" smtClean="0"/>
              <a:t> </a:t>
            </a:r>
            <a:r>
              <a:rPr lang="en-US" dirty="0" err="1" smtClean="0"/>
              <a:t>việc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sprint</a:t>
            </a:r>
          </a:p>
          <a:p>
            <a:pPr marL="0" indent="0">
              <a:buNone/>
            </a:pPr>
            <a:r>
              <a:rPr lang="en-US" dirty="0"/>
              <a:t>4</a:t>
            </a:r>
            <a:r>
              <a:rPr lang="en-US" dirty="0" smtClean="0"/>
              <a:t>. </a:t>
            </a:r>
            <a:r>
              <a:rPr lang="en-US" dirty="0" err="1" smtClean="0"/>
              <a:t>Nghiệm</a:t>
            </a:r>
            <a:r>
              <a:rPr lang="en-US" dirty="0" smtClean="0"/>
              <a:t> </a:t>
            </a:r>
            <a:r>
              <a:rPr lang="en-US" dirty="0" err="1" smtClean="0"/>
              <a:t>thu</a:t>
            </a:r>
            <a:r>
              <a:rPr lang="en-US" dirty="0" smtClean="0"/>
              <a:t> </a:t>
            </a:r>
            <a:r>
              <a:rPr lang="en-US" dirty="0" err="1" smtClean="0"/>
              <a:t>sản</a:t>
            </a:r>
            <a:r>
              <a:rPr lang="en-US" dirty="0" smtClean="0"/>
              <a:t> </a:t>
            </a:r>
            <a:r>
              <a:rPr lang="en-US" dirty="0" err="1" smtClean="0"/>
              <a:t>phẩm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5</a:t>
            </a:r>
            <a:r>
              <a:rPr lang="en-US" dirty="0" smtClean="0"/>
              <a:t>.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thúc</a:t>
            </a:r>
            <a:r>
              <a:rPr lang="en-US" dirty="0" smtClean="0"/>
              <a:t> </a:t>
            </a:r>
            <a:r>
              <a:rPr lang="en-US" dirty="0" err="1" smtClean="0"/>
              <a:t>dự</a:t>
            </a:r>
            <a:r>
              <a:rPr lang="en-US" dirty="0" smtClean="0"/>
              <a:t> </a:t>
            </a:r>
            <a:r>
              <a:rPr lang="en-US" dirty="0" err="1" smtClean="0"/>
              <a:t>án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6. </a:t>
            </a:r>
            <a:r>
              <a:rPr lang="en-US" dirty="0" err="1" smtClean="0"/>
              <a:t>Thảo</a:t>
            </a:r>
            <a:r>
              <a:rPr lang="en-US" dirty="0" smtClean="0"/>
              <a:t> </a:t>
            </a:r>
            <a:r>
              <a:rPr lang="en-US" dirty="0" err="1" smtClean="0"/>
              <a:t>luận</a:t>
            </a:r>
            <a:endParaRPr lang="en-US" dirty="0" smtClean="0"/>
          </a:p>
          <a:p>
            <a:pPr>
              <a:buFont typeface="Wingdings" pitchFamily="2" charset="2"/>
              <a:buChar char="ü"/>
            </a:pPr>
            <a:endParaRPr lang="en-US" dirty="0" smtClean="0"/>
          </a:p>
          <a:p>
            <a:pPr>
              <a:buFont typeface="Wingdings" pitchFamily="2" charset="2"/>
              <a:buChar char="ü"/>
            </a:pPr>
            <a:endParaRPr lang="en-US" dirty="0" smtClean="0"/>
          </a:p>
          <a:p>
            <a:pPr>
              <a:buFont typeface="Wingdings" pitchFamily="2" charset="2"/>
              <a:buChar char="ü"/>
            </a:pPr>
            <a:endParaRPr lang="en-US" dirty="0" smtClean="0"/>
          </a:p>
          <a:p>
            <a:pPr>
              <a:buFont typeface="Wingdings" pitchFamily="2" charset="2"/>
              <a:buChar char="ü"/>
            </a:pPr>
            <a:endParaRPr lang="en-US" dirty="0" smtClean="0"/>
          </a:p>
          <a:p>
            <a:pPr>
              <a:buFont typeface="Wingdings" pitchFamily="2" charset="2"/>
              <a:buChar char="ü"/>
            </a:pPr>
            <a:endParaRPr lang="en-US" dirty="0" smtClean="0"/>
          </a:p>
          <a:p>
            <a:pPr>
              <a:buFont typeface="Wingdings" pitchFamily="2" charset="2"/>
              <a:buChar char="ü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7476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b="1" dirty="0" smtClean="0"/>
              <a:t> </a:t>
            </a:r>
            <a:r>
              <a:rPr lang="en-US" sz="3500" dirty="0" smtClean="0"/>
              <a:t>1. QUY </a:t>
            </a:r>
            <a:r>
              <a:rPr lang="en-US" sz="3500" dirty="0"/>
              <a:t>TRÌNH</a:t>
            </a:r>
            <a:r>
              <a:rPr lang="en-US" sz="3500" dirty="0" smtClean="0"/>
              <a:t> VIETTEL AGILE</a:t>
            </a:r>
            <a:endParaRPr lang="en-US" sz="35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1" y="1010019"/>
            <a:ext cx="7924800" cy="39239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81"/>
            <a:ext cx="8229600" cy="765571"/>
          </a:xfrm>
        </p:spPr>
        <p:txBody>
          <a:bodyPr/>
          <a:lstStyle/>
          <a:p>
            <a:pPr algn="l"/>
            <a:r>
              <a:rPr lang="en-US" sz="3500" dirty="0" smtClean="0"/>
              <a:t>2. </a:t>
            </a:r>
            <a:r>
              <a:rPr lang="en-US" sz="3500" dirty="0" err="1" smtClean="0"/>
              <a:t>Các</a:t>
            </a:r>
            <a:r>
              <a:rPr lang="en-US" sz="3500" dirty="0" smtClean="0"/>
              <a:t> </a:t>
            </a:r>
            <a:r>
              <a:rPr lang="en-US" sz="3500" dirty="0" err="1" smtClean="0"/>
              <a:t>khái</a:t>
            </a:r>
            <a:r>
              <a:rPr lang="en-US" sz="3500" dirty="0" smtClean="0"/>
              <a:t> </a:t>
            </a:r>
            <a:r>
              <a:rPr lang="en-US" sz="3500" dirty="0" err="1" smtClean="0"/>
              <a:t>niệm</a:t>
            </a:r>
            <a:r>
              <a:rPr lang="en-US" sz="3500" dirty="0" smtClean="0"/>
              <a:t> Scrum</a:t>
            </a:r>
            <a:endParaRPr lang="en-US" sz="35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3" y="1352550"/>
            <a:ext cx="7162801" cy="289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17356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85750"/>
            <a:ext cx="8229600" cy="685800"/>
          </a:xfrm>
        </p:spPr>
        <p:txBody>
          <a:bodyPr>
            <a:normAutofit/>
          </a:bodyPr>
          <a:lstStyle/>
          <a:p>
            <a:pPr algn="l"/>
            <a:r>
              <a:rPr lang="en-US" sz="3500" dirty="0" smtClean="0"/>
              <a:t>2.1. </a:t>
            </a:r>
            <a:r>
              <a:rPr lang="en-US" sz="3500" dirty="0" err="1" smtClean="0"/>
              <a:t>Các</a:t>
            </a:r>
            <a:r>
              <a:rPr lang="en-US" sz="3500" dirty="0" smtClean="0"/>
              <a:t> </a:t>
            </a:r>
            <a:r>
              <a:rPr lang="en-US" sz="3500" dirty="0" err="1" smtClean="0"/>
              <a:t>vai</a:t>
            </a:r>
            <a:r>
              <a:rPr lang="en-US" sz="3500" dirty="0" smtClean="0"/>
              <a:t> </a:t>
            </a:r>
            <a:r>
              <a:rPr lang="en-US" sz="3500" dirty="0" err="1" smtClean="0"/>
              <a:t>trò</a:t>
            </a:r>
            <a:r>
              <a:rPr lang="en-US" sz="3500" dirty="0" smtClean="0"/>
              <a:t> </a:t>
            </a:r>
            <a:r>
              <a:rPr lang="en-US" sz="3500" dirty="0" err="1" smtClean="0"/>
              <a:t>trong</a:t>
            </a:r>
            <a:r>
              <a:rPr lang="en-US" sz="3500" dirty="0" smtClean="0"/>
              <a:t> Scrum</a:t>
            </a:r>
            <a:endParaRPr lang="en-US" sz="35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00150"/>
            <a:ext cx="8305800" cy="3467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85394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500" dirty="0"/>
              <a:t>Role – Product Owner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6" y="1200152"/>
            <a:ext cx="2505075" cy="3476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 Placeholder 2"/>
          <p:cNvSpPr>
            <a:spLocks noGrp="1"/>
          </p:cNvSpPr>
          <p:nvPr>
            <p:ph type="body" idx="1"/>
          </p:nvPr>
        </p:nvSpPr>
        <p:spPr>
          <a:xfrm>
            <a:off x="3810000" y="1352552"/>
            <a:ext cx="4267200" cy="2667001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marL="0" indent="0" fontAlgn="auto">
              <a:spcAft>
                <a:spcPts val="0"/>
              </a:spcAft>
              <a:buNone/>
              <a:defRPr/>
            </a:pPr>
            <a:endParaRPr lang="en-US" sz="2000" i="1" spc="130" dirty="0">
              <a:latin typeface="Nina Compressed"/>
            </a:endParaRPr>
          </a:p>
          <a:p>
            <a:pPr indent="-342900" fontAlgn="auto"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en-US" sz="2000" i="1" spc="130" dirty="0" err="1" smtClean="0">
                <a:latin typeface="Nina Compressed"/>
              </a:rPr>
              <a:t>Chịu</a:t>
            </a:r>
            <a:r>
              <a:rPr lang="en-US" sz="2000" i="1" spc="130" dirty="0" smtClean="0">
                <a:latin typeface="Nina Compressed"/>
              </a:rPr>
              <a:t> </a:t>
            </a:r>
            <a:r>
              <a:rPr lang="en-US" sz="2000" i="1" spc="130" dirty="0" err="1" smtClean="0">
                <a:latin typeface="Nina Compressed"/>
              </a:rPr>
              <a:t>trách</a:t>
            </a:r>
            <a:r>
              <a:rPr lang="en-US" sz="2000" i="1" spc="130" dirty="0" smtClean="0">
                <a:latin typeface="Nina Compressed"/>
              </a:rPr>
              <a:t> </a:t>
            </a:r>
            <a:r>
              <a:rPr lang="en-US" sz="2000" i="1" spc="130" dirty="0" err="1" smtClean="0">
                <a:latin typeface="Nina Compressed"/>
              </a:rPr>
              <a:t>nhiệm</a:t>
            </a:r>
            <a:r>
              <a:rPr lang="en-US" sz="2000" i="1" spc="130" dirty="0" smtClean="0">
                <a:latin typeface="Nina Compressed"/>
              </a:rPr>
              <a:t> </a:t>
            </a:r>
            <a:r>
              <a:rPr lang="en-US" sz="2000" i="1" spc="130" dirty="0" err="1" smtClean="0">
                <a:latin typeface="Nina Compressed"/>
              </a:rPr>
              <a:t>chính</a:t>
            </a:r>
            <a:r>
              <a:rPr lang="en-US" sz="2000" i="1" spc="130" dirty="0" smtClean="0">
                <a:latin typeface="Nina Compressed"/>
              </a:rPr>
              <a:t> </a:t>
            </a:r>
            <a:r>
              <a:rPr lang="en-US" sz="2000" i="1" spc="130" dirty="0" err="1" smtClean="0">
                <a:latin typeface="Nina Compressed"/>
              </a:rPr>
              <a:t>về</a:t>
            </a:r>
            <a:r>
              <a:rPr lang="en-US" sz="2000" i="1" spc="130" dirty="0" smtClean="0">
                <a:latin typeface="Nina Compressed"/>
              </a:rPr>
              <a:t> </a:t>
            </a:r>
            <a:r>
              <a:rPr lang="en-US" sz="2000" i="1" spc="130" dirty="0" err="1" smtClean="0">
                <a:latin typeface="Nina Compressed"/>
              </a:rPr>
              <a:t>tính</a:t>
            </a:r>
            <a:r>
              <a:rPr lang="en-US" sz="2000" i="1" spc="130" dirty="0" smtClean="0">
                <a:latin typeface="Nina Compressed"/>
              </a:rPr>
              <a:t> </a:t>
            </a:r>
            <a:r>
              <a:rPr lang="en-US" sz="2000" i="1" spc="130" dirty="0" err="1" smtClean="0">
                <a:latin typeface="Nina Compressed"/>
              </a:rPr>
              <a:t>năng</a:t>
            </a:r>
            <a:r>
              <a:rPr lang="en-US" sz="2000" i="1" spc="130" dirty="0" smtClean="0">
                <a:latin typeface="Nina Compressed"/>
              </a:rPr>
              <a:t>, </a:t>
            </a:r>
            <a:r>
              <a:rPr lang="en-US" sz="2000" i="1" spc="130" dirty="0" err="1" smtClean="0">
                <a:latin typeface="Nina Compressed"/>
              </a:rPr>
              <a:t>chất</a:t>
            </a:r>
            <a:r>
              <a:rPr lang="en-US" sz="2000" i="1" spc="130" dirty="0" smtClean="0">
                <a:latin typeface="Nina Compressed"/>
              </a:rPr>
              <a:t> </a:t>
            </a:r>
            <a:r>
              <a:rPr lang="en-US" sz="2000" i="1" spc="130" dirty="0" err="1" smtClean="0">
                <a:latin typeface="Nina Compressed"/>
              </a:rPr>
              <a:t>lượng</a:t>
            </a:r>
            <a:r>
              <a:rPr lang="en-US" sz="2000" i="1" spc="130" dirty="0" smtClean="0">
                <a:latin typeface="Nina Compressed"/>
              </a:rPr>
              <a:t> </a:t>
            </a:r>
            <a:r>
              <a:rPr lang="en-US" sz="2000" i="1" spc="130" dirty="0" err="1" smtClean="0">
                <a:latin typeface="Nina Compressed"/>
              </a:rPr>
              <a:t>của</a:t>
            </a:r>
            <a:r>
              <a:rPr lang="en-US" sz="2000" i="1" spc="130" dirty="0" smtClean="0">
                <a:latin typeface="Nina Compressed"/>
              </a:rPr>
              <a:t> </a:t>
            </a:r>
            <a:r>
              <a:rPr lang="en-US" sz="2000" i="1" spc="130" dirty="0" err="1" smtClean="0">
                <a:latin typeface="Nina Compressed"/>
              </a:rPr>
              <a:t>sản</a:t>
            </a:r>
            <a:r>
              <a:rPr lang="en-US" sz="2000" i="1" spc="130" dirty="0" smtClean="0">
                <a:latin typeface="Nina Compressed"/>
              </a:rPr>
              <a:t> </a:t>
            </a:r>
            <a:r>
              <a:rPr lang="en-US" sz="2000" i="1" spc="130" dirty="0" err="1" smtClean="0">
                <a:latin typeface="Nina Compressed"/>
              </a:rPr>
              <a:t>phẩm</a:t>
            </a:r>
            <a:r>
              <a:rPr lang="en-US" sz="2000" i="1" spc="130" dirty="0" smtClean="0">
                <a:latin typeface="Nina Compressed"/>
              </a:rPr>
              <a:t>. </a:t>
            </a:r>
          </a:p>
          <a:p>
            <a:pPr indent="-342900">
              <a:buFont typeface="Wingdings" pitchFamily="2" charset="2"/>
              <a:buChar char="ü"/>
              <a:defRPr/>
            </a:pPr>
            <a:r>
              <a:rPr lang="en-US" sz="2000" i="1" spc="130" dirty="0" smtClean="0">
                <a:latin typeface="Nina Compressed"/>
              </a:rPr>
              <a:t> </a:t>
            </a:r>
            <a:r>
              <a:rPr lang="en-US" sz="2000" i="1" spc="130" dirty="0" err="1" smtClean="0">
                <a:latin typeface="Nina Compressed"/>
              </a:rPr>
              <a:t>Đóng</a:t>
            </a:r>
            <a:r>
              <a:rPr lang="en-US" sz="2000" i="1" spc="130" dirty="0" smtClean="0">
                <a:latin typeface="Nina Compressed"/>
              </a:rPr>
              <a:t> </a:t>
            </a:r>
            <a:r>
              <a:rPr lang="en-US" sz="2000" i="1" spc="130" dirty="0" err="1" smtClean="0">
                <a:latin typeface="Nina Compressed"/>
              </a:rPr>
              <a:t>vai</a:t>
            </a:r>
            <a:r>
              <a:rPr lang="en-US" sz="2000" i="1" spc="130" dirty="0" smtClean="0">
                <a:latin typeface="Nina Compressed"/>
              </a:rPr>
              <a:t> </a:t>
            </a:r>
            <a:r>
              <a:rPr lang="en-US" sz="2000" i="1" spc="130" dirty="0" err="1" smtClean="0">
                <a:latin typeface="Nina Compressed"/>
              </a:rPr>
              <a:t>trò</a:t>
            </a:r>
            <a:r>
              <a:rPr lang="en-US" sz="2000" i="1" spc="130" dirty="0" smtClean="0">
                <a:latin typeface="Nina Compressed"/>
              </a:rPr>
              <a:t> </a:t>
            </a:r>
            <a:r>
              <a:rPr lang="en-US" sz="2000" i="1" spc="130" dirty="0" err="1" smtClean="0">
                <a:latin typeface="Nina Compressed"/>
              </a:rPr>
              <a:t>như</a:t>
            </a:r>
            <a:r>
              <a:rPr lang="en-US" sz="2000" i="1" spc="130" dirty="0" smtClean="0">
                <a:latin typeface="Nina Compressed"/>
              </a:rPr>
              <a:t> customer;</a:t>
            </a:r>
          </a:p>
          <a:p>
            <a:pPr indent="-342900" fontAlgn="auto"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en-US" sz="2000" i="1" spc="130" dirty="0" err="1" smtClean="0">
                <a:latin typeface="Nina Compressed"/>
              </a:rPr>
              <a:t>Tạo</a:t>
            </a:r>
            <a:r>
              <a:rPr lang="en-US" sz="2000" i="1" spc="130" dirty="0" smtClean="0">
                <a:latin typeface="Nina Compressed"/>
              </a:rPr>
              <a:t> </a:t>
            </a:r>
            <a:r>
              <a:rPr lang="en-US" sz="2000" i="1" spc="130" dirty="0" err="1" smtClean="0">
                <a:latin typeface="Nina Compressed"/>
              </a:rPr>
              <a:t>và</a:t>
            </a:r>
            <a:r>
              <a:rPr lang="en-US" sz="2000" i="1" spc="130" dirty="0" smtClean="0">
                <a:latin typeface="Nina Compressed"/>
              </a:rPr>
              <a:t> </a:t>
            </a:r>
            <a:r>
              <a:rPr lang="en-US" sz="2000" i="1" spc="130" dirty="0" err="1" smtClean="0">
                <a:latin typeface="Nina Compressed"/>
              </a:rPr>
              <a:t>quản</a:t>
            </a:r>
            <a:r>
              <a:rPr lang="en-US" sz="2000" i="1" spc="130" dirty="0" smtClean="0">
                <a:latin typeface="Nina Compressed"/>
              </a:rPr>
              <a:t> </a:t>
            </a:r>
            <a:r>
              <a:rPr lang="en-US" sz="2000" i="1" spc="130" dirty="0" err="1" smtClean="0">
                <a:latin typeface="Nina Compressed"/>
              </a:rPr>
              <a:t>lý</a:t>
            </a:r>
            <a:r>
              <a:rPr lang="en-US" sz="2000" i="1" spc="130" dirty="0" smtClean="0">
                <a:latin typeface="Nina Compressed"/>
              </a:rPr>
              <a:t> Product Backlog</a:t>
            </a:r>
          </a:p>
        </p:txBody>
      </p:sp>
    </p:spTree>
    <p:extLst>
      <p:ext uri="{BB962C8B-B14F-4D97-AF65-F5344CB8AC3E}">
        <p14:creationId xmlns:p14="http://schemas.microsoft.com/office/powerpoint/2010/main" val="14998753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82"/>
            <a:ext cx="7620000" cy="689371"/>
          </a:xfrm>
        </p:spPr>
        <p:txBody>
          <a:bodyPr rtlCol="0">
            <a:normAutofit/>
          </a:bodyPr>
          <a:lstStyle/>
          <a:p>
            <a:pPr algn="l" fontAlgn="auto">
              <a:spcAft>
                <a:spcPts val="0"/>
              </a:spcAft>
              <a:defRPr/>
            </a:pPr>
            <a:r>
              <a:rPr lang="en-US" sz="3500" spc="130" dirty="0" smtClean="0">
                <a:latin typeface="+mn-lt"/>
              </a:rPr>
              <a:t>Role </a:t>
            </a:r>
            <a:r>
              <a:rPr lang="en-US" sz="3500" spc="130" dirty="0" smtClean="0">
                <a:latin typeface="+mn-lt"/>
              </a:rPr>
              <a:t>– </a:t>
            </a:r>
            <a:r>
              <a:rPr lang="en-US" sz="3500" spc="130" dirty="0" err="1" smtClean="0">
                <a:latin typeface="+mn-lt"/>
              </a:rPr>
              <a:t>ScrumMaster</a:t>
            </a:r>
            <a:endParaRPr lang="en-US" sz="3500" spc="130" dirty="0" smtClean="0">
              <a:latin typeface="+mn-lt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33800" y="1143000"/>
            <a:ext cx="4191000" cy="325755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marL="457200" indent="-457200" fontAlgn="auto">
              <a:spcAft>
                <a:spcPts val="0"/>
              </a:spcAft>
              <a:buFont typeface="Wingdings" pitchFamily="2" charset="2"/>
              <a:buChar char="ü"/>
              <a:defRPr/>
            </a:pPr>
            <a:endParaRPr lang="en-US" sz="2000" i="1" spc="130" dirty="0" smtClean="0">
              <a:latin typeface="Nina Compressed"/>
            </a:endParaRPr>
          </a:p>
          <a:p>
            <a:pPr marL="457200" indent="-457200" fontAlgn="auto"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en-US" sz="2000" i="1" spc="130" dirty="0" err="1" smtClean="0">
                <a:latin typeface="Nina Compressed"/>
              </a:rPr>
              <a:t>Là</a:t>
            </a:r>
            <a:r>
              <a:rPr lang="en-US" sz="2000" i="1" spc="130" dirty="0" smtClean="0">
                <a:latin typeface="Nina Compressed"/>
              </a:rPr>
              <a:t> </a:t>
            </a:r>
            <a:r>
              <a:rPr lang="en-US" sz="2000" i="1" spc="130" dirty="0" err="1" smtClean="0">
                <a:latin typeface="Nina Compressed"/>
              </a:rPr>
              <a:t>người</a:t>
            </a:r>
            <a:r>
              <a:rPr lang="en-US" sz="2000" i="1" spc="130" dirty="0" smtClean="0">
                <a:latin typeface="Nina Compressed"/>
              </a:rPr>
              <a:t> master </a:t>
            </a:r>
            <a:r>
              <a:rPr lang="en-US" sz="2000" i="1" spc="130" dirty="0" err="1" smtClean="0">
                <a:latin typeface="Nina Compressed"/>
              </a:rPr>
              <a:t>về</a:t>
            </a:r>
            <a:r>
              <a:rPr lang="en-US" sz="2000" i="1" spc="130" dirty="0" smtClean="0">
                <a:latin typeface="Nina Compressed"/>
              </a:rPr>
              <a:t> </a:t>
            </a:r>
            <a:r>
              <a:rPr lang="en-US" sz="2000" i="1" spc="130" dirty="0" err="1" smtClean="0">
                <a:latin typeface="Nina Compressed"/>
              </a:rPr>
              <a:t>quy</a:t>
            </a:r>
            <a:r>
              <a:rPr lang="en-US" sz="2000" i="1" spc="130" dirty="0" smtClean="0">
                <a:latin typeface="Nina Compressed"/>
              </a:rPr>
              <a:t> </a:t>
            </a:r>
            <a:r>
              <a:rPr lang="en-US" sz="2000" i="1" spc="130" dirty="0" err="1" smtClean="0">
                <a:latin typeface="Nina Compressed"/>
              </a:rPr>
              <a:t>trình</a:t>
            </a:r>
            <a:r>
              <a:rPr lang="en-US" sz="2000" i="1" spc="130" dirty="0">
                <a:latin typeface="Nina Compressed"/>
              </a:rPr>
              <a:t>.</a:t>
            </a:r>
            <a:endParaRPr lang="en-US" sz="2000" i="1" spc="130" dirty="0" smtClean="0">
              <a:latin typeface="Nina Compressed"/>
            </a:endParaRPr>
          </a:p>
          <a:p>
            <a:pPr marL="457200" indent="-457200" fontAlgn="auto"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en-US" sz="2000" i="1" spc="130" dirty="0" smtClean="0">
                <a:latin typeface="Nina Compressed"/>
              </a:rPr>
              <a:t> </a:t>
            </a:r>
            <a:r>
              <a:rPr lang="en-US" sz="2000" i="1" spc="130" dirty="0" err="1" smtClean="0">
                <a:latin typeface="Nina Compressed"/>
              </a:rPr>
              <a:t>Hướng</a:t>
            </a:r>
            <a:r>
              <a:rPr lang="en-US" sz="2000" i="1" spc="130" dirty="0" smtClean="0">
                <a:latin typeface="Nina Compressed"/>
              </a:rPr>
              <a:t> </a:t>
            </a:r>
            <a:r>
              <a:rPr lang="en-US" sz="2000" i="1" spc="130" dirty="0" err="1" smtClean="0">
                <a:latin typeface="Nina Compressed"/>
              </a:rPr>
              <a:t>dẫn</a:t>
            </a:r>
            <a:r>
              <a:rPr lang="en-US" sz="2000" i="1" spc="130" dirty="0" smtClean="0">
                <a:latin typeface="Nina Compressed"/>
              </a:rPr>
              <a:t> </a:t>
            </a:r>
            <a:r>
              <a:rPr lang="en-US" sz="2000" i="1" spc="130" dirty="0" smtClean="0">
                <a:latin typeface="Nina Compressed"/>
              </a:rPr>
              <a:t>ST </a:t>
            </a:r>
            <a:r>
              <a:rPr lang="en-US" sz="2000" i="1" spc="130" dirty="0" err="1" smtClean="0">
                <a:latin typeface="Nina Compressed"/>
              </a:rPr>
              <a:t>và</a:t>
            </a:r>
            <a:r>
              <a:rPr lang="en-US" sz="2000" i="1" spc="130" dirty="0" smtClean="0">
                <a:latin typeface="Nina Compressed"/>
              </a:rPr>
              <a:t> PO.</a:t>
            </a:r>
            <a:endParaRPr lang="en-US" sz="2000" i="1" spc="130" dirty="0" smtClean="0">
              <a:latin typeface="Nina Compressed"/>
            </a:endParaRPr>
          </a:p>
          <a:p>
            <a:pPr marL="457200" indent="-457200" fontAlgn="auto"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en-US" sz="2000" i="1" spc="130" dirty="0" err="1" smtClean="0">
                <a:latin typeface="Nina Compressed"/>
              </a:rPr>
              <a:t>Giải</a:t>
            </a:r>
            <a:r>
              <a:rPr lang="en-US" sz="2000" i="1" spc="130" dirty="0" smtClean="0">
                <a:latin typeface="Nina Compressed"/>
              </a:rPr>
              <a:t> </a:t>
            </a:r>
            <a:r>
              <a:rPr lang="en-US" sz="2000" i="1" spc="130" dirty="0" err="1" smtClean="0">
                <a:latin typeface="Nina Compressed"/>
              </a:rPr>
              <a:t>quyết</a:t>
            </a:r>
            <a:r>
              <a:rPr lang="en-US" sz="2000" i="1" spc="130" dirty="0" smtClean="0">
                <a:latin typeface="Nina Compressed"/>
              </a:rPr>
              <a:t> </a:t>
            </a:r>
            <a:r>
              <a:rPr lang="en-US" sz="2000" i="1" spc="130" dirty="0" err="1" smtClean="0">
                <a:latin typeface="Nina Compressed"/>
              </a:rPr>
              <a:t>các</a:t>
            </a:r>
            <a:r>
              <a:rPr lang="en-US" sz="2000" i="1" spc="130" dirty="0" smtClean="0">
                <a:latin typeface="Nina Compressed"/>
              </a:rPr>
              <a:t> </a:t>
            </a:r>
            <a:r>
              <a:rPr lang="en-US" sz="2000" i="1" spc="130" dirty="0" err="1" smtClean="0">
                <a:latin typeface="Nina Compressed"/>
              </a:rPr>
              <a:t>vấn</a:t>
            </a:r>
            <a:r>
              <a:rPr lang="en-US" sz="2000" i="1" spc="130" dirty="0" smtClean="0">
                <a:latin typeface="Nina Compressed"/>
              </a:rPr>
              <a:t> </a:t>
            </a:r>
            <a:r>
              <a:rPr lang="en-US" sz="2000" i="1" spc="130" dirty="0" err="1" smtClean="0">
                <a:latin typeface="Nina Compressed"/>
              </a:rPr>
              <a:t>đề</a:t>
            </a:r>
            <a:r>
              <a:rPr lang="en-US" sz="2000" i="1" spc="130" dirty="0" smtClean="0">
                <a:latin typeface="Nina Compressed"/>
              </a:rPr>
              <a:t> </a:t>
            </a:r>
            <a:r>
              <a:rPr lang="en-US" sz="2000" i="1" spc="130" dirty="0" err="1" smtClean="0">
                <a:latin typeface="Nina Compressed"/>
              </a:rPr>
              <a:t>gây</a:t>
            </a:r>
            <a:r>
              <a:rPr lang="en-US" sz="2000" i="1" spc="130" dirty="0" smtClean="0">
                <a:latin typeface="Nina Compressed"/>
              </a:rPr>
              <a:t> </a:t>
            </a:r>
            <a:r>
              <a:rPr lang="en-US" sz="2000" i="1" spc="130" dirty="0" err="1" smtClean="0">
                <a:latin typeface="Nina Compressed"/>
              </a:rPr>
              <a:t>trở</a:t>
            </a:r>
            <a:r>
              <a:rPr lang="en-US" sz="2000" i="1" spc="130" dirty="0" smtClean="0">
                <a:latin typeface="Nina Compressed"/>
              </a:rPr>
              <a:t> </a:t>
            </a:r>
            <a:r>
              <a:rPr lang="en-US" sz="2000" i="1" spc="130" dirty="0" err="1" smtClean="0">
                <a:latin typeface="Nina Compressed"/>
              </a:rPr>
              <a:t>ngại</a:t>
            </a:r>
            <a:r>
              <a:rPr lang="en-US" sz="2000" i="1" spc="130" dirty="0" smtClean="0">
                <a:latin typeface="Nina Compressed"/>
              </a:rPr>
              <a:t> </a:t>
            </a:r>
            <a:r>
              <a:rPr lang="en-US" sz="2000" i="1" spc="130" dirty="0" err="1" smtClean="0">
                <a:latin typeface="Nina Compressed"/>
              </a:rPr>
              <a:t>với</a:t>
            </a:r>
            <a:r>
              <a:rPr lang="en-US" sz="2000" i="1" spc="130" dirty="0" smtClean="0">
                <a:latin typeface="Nina Compressed"/>
              </a:rPr>
              <a:t> </a:t>
            </a:r>
            <a:r>
              <a:rPr lang="en-US" sz="2000" i="1" spc="130" dirty="0" smtClean="0">
                <a:latin typeface="Nina Compressed"/>
              </a:rPr>
              <a:t>ST.</a:t>
            </a:r>
            <a:endParaRPr lang="en-US" sz="2000" i="1" spc="130" dirty="0" smtClean="0">
              <a:latin typeface="Nina Compressed"/>
            </a:endParaRPr>
          </a:p>
          <a:p>
            <a:pPr marL="457200" indent="-457200" fontAlgn="auto"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en-US" sz="2000" i="1" spc="130" dirty="0" err="1" smtClean="0">
                <a:latin typeface="Nina Compressed"/>
              </a:rPr>
              <a:t>Đóng</a:t>
            </a:r>
            <a:r>
              <a:rPr lang="en-US" sz="2000" i="1" spc="130" dirty="0" smtClean="0">
                <a:latin typeface="Nina Compressed"/>
              </a:rPr>
              <a:t> </a:t>
            </a:r>
            <a:r>
              <a:rPr lang="en-US" sz="2000" i="1" spc="130" dirty="0" err="1" smtClean="0">
                <a:latin typeface="Nina Compressed"/>
              </a:rPr>
              <a:t>vai</a:t>
            </a:r>
            <a:r>
              <a:rPr lang="en-US" sz="2000" i="1" spc="130" dirty="0" smtClean="0">
                <a:latin typeface="Nina Compressed"/>
              </a:rPr>
              <a:t> </a:t>
            </a:r>
            <a:r>
              <a:rPr lang="en-US" sz="2000" i="1" spc="130" dirty="0" err="1" smtClean="0">
                <a:latin typeface="Nina Compressed"/>
              </a:rPr>
              <a:t>trò</a:t>
            </a:r>
            <a:r>
              <a:rPr lang="en-US" sz="2000" i="1" spc="130" dirty="0" smtClean="0">
                <a:latin typeface="Nina Compressed"/>
              </a:rPr>
              <a:t> </a:t>
            </a:r>
            <a:r>
              <a:rPr lang="en-US" sz="2000" i="1" spc="130" dirty="0" err="1" smtClean="0">
                <a:latin typeface="Nina Compressed"/>
              </a:rPr>
              <a:t>như</a:t>
            </a:r>
            <a:r>
              <a:rPr lang="en-US" sz="2000" i="1" spc="130" dirty="0" smtClean="0">
                <a:latin typeface="Nina Compressed"/>
              </a:rPr>
              <a:t> </a:t>
            </a:r>
            <a:r>
              <a:rPr lang="en-US" sz="2000" i="1" spc="130" dirty="0" err="1" smtClean="0">
                <a:latin typeface="Nina Compressed"/>
              </a:rPr>
              <a:t>một</a:t>
            </a:r>
            <a:r>
              <a:rPr lang="en-US" sz="2000" i="1" spc="130" dirty="0" smtClean="0">
                <a:latin typeface="Nina Compressed"/>
              </a:rPr>
              <a:t> </a:t>
            </a:r>
            <a:r>
              <a:rPr lang="en-US" sz="2000" i="1" spc="130" dirty="0" err="1" smtClean="0">
                <a:latin typeface="Nina Compressed"/>
              </a:rPr>
              <a:t>huấn</a:t>
            </a:r>
            <a:r>
              <a:rPr lang="en-US" sz="2000" i="1" spc="130" dirty="0" smtClean="0">
                <a:latin typeface="Nina Compressed"/>
              </a:rPr>
              <a:t> </a:t>
            </a:r>
            <a:r>
              <a:rPr lang="en-US" sz="2000" i="1" spc="130" dirty="0" err="1" smtClean="0">
                <a:latin typeface="Nina Compressed"/>
              </a:rPr>
              <a:t>luận</a:t>
            </a:r>
            <a:r>
              <a:rPr lang="en-US" sz="2000" i="1" spc="130" dirty="0" smtClean="0">
                <a:latin typeface="Nina Compressed"/>
              </a:rPr>
              <a:t> </a:t>
            </a:r>
            <a:r>
              <a:rPr lang="en-US" sz="2000" i="1" spc="130" dirty="0" err="1" smtClean="0">
                <a:latin typeface="Nina Compressed"/>
              </a:rPr>
              <a:t>viên</a:t>
            </a:r>
            <a:r>
              <a:rPr lang="en-US" sz="2000" i="1" spc="130" dirty="0" smtClean="0">
                <a:latin typeface="Nina Compressed"/>
              </a:rPr>
              <a:t> </a:t>
            </a:r>
            <a:r>
              <a:rPr lang="en-US" sz="2000" i="1" spc="130" dirty="0" err="1" smtClean="0">
                <a:latin typeface="Nina Compressed"/>
              </a:rPr>
              <a:t>đội</a:t>
            </a:r>
            <a:r>
              <a:rPr lang="en-US" sz="2000" i="1" spc="130" dirty="0" smtClean="0">
                <a:latin typeface="Nina Compressed"/>
              </a:rPr>
              <a:t> </a:t>
            </a:r>
            <a:r>
              <a:rPr lang="en-US" sz="2000" i="1" spc="130" dirty="0" err="1" smtClean="0">
                <a:latin typeface="Nina Compressed"/>
              </a:rPr>
              <a:t>bóng</a:t>
            </a:r>
            <a:r>
              <a:rPr lang="en-US" sz="2000" i="1" spc="130" dirty="0" smtClean="0">
                <a:latin typeface="Nina Compressed"/>
              </a:rPr>
              <a:t>.</a:t>
            </a:r>
            <a:endParaRPr lang="en-US" sz="2000" i="1" spc="130" dirty="0" smtClean="0">
              <a:latin typeface="Nina Compressed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143000"/>
            <a:ext cx="2514600" cy="3333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82"/>
            <a:ext cx="7010400" cy="689371"/>
          </a:xfrm>
        </p:spPr>
        <p:txBody>
          <a:bodyPr rtlCol="0">
            <a:normAutofit/>
          </a:bodyPr>
          <a:lstStyle/>
          <a:p>
            <a:pPr algn="l" fontAlgn="auto">
              <a:spcAft>
                <a:spcPts val="0"/>
              </a:spcAft>
              <a:defRPr/>
            </a:pPr>
            <a:r>
              <a:rPr lang="en-US" sz="3500" spc="130" dirty="0" smtClean="0"/>
              <a:t>Role - Scrum </a:t>
            </a:r>
            <a:r>
              <a:rPr lang="en-US" sz="3500" spc="130" dirty="0" smtClean="0"/>
              <a:t>Team</a:t>
            </a:r>
            <a:endParaRPr lang="en-US" sz="3500" spc="130" dirty="0" smtClean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91000" y="1123950"/>
            <a:ext cx="4267200" cy="34290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>
            <a:normAutofit lnSpcReduction="10000"/>
          </a:bodyPr>
          <a:lstStyle/>
          <a:p>
            <a:pPr marL="457200" indent="-457200">
              <a:buFont typeface="Wingdings" pitchFamily="2" charset="2"/>
              <a:buChar char="ü"/>
              <a:defRPr/>
            </a:pPr>
            <a:endParaRPr lang="en-US" sz="2600" i="1" spc="130" dirty="0" smtClean="0">
              <a:latin typeface="Nina Compressed"/>
            </a:endParaRPr>
          </a:p>
          <a:p>
            <a:pPr marL="457200" indent="-457200">
              <a:buFont typeface="Wingdings" pitchFamily="2" charset="2"/>
              <a:buChar char="ü"/>
              <a:defRPr/>
            </a:pPr>
            <a:r>
              <a:rPr lang="en-US" sz="2600" i="1" spc="130" dirty="0" smtClean="0">
                <a:latin typeface="Nina Compressed"/>
              </a:rPr>
              <a:t>Cross-functional </a:t>
            </a:r>
            <a:r>
              <a:rPr lang="en-US" sz="2600" i="1" spc="130" dirty="0">
                <a:latin typeface="Nina Compressed"/>
              </a:rPr>
              <a:t>– </a:t>
            </a:r>
            <a:r>
              <a:rPr lang="en-US" sz="2600" i="1" spc="130" dirty="0" err="1">
                <a:latin typeface="Nina Compressed"/>
              </a:rPr>
              <a:t>Nhóm</a:t>
            </a:r>
            <a:r>
              <a:rPr lang="en-US" sz="2600" i="1" spc="130" dirty="0">
                <a:latin typeface="Nina Compressed"/>
              </a:rPr>
              <a:t> </a:t>
            </a:r>
            <a:r>
              <a:rPr lang="en-US" sz="2600" i="1" spc="130" dirty="0" err="1">
                <a:latin typeface="Nina Compressed"/>
              </a:rPr>
              <a:t>liên</a:t>
            </a:r>
            <a:r>
              <a:rPr lang="en-US" sz="2600" i="1" spc="130" dirty="0">
                <a:latin typeface="Nina Compressed"/>
              </a:rPr>
              <a:t> </a:t>
            </a:r>
            <a:r>
              <a:rPr lang="en-US" sz="2600" i="1" spc="130" dirty="0" err="1">
                <a:latin typeface="Nina Compressed"/>
              </a:rPr>
              <a:t>chức</a:t>
            </a:r>
            <a:r>
              <a:rPr lang="en-US" sz="2600" i="1" spc="130" dirty="0">
                <a:latin typeface="Nina Compressed"/>
              </a:rPr>
              <a:t> </a:t>
            </a:r>
            <a:r>
              <a:rPr lang="en-US" sz="2600" i="1" spc="130" dirty="0" err="1" smtClean="0">
                <a:latin typeface="Nina Compressed"/>
              </a:rPr>
              <a:t>năng</a:t>
            </a:r>
            <a:r>
              <a:rPr lang="en-US" sz="2600" i="1" spc="130" dirty="0" smtClean="0">
                <a:latin typeface="Nina Compressed"/>
              </a:rPr>
              <a:t>.</a:t>
            </a:r>
            <a:endParaRPr lang="en-US" sz="2600" i="1" spc="130" dirty="0">
              <a:latin typeface="Nina Compressed"/>
            </a:endParaRPr>
          </a:p>
          <a:p>
            <a:pPr marL="457200" indent="-457200">
              <a:buFont typeface="Wingdings" pitchFamily="2" charset="2"/>
              <a:buChar char="ü"/>
              <a:defRPr/>
            </a:pPr>
            <a:r>
              <a:rPr lang="en-US" sz="2600" i="1" spc="130" dirty="0" err="1">
                <a:latin typeface="Nina Compressed"/>
              </a:rPr>
              <a:t>Nhóm</a:t>
            </a:r>
            <a:r>
              <a:rPr lang="en-US" sz="2600" i="1" spc="130" dirty="0">
                <a:latin typeface="Nina Compressed"/>
              </a:rPr>
              <a:t> </a:t>
            </a:r>
            <a:r>
              <a:rPr lang="en-US" sz="2600" i="1" spc="130" dirty="0" err="1">
                <a:latin typeface="Nina Compressed"/>
              </a:rPr>
              <a:t>tự</a:t>
            </a:r>
            <a:r>
              <a:rPr lang="en-US" sz="2600" i="1" spc="130" dirty="0">
                <a:latin typeface="Nina Compressed"/>
              </a:rPr>
              <a:t> </a:t>
            </a:r>
            <a:r>
              <a:rPr lang="en-US" sz="2600" i="1" spc="130" dirty="0" err="1">
                <a:latin typeface="Nina Compressed"/>
              </a:rPr>
              <a:t>tổ</a:t>
            </a:r>
            <a:r>
              <a:rPr lang="en-US" sz="2600" i="1" spc="130" dirty="0">
                <a:latin typeface="Nina Compressed"/>
              </a:rPr>
              <a:t> </a:t>
            </a:r>
            <a:r>
              <a:rPr lang="en-US" sz="2600" i="1" spc="130" dirty="0" err="1">
                <a:latin typeface="Nina Compressed"/>
              </a:rPr>
              <a:t>chức</a:t>
            </a:r>
            <a:r>
              <a:rPr lang="en-US" sz="2600" i="1" spc="130" dirty="0">
                <a:latin typeface="Nina Compressed"/>
              </a:rPr>
              <a:t> (self-organizing), </a:t>
            </a:r>
            <a:r>
              <a:rPr lang="en-US" sz="2600" i="1" spc="130" dirty="0" err="1">
                <a:latin typeface="Nina Compressed"/>
              </a:rPr>
              <a:t>Trách</a:t>
            </a:r>
            <a:r>
              <a:rPr lang="en-US" sz="2600" i="1" spc="130" dirty="0">
                <a:latin typeface="Nina Compressed"/>
              </a:rPr>
              <a:t> </a:t>
            </a:r>
            <a:r>
              <a:rPr lang="en-US" sz="2600" i="1" spc="130" dirty="0" err="1">
                <a:latin typeface="Nina Compressed"/>
              </a:rPr>
              <a:t>nhiệm</a:t>
            </a:r>
            <a:r>
              <a:rPr lang="en-US" sz="2600" i="1" spc="130" dirty="0">
                <a:latin typeface="Nina Compressed"/>
              </a:rPr>
              <a:t> </a:t>
            </a:r>
            <a:r>
              <a:rPr lang="en-US" sz="2600" i="1" spc="130" dirty="0" err="1">
                <a:latin typeface="Nina Compressed"/>
              </a:rPr>
              <a:t>tập</a:t>
            </a:r>
            <a:r>
              <a:rPr lang="en-US" sz="2600" i="1" spc="130" dirty="0">
                <a:latin typeface="Nina Compressed"/>
              </a:rPr>
              <a:t> </a:t>
            </a:r>
            <a:r>
              <a:rPr lang="en-US" sz="2600" i="1" spc="130" dirty="0" err="1" smtClean="0">
                <a:latin typeface="Nina Compressed"/>
              </a:rPr>
              <a:t>thể</a:t>
            </a:r>
            <a:endParaRPr lang="en-US" sz="2600" i="1" spc="130" dirty="0">
              <a:latin typeface="Nina Compressed"/>
            </a:endParaRPr>
          </a:p>
          <a:p>
            <a:pPr marL="457200" indent="-457200" fontAlgn="auto"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en-US" sz="2600" i="1" spc="130" dirty="0">
                <a:latin typeface="Nina Compressed"/>
              </a:rPr>
              <a:t> </a:t>
            </a:r>
            <a:r>
              <a:rPr lang="en-US" sz="2600" i="1" spc="130" dirty="0" err="1">
                <a:latin typeface="Nina Compressed"/>
              </a:rPr>
              <a:t>Cộng</a:t>
            </a:r>
            <a:r>
              <a:rPr lang="en-US" sz="2600" i="1" spc="130" dirty="0">
                <a:latin typeface="Nina Compressed"/>
              </a:rPr>
              <a:t> </a:t>
            </a:r>
            <a:r>
              <a:rPr lang="en-US" sz="2600" i="1" spc="130" dirty="0" err="1">
                <a:latin typeface="Nina Compressed"/>
              </a:rPr>
              <a:t>tác</a:t>
            </a:r>
            <a:r>
              <a:rPr lang="en-US" sz="2600" i="1" spc="130" dirty="0">
                <a:latin typeface="Nina Compressed"/>
              </a:rPr>
              <a:t> </a:t>
            </a:r>
            <a:r>
              <a:rPr lang="en-US" sz="2600" i="1" spc="130" dirty="0" err="1">
                <a:latin typeface="Nina Compressed"/>
              </a:rPr>
              <a:t>và</a:t>
            </a:r>
            <a:r>
              <a:rPr lang="en-US" sz="2600" i="1" spc="130" dirty="0">
                <a:latin typeface="Nina Compressed"/>
              </a:rPr>
              <a:t> </a:t>
            </a:r>
            <a:r>
              <a:rPr lang="en-US" sz="2600" i="1" spc="130" dirty="0" err="1">
                <a:latin typeface="Nina Compressed"/>
              </a:rPr>
              <a:t>hỗ</a:t>
            </a:r>
            <a:r>
              <a:rPr lang="en-US" sz="2600" i="1" spc="130" dirty="0">
                <a:latin typeface="Nina Compressed"/>
              </a:rPr>
              <a:t> </a:t>
            </a:r>
            <a:r>
              <a:rPr lang="en-US" sz="2600" i="1" spc="130" dirty="0" err="1">
                <a:latin typeface="Nina Compressed"/>
              </a:rPr>
              <a:t>trợ</a:t>
            </a:r>
            <a:r>
              <a:rPr lang="en-US" sz="2600" i="1" spc="130" dirty="0">
                <a:latin typeface="Nina Compressed"/>
              </a:rPr>
              <a:t> </a:t>
            </a:r>
            <a:r>
              <a:rPr lang="en-US" sz="2600" i="1" spc="130" dirty="0" err="1">
                <a:latin typeface="Nina Compressed"/>
              </a:rPr>
              <a:t>với</a:t>
            </a:r>
            <a:r>
              <a:rPr lang="en-US" sz="2600" i="1" spc="130" dirty="0">
                <a:latin typeface="Nina Compressed"/>
              </a:rPr>
              <a:t> </a:t>
            </a:r>
            <a:r>
              <a:rPr lang="en-US" sz="2600" i="1" spc="130" dirty="0" err="1">
                <a:latin typeface="Nina Compressed"/>
              </a:rPr>
              <a:t>nhau</a:t>
            </a:r>
            <a:r>
              <a:rPr lang="en-US" sz="2600" i="1" spc="130" dirty="0">
                <a:latin typeface="Nina Compressed"/>
              </a:rPr>
              <a:t> =&gt; </a:t>
            </a:r>
            <a:r>
              <a:rPr lang="en-US" sz="2600" i="1" spc="130" dirty="0" err="1">
                <a:latin typeface="Nina Compressed"/>
              </a:rPr>
              <a:t>Cộng</a:t>
            </a:r>
            <a:r>
              <a:rPr lang="en-US" sz="2600" i="1" spc="130" dirty="0">
                <a:latin typeface="Nina Compressed"/>
              </a:rPr>
              <a:t> </a:t>
            </a:r>
            <a:r>
              <a:rPr lang="en-US" sz="2600" i="1" spc="130" dirty="0" err="1">
                <a:latin typeface="Nina Compressed"/>
              </a:rPr>
              <a:t>lực</a:t>
            </a:r>
            <a:endParaRPr lang="en-US" sz="2600" i="1" spc="130" dirty="0">
              <a:latin typeface="Nina Compressed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123950"/>
            <a:ext cx="3276600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500" dirty="0" smtClean="0"/>
              <a:t>2.2. </a:t>
            </a:r>
            <a:r>
              <a:rPr lang="en-US" sz="3500" dirty="0" err="1" smtClean="0"/>
              <a:t>Các</a:t>
            </a:r>
            <a:r>
              <a:rPr lang="en-US" sz="3500" dirty="0" smtClean="0"/>
              <a:t> </a:t>
            </a:r>
            <a:r>
              <a:rPr lang="en-US" sz="3500" dirty="0" err="1" smtClean="0"/>
              <a:t>tài</a:t>
            </a:r>
            <a:r>
              <a:rPr lang="en-US" sz="3500" dirty="0" smtClean="0"/>
              <a:t> </a:t>
            </a:r>
            <a:r>
              <a:rPr lang="en-US" sz="3500" dirty="0" err="1" smtClean="0"/>
              <a:t>liệu</a:t>
            </a:r>
            <a:r>
              <a:rPr lang="en-US" sz="3500" dirty="0" smtClean="0"/>
              <a:t> </a:t>
            </a:r>
            <a:r>
              <a:rPr lang="en-US" sz="3500" dirty="0" err="1" smtClean="0"/>
              <a:t>quan</a:t>
            </a:r>
            <a:r>
              <a:rPr lang="en-US" sz="3500" dirty="0" smtClean="0"/>
              <a:t> </a:t>
            </a:r>
            <a:r>
              <a:rPr lang="en-US" sz="3500" dirty="0" err="1" smtClean="0"/>
              <a:t>trọng</a:t>
            </a:r>
            <a:endParaRPr lang="en-US" sz="35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352550"/>
            <a:ext cx="7848600" cy="335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386944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81"/>
            <a:ext cx="4495800" cy="841771"/>
          </a:xfrm>
        </p:spPr>
        <p:txBody>
          <a:bodyPr>
            <a:normAutofit/>
          </a:bodyPr>
          <a:lstStyle/>
          <a:p>
            <a:pPr algn="l"/>
            <a:r>
              <a:rPr lang="en-US" sz="3500" dirty="0" smtClean="0"/>
              <a:t>Product </a:t>
            </a:r>
            <a:r>
              <a:rPr lang="en-US" sz="3500" dirty="0" smtClean="0"/>
              <a:t>backlog</a:t>
            </a:r>
            <a:endParaRPr lang="en-US" sz="35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3962400" cy="3394472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5" y="1200153"/>
            <a:ext cx="3809999" cy="33527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 Placeholder 2"/>
          <p:cNvSpPr txBox="1">
            <a:spLocks/>
          </p:cNvSpPr>
          <p:nvPr/>
        </p:nvSpPr>
        <p:spPr>
          <a:xfrm>
            <a:off x="4648200" y="1200153"/>
            <a:ext cx="4038600" cy="335279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Wingdings" pitchFamily="2" charset="2"/>
              <a:buChar char="ü"/>
              <a:defRPr/>
            </a:pPr>
            <a:endParaRPr lang="en-US" sz="2200" i="1" spc="130" dirty="0" smtClean="0">
              <a:latin typeface="Nina Compressed"/>
            </a:endParaRPr>
          </a:p>
          <a:p>
            <a:pPr marL="457200" indent="-457200">
              <a:buFont typeface="Wingdings" pitchFamily="2" charset="2"/>
              <a:buChar char="ü"/>
              <a:defRPr/>
            </a:pPr>
            <a:r>
              <a:rPr lang="en-US" sz="2200" i="1" spc="130" dirty="0" err="1" smtClean="0">
                <a:latin typeface="Nina Compressed"/>
              </a:rPr>
              <a:t>Danh</a:t>
            </a:r>
            <a:r>
              <a:rPr lang="en-US" sz="2200" i="1" spc="130" dirty="0" smtClean="0">
                <a:latin typeface="Nina Compressed"/>
              </a:rPr>
              <a:t> </a:t>
            </a:r>
            <a:r>
              <a:rPr lang="en-US" sz="2200" i="1" spc="130" dirty="0" err="1" smtClean="0">
                <a:latin typeface="Nina Compressed"/>
              </a:rPr>
              <a:t>sách</a:t>
            </a:r>
            <a:r>
              <a:rPr lang="en-US" sz="2200" i="1" spc="130" dirty="0" smtClean="0">
                <a:latin typeface="Nina Compressed"/>
              </a:rPr>
              <a:t> </a:t>
            </a:r>
            <a:r>
              <a:rPr lang="en-US" sz="2200" i="1" spc="130" dirty="0" err="1" smtClean="0">
                <a:latin typeface="Nina Compressed"/>
              </a:rPr>
              <a:t>tính</a:t>
            </a:r>
            <a:r>
              <a:rPr lang="en-US" sz="2200" i="1" spc="130" dirty="0" smtClean="0">
                <a:latin typeface="Nina Compressed"/>
              </a:rPr>
              <a:t> </a:t>
            </a:r>
            <a:r>
              <a:rPr lang="en-US" sz="2200" i="1" spc="130" dirty="0" err="1" smtClean="0">
                <a:latin typeface="Nina Compressed"/>
              </a:rPr>
              <a:t>năng</a:t>
            </a:r>
            <a:r>
              <a:rPr lang="en-US" sz="2200" i="1" spc="130" dirty="0" smtClean="0">
                <a:latin typeface="Nina Compressed"/>
              </a:rPr>
              <a:t> </a:t>
            </a:r>
            <a:r>
              <a:rPr lang="en-US" sz="2200" i="1" spc="130" dirty="0" err="1" smtClean="0">
                <a:latin typeface="Nina Compressed"/>
              </a:rPr>
              <a:t>của</a:t>
            </a:r>
            <a:r>
              <a:rPr lang="en-US" sz="2200" i="1" spc="130" dirty="0" smtClean="0">
                <a:latin typeface="Nina Compressed"/>
              </a:rPr>
              <a:t> </a:t>
            </a:r>
            <a:r>
              <a:rPr lang="en-US" sz="2200" i="1" spc="130" dirty="0" err="1" smtClean="0">
                <a:latin typeface="Nina Compressed"/>
              </a:rPr>
              <a:t>sản</a:t>
            </a:r>
            <a:r>
              <a:rPr lang="en-US" sz="2200" i="1" spc="130" dirty="0" smtClean="0">
                <a:latin typeface="Nina Compressed"/>
              </a:rPr>
              <a:t> </a:t>
            </a:r>
            <a:r>
              <a:rPr lang="en-US" sz="2200" i="1" spc="130" dirty="0" err="1" smtClean="0">
                <a:latin typeface="Nina Compressed"/>
              </a:rPr>
              <a:t>phẩm</a:t>
            </a:r>
            <a:r>
              <a:rPr lang="en-US" sz="2200" i="1" spc="130" dirty="0" smtClean="0">
                <a:latin typeface="Nina Compressed"/>
              </a:rPr>
              <a:t>, </a:t>
            </a:r>
            <a:r>
              <a:rPr lang="en-US" sz="2200" i="1" spc="130" dirty="0" err="1" smtClean="0">
                <a:latin typeface="Nina Compressed"/>
              </a:rPr>
              <a:t>toàn</a:t>
            </a:r>
            <a:r>
              <a:rPr lang="en-US" sz="2200" i="1" spc="130" dirty="0" smtClean="0">
                <a:latin typeface="Nina Compressed"/>
              </a:rPr>
              <a:t> </a:t>
            </a:r>
            <a:r>
              <a:rPr lang="en-US" sz="2200" i="1" spc="130" dirty="0" err="1" smtClean="0">
                <a:latin typeface="Nina Compressed"/>
              </a:rPr>
              <a:t>bộ</a:t>
            </a:r>
            <a:r>
              <a:rPr lang="en-US" sz="2200" i="1" spc="130" dirty="0" smtClean="0">
                <a:latin typeface="Nina Compressed"/>
              </a:rPr>
              <a:t> </a:t>
            </a:r>
            <a:r>
              <a:rPr lang="en-US" sz="2200" i="1" spc="130" dirty="0" err="1" smtClean="0">
                <a:latin typeface="Nina Compressed"/>
              </a:rPr>
              <a:t>các</a:t>
            </a:r>
            <a:r>
              <a:rPr lang="en-US" sz="2200" i="1" spc="130" dirty="0" smtClean="0">
                <a:latin typeface="Nina Compressed"/>
              </a:rPr>
              <a:t> </a:t>
            </a:r>
            <a:r>
              <a:rPr lang="en-US" sz="2200" i="1" spc="130" dirty="0" err="1" smtClean="0">
                <a:latin typeface="Nina Compressed"/>
              </a:rPr>
              <a:t>công</a:t>
            </a:r>
            <a:r>
              <a:rPr lang="en-US" sz="2200" i="1" spc="130" dirty="0" smtClean="0">
                <a:latin typeface="Nina Compressed"/>
              </a:rPr>
              <a:t> </a:t>
            </a:r>
            <a:r>
              <a:rPr lang="en-US" sz="2200" i="1" spc="130" dirty="0" err="1" smtClean="0">
                <a:latin typeface="Nina Compressed"/>
              </a:rPr>
              <a:t>việc</a:t>
            </a:r>
            <a:r>
              <a:rPr lang="en-US" sz="2200" i="1" spc="130" dirty="0" smtClean="0">
                <a:latin typeface="Nina Compressed"/>
              </a:rPr>
              <a:t> </a:t>
            </a:r>
            <a:r>
              <a:rPr lang="en-US" sz="2200" i="1" spc="130" dirty="0" err="1" smtClean="0">
                <a:latin typeface="Nina Compressed"/>
              </a:rPr>
              <a:t>phải</a:t>
            </a:r>
            <a:r>
              <a:rPr lang="en-US" sz="2200" i="1" spc="130" dirty="0" smtClean="0">
                <a:latin typeface="Nina Compressed"/>
              </a:rPr>
              <a:t> </a:t>
            </a:r>
            <a:r>
              <a:rPr lang="en-US" sz="2200" i="1" spc="130" dirty="0" err="1" smtClean="0">
                <a:latin typeface="Nina Compressed"/>
              </a:rPr>
              <a:t>làm</a:t>
            </a:r>
            <a:r>
              <a:rPr lang="en-US" sz="2200" i="1" spc="130" dirty="0" smtClean="0">
                <a:latin typeface="Nina Compressed"/>
              </a:rPr>
              <a:t> </a:t>
            </a:r>
            <a:r>
              <a:rPr lang="en-US" sz="2200" i="1" spc="130" dirty="0" err="1" smtClean="0">
                <a:latin typeface="Nina Compressed"/>
              </a:rPr>
              <a:t>trong</a:t>
            </a:r>
            <a:r>
              <a:rPr lang="en-US" sz="2200" i="1" spc="130" dirty="0" smtClean="0">
                <a:latin typeface="Nina Compressed"/>
              </a:rPr>
              <a:t> </a:t>
            </a:r>
            <a:r>
              <a:rPr lang="en-US" sz="2200" i="1" spc="130" dirty="0" err="1" smtClean="0">
                <a:latin typeface="Nina Compressed"/>
              </a:rPr>
              <a:t>quá</a:t>
            </a:r>
            <a:r>
              <a:rPr lang="en-US" sz="2200" i="1" spc="130" dirty="0" smtClean="0">
                <a:latin typeface="Nina Compressed"/>
              </a:rPr>
              <a:t> </a:t>
            </a:r>
            <a:r>
              <a:rPr lang="en-US" sz="2200" i="1" spc="130" dirty="0" err="1" smtClean="0">
                <a:latin typeface="Nina Compressed"/>
              </a:rPr>
              <a:t>trình</a:t>
            </a:r>
            <a:r>
              <a:rPr lang="en-US" sz="2200" i="1" spc="130" dirty="0" smtClean="0">
                <a:latin typeface="Nina Compressed"/>
              </a:rPr>
              <a:t> </a:t>
            </a:r>
            <a:r>
              <a:rPr lang="en-US" sz="2200" i="1" spc="130" dirty="0" err="1" smtClean="0">
                <a:latin typeface="Nina Compressed"/>
              </a:rPr>
              <a:t>phát</a:t>
            </a:r>
            <a:r>
              <a:rPr lang="en-US" sz="2200" i="1" spc="130" dirty="0" smtClean="0">
                <a:latin typeface="Nina Compressed"/>
              </a:rPr>
              <a:t> </a:t>
            </a:r>
            <a:r>
              <a:rPr lang="en-US" sz="2200" i="1" spc="130" dirty="0" err="1" smtClean="0">
                <a:latin typeface="Nina Compressed"/>
              </a:rPr>
              <a:t>triển</a:t>
            </a:r>
            <a:r>
              <a:rPr lang="en-US" sz="2200" i="1" spc="130" dirty="0" smtClean="0">
                <a:latin typeface="Nina Compressed"/>
              </a:rPr>
              <a:t> </a:t>
            </a:r>
            <a:r>
              <a:rPr lang="en-US" sz="2200" i="1" spc="130" dirty="0" err="1" smtClean="0">
                <a:latin typeface="Nina Compressed"/>
              </a:rPr>
              <a:t>sản</a:t>
            </a:r>
            <a:r>
              <a:rPr lang="en-US" sz="2200" i="1" spc="130" dirty="0" smtClean="0">
                <a:latin typeface="Nina Compressed"/>
              </a:rPr>
              <a:t> </a:t>
            </a:r>
            <a:r>
              <a:rPr lang="en-US" sz="2200" i="1" spc="130" dirty="0" err="1" smtClean="0">
                <a:latin typeface="Nina Compressed"/>
              </a:rPr>
              <a:t>phẩm</a:t>
            </a:r>
            <a:endParaRPr lang="en-US" sz="2200" i="1" spc="130" dirty="0" smtClean="0">
              <a:latin typeface="Nina Compressed"/>
            </a:endParaRPr>
          </a:p>
          <a:p>
            <a:pPr marL="457200" indent="-457200">
              <a:buFont typeface="Wingdings" pitchFamily="2" charset="2"/>
              <a:buChar char="ü"/>
              <a:defRPr/>
            </a:pPr>
            <a:r>
              <a:rPr lang="en-US" sz="2200" i="1" spc="130" dirty="0" err="1" smtClean="0">
                <a:latin typeface="Nina Compressed"/>
              </a:rPr>
              <a:t>Các</a:t>
            </a:r>
            <a:r>
              <a:rPr lang="en-US" sz="2200" i="1" spc="130" dirty="0" smtClean="0">
                <a:latin typeface="Nina Compressed"/>
              </a:rPr>
              <a:t> </a:t>
            </a:r>
            <a:r>
              <a:rPr lang="en-US" sz="2200" i="1" spc="130" dirty="0" err="1" smtClean="0">
                <a:latin typeface="Nina Compressed"/>
              </a:rPr>
              <a:t>danh</a:t>
            </a:r>
            <a:r>
              <a:rPr lang="en-US" sz="2200" i="1" spc="130" dirty="0" smtClean="0">
                <a:latin typeface="Nina Compressed"/>
              </a:rPr>
              <a:t> </a:t>
            </a:r>
            <a:r>
              <a:rPr lang="en-US" sz="2200" i="1" spc="130" dirty="0" err="1" smtClean="0">
                <a:latin typeface="Nina Compressed"/>
              </a:rPr>
              <a:t>mục</a:t>
            </a:r>
            <a:r>
              <a:rPr lang="en-US" sz="2200" i="1" spc="130" dirty="0" smtClean="0">
                <a:latin typeface="Nina Compressed"/>
              </a:rPr>
              <a:t> </a:t>
            </a:r>
            <a:r>
              <a:rPr lang="en-US" sz="2200" i="1" spc="130" dirty="0" err="1">
                <a:latin typeface="Nina Compressed"/>
              </a:rPr>
              <a:t>đ</a:t>
            </a:r>
            <a:r>
              <a:rPr lang="en-US" sz="2200" i="1" spc="130" dirty="0" err="1" smtClean="0">
                <a:latin typeface="Nina Compressed"/>
              </a:rPr>
              <a:t>ược</a:t>
            </a:r>
            <a:r>
              <a:rPr lang="en-US" sz="2200" i="1" spc="130" dirty="0" smtClean="0">
                <a:latin typeface="Nina Compressed"/>
              </a:rPr>
              <a:t> </a:t>
            </a:r>
            <a:r>
              <a:rPr lang="en-US" sz="2200" i="1" spc="130" dirty="0" err="1" smtClean="0">
                <a:latin typeface="Nina Compressed"/>
              </a:rPr>
              <a:t>đánh</a:t>
            </a:r>
            <a:r>
              <a:rPr lang="en-US" sz="2200" i="1" spc="130" dirty="0" smtClean="0">
                <a:latin typeface="Nina Compressed"/>
              </a:rPr>
              <a:t> </a:t>
            </a:r>
            <a:r>
              <a:rPr lang="en-US" sz="2200" i="1" spc="130" dirty="0" err="1" smtClean="0">
                <a:latin typeface="Nina Compressed"/>
              </a:rPr>
              <a:t>độ</a:t>
            </a:r>
            <a:r>
              <a:rPr lang="en-US" sz="2200" i="1" spc="130" dirty="0" smtClean="0">
                <a:latin typeface="Nina Compressed"/>
              </a:rPr>
              <a:t> </a:t>
            </a:r>
            <a:r>
              <a:rPr lang="en-US" sz="2200" i="1" spc="130" dirty="0" err="1" smtClean="0">
                <a:latin typeface="Nina Compressed"/>
              </a:rPr>
              <a:t>ưu</a:t>
            </a:r>
            <a:r>
              <a:rPr lang="en-US" sz="2200" i="1" spc="130" dirty="0" smtClean="0">
                <a:latin typeface="Nina Compressed"/>
              </a:rPr>
              <a:t> </a:t>
            </a:r>
            <a:r>
              <a:rPr lang="en-US" sz="2200" i="1" spc="130" dirty="0" err="1" smtClean="0">
                <a:latin typeface="Nina Compressed"/>
              </a:rPr>
              <a:t>tiêu</a:t>
            </a:r>
            <a:r>
              <a:rPr lang="en-US" sz="2200" i="1" spc="130" dirty="0" smtClean="0">
                <a:latin typeface="Nina Compressed"/>
              </a:rPr>
              <a:t> </a:t>
            </a:r>
            <a:r>
              <a:rPr lang="en-US" sz="2200" i="1" spc="130" dirty="0" err="1" smtClean="0">
                <a:latin typeface="Nina Compressed"/>
              </a:rPr>
              <a:t>theo</a:t>
            </a:r>
            <a:r>
              <a:rPr lang="en-US" sz="2200" i="1" spc="130" dirty="0" smtClean="0">
                <a:latin typeface="Nina Compressed"/>
              </a:rPr>
              <a:t> </a:t>
            </a:r>
            <a:r>
              <a:rPr lang="en-US" sz="2200" i="1" spc="130" dirty="0" err="1" smtClean="0">
                <a:latin typeface="Nina Compressed"/>
              </a:rPr>
              <a:t>thứ</a:t>
            </a:r>
            <a:r>
              <a:rPr lang="en-US" sz="2200" i="1" spc="130" dirty="0">
                <a:latin typeface="Nina Compressed"/>
              </a:rPr>
              <a:t> </a:t>
            </a:r>
            <a:r>
              <a:rPr lang="en-US" sz="2200" i="1" spc="130" dirty="0" err="1" smtClean="0">
                <a:latin typeface="Nina Compressed"/>
              </a:rPr>
              <a:t>tự</a:t>
            </a:r>
            <a:r>
              <a:rPr lang="en-US" sz="2200" i="1" spc="130" dirty="0" smtClean="0">
                <a:latin typeface="Nina Compressed"/>
              </a:rPr>
              <a:t> </a:t>
            </a:r>
            <a:r>
              <a:rPr lang="en-US" sz="2200" i="1" spc="130" dirty="0" err="1" smtClean="0">
                <a:latin typeface="Nina Compressed"/>
              </a:rPr>
              <a:t>thực</a:t>
            </a:r>
            <a:r>
              <a:rPr lang="en-US" sz="2200" i="1" spc="130" dirty="0" smtClean="0">
                <a:latin typeface="Nina Compressed"/>
              </a:rPr>
              <a:t> </a:t>
            </a:r>
            <a:r>
              <a:rPr lang="en-US" sz="2200" i="1" spc="130" dirty="0" err="1" smtClean="0">
                <a:latin typeface="Nina Compressed"/>
              </a:rPr>
              <a:t>hiện</a:t>
            </a:r>
            <a:endParaRPr lang="en-US" sz="2200" i="1" spc="130" dirty="0" smtClean="0">
              <a:latin typeface="Nina Compressed"/>
            </a:endParaRPr>
          </a:p>
          <a:p>
            <a:pPr marL="457200" indent="-457200">
              <a:buFont typeface="Wingdings" pitchFamily="2" charset="2"/>
              <a:buChar char="ü"/>
              <a:defRPr/>
            </a:pPr>
            <a:r>
              <a:rPr lang="en-US" sz="2200" i="1" spc="130" dirty="0" err="1" smtClean="0">
                <a:latin typeface="Nina Compressed"/>
              </a:rPr>
              <a:t>Trực</a:t>
            </a:r>
            <a:r>
              <a:rPr lang="en-US" sz="2200" i="1" spc="130" dirty="0" smtClean="0">
                <a:latin typeface="Nina Compressed"/>
              </a:rPr>
              <a:t> </a:t>
            </a:r>
            <a:r>
              <a:rPr lang="en-US" sz="2200" i="1" spc="130" dirty="0" err="1" smtClean="0">
                <a:latin typeface="Nina Compressed"/>
              </a:rPr>
              <a:t>quan</a:t>
            </a:r>
            <a:r>
              <a:rPr lang="en-US" sz="2200" i="1" spc="130" dirty="0" smtClean="0">
                <a:latin typeface="Nina Compressed"/>
              </a:rPr>
              <a:t> </a:t>
            </a:r>
            <a:r>
              <a:rPr lang="en-US" sz="2200" i="1" spc="130" dirty="0" err="1" smtClean="0">
                <a:latin typeface="Nina Compressed"/>
              </a:rPr>
              <a:t>với</a:t>
            </a:r>
            <a:r>
              <a:rPr lang="en-US" sz="2200" i="1" spc="130" dirty="0" smtClean="0">
                <a:latin typeface="Nina Compressed"/>
              </a:rPr>
              <a:t> </a:t>
            </a:r>
            <a:r>
              <a:rPr lang="en-US" sz="2200" i="1" spc="130" dirty="0" err="1" smtClean="0">
                <a:latin typeface="Nina Compressed"/>
              </a:rPr>
              <a:t>toàn</a:t>
            </a:r>
            <a:r>
              <a:rPr lang="en-US" sz="2200" i="1" spc="130" dirty="0" smtClean="0">
                <a:latin typeface="Nina Compressed"/>
              </a:rPr>
              <a:t> team</a:t>
            </a:r>
            <a:endParaRPr lang="en-US" sz="2200" i="1" spc="130" dirty="0">
              <a:latin typeface="Nina Compressed"/>
            </a:endParaRPr>
          </a:p>
        </p:txBody>
      </p:sp>
    </p:spTree>
    <p:extLst>
      <p:ext uri="{BB962C8B-B14F-4D97-AF65-F5344CB8AC3E}">
        <p14:creationId xmlns:p14="http://schemas.microsoft.com/office/powerpoint/2010/main" val="18349627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81"/>
            <a:ext cx="2971800" cy="689371"/>
          </a:xfrm>
        </p:spPr>
        <p:txBody>
          <a:bodyPr rtlCol="0">
            <a:normAutofit/>
          </a:bodyPr>
          <a:lstStyle/>
          <a:p>
            <a:pPr algn="l" fontAlgn="auto">
              <a:spcAft>
                <a:spcPts val="0"/>
              </a:spcAft>
              <a:defRPr/>
            </a:pPr>
            <a:r>
              <a:rPr lang="en-US" sz="3500" dirty="0" smtClean="0"/>
              <a:t>Sprint backlog </a:t>
            </a:r>
            <a:endParaRPr lang="en-US" sz="3500" b="1" spc="130" dirty="0" smtClean="0">
              <a:latin typeface="Nina Compressed"/>
            </a:endParaRPr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76350"/>
            <a:ext cx="4038600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 Placeholder 2"/>
          <p:cNvSpPr txBox="1">
            <a:spLocks/>
          </p:cNvSpPr>
          <p:nvPr/>
        </p:nvSpPr>
        <p:spPr>
          <a:xfrm>
            <a:off x="4800600" y="1270000"/>
            <a:ext cx="4191000" cy="34353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Wingdings" pitchFamily="2" charset="2"/>
              <a:buChar char="ü"/>
              <a:defRPr/>
            </a:pPr>
            <a:endParaRPr lang="en-US" sz="2200" i="1" spc="130" dirty="0" smtClean="0">
              <a:latin typeface="Nina Compressed"/>
            </a:endParaRPr>
          </a:p>
          <a:p>
            <a:pPr marL="457200" indent="-457200">
              <a:buFont typeface="Wingdings" pitchFamily="2" charset="2"/>
              <a:buChar char="ü"/>
              <a:defRPr/>
            </a:pPr>
            <a:r>
              <a:rPr lang="en-US" sz="2200" i="1" spc="130" dirty="0" err="1" smtClean="0">
                <a:latin typeface="Nina Compressed"/>
              </a:rPr>
              <a:t>Danh</a:t>
            </a:r>
            <a:r>
              <a:rPr lang="en-US" sz="2200" i="1" spc="130" dirty="0" smtClean="0">
                <a:latin typeface="Nina Compressed"/>
              </a:rPr>
              <a:t> </a:t>
            </a:r>
            <a:r>
              <a:rPr lang="en-US" sz="2200" i="1" spc="130" dirty="0" err="1" smtClean="0">
                <a:latin typeface="Nina Compressed"/>
              </a:rPr>
              <a:t>sách</a:t>
            </a:r>
            <a:r>
              <a:rPr lang="en-US" sz="2200" i="1" spc="130" dirty="0" smtClean="0">
                <a:latin typeface="Nina Compressed"/>
              </a:rPr>
              <a:t> story </a:t>
            </a:r>
            <a:r>
              <a:rPr lang="en-US" sz="2200" i="1" spc="130" dirty="0" err="1" smtClean="0">
                <a:latin typeface="Nina Compressed"/>
              </a:rPr>
              <a:t>thực</a:t>
            </a:r>
            <a:r>
              <a:rPr lang="en-US" sz="2200" i="1" spc="130" dirty="0" smtClean="0">
                <a:latin typeface="Nina Compressed"/>
              </a:rPr>
              <a:t> </a:t>
            </a:r>
            <a:r>
              <a:rPr lang="en-US" sz="2200" i="1" spc="130" dirty="0" err="1" smtClean="0">
                <a:latin typeface="Nina Compressed"/>
              </a:rPr>
              <a:t>hiện</a:t>
            </a:r>
            <a:r>
              <a:rPr lang="en-US" sz="2200" i="1" spc="130" dirty="0" smtClean="0">
                <a:latin typeface="Nina Compressed"/>
              </a:rPr>
              <a:t> </a:t>
            </a:r>
            <a:r>
              <a:rPr lang="en-US" sz="2200" i="1" spc="130" dirty="0" err="1" smtClean="0">
                <a:latin typeface="Nina Compressed"/>
              </a:rPr>
              <a:t>trong</a:t>
            </a:r>
            <a:r>
              <a:rPr lang="en-US" sz="2200" i="1" spc="130" dirty="0" smtClean="0">
                <a:latin typeface="Nina Compressed"/>
              </a:rPr>
              <a:t> 1 sprint</a:t>
            </a:r>
          </a:p>
          <a:p>
            <a:pPr marL="457200" indent="-457200">
              <a:buFont typeface="Wingdings" pitchFamily="2" charset="2"/>
              <a:buChar char="ü"/>
              <a:defRPr/>
            </a:pPr>
            <a:r>
              <a:rPr lang="en-US" sz="2200" i="1" spc="130" dirty="0" err="1" smtClean="0">
                <a:latin typeface="Nina Compressed"/>
              </a:rPr>
              <a:t>Các</a:t>
            </a:r>
            <a:r>
              <a:rPr lang="en-US" sz="2200" i="1" spc="130" dirty="0" smtClean="0">
                <a:latin typeface="Nina Compressed"/>
              </a:rPr>
              <a:t> story </a:t>
            </a:r>
            <a:r>
              <a:rPr lang="en-US" sz="2200" i="1" spc="130" dirty="0" err="1" smtClean="0">
                <a:latin typeface="Nina Compressed"/>
              </a:rPr>
              <a:t>được</a:t>
            </a:r>
            <a:r>
              <a:rPr lang="en-US" sz="2200" i="1" spc="130" dirty="0" smtClean="0">
                <a:latin typeface="Nina Compressed"/>
              </a:rPr>
              <a:t> </a:t>
            </a:r>
            <a:r>
              <a:rPr lang="en-US" sz="2200" i="1" spc="130" dirty="0" err="1" smtClean="0">
                <a:latin typeface="Nina Compressed"/>
              </a:rPr>
              <a:t>phân</a:t>
            </a:r>
            <a:r>
              <a:rPr lang="en-US" sz="2200" i="1" spc="130" dirty="0" smtClean="0">
                <a:latin typeface="Nina Compressed"/>
              </a:rPr>
              <a:t> </a:t>
            </a:r>
            <a:r>
              <a:rPr lang="en-US" sz="2200" i="1" spc="130" dirty="0" err="1" smtClean="0">
                <a:latin typeface="Nina Compressed"/>
              </a:rPr>
              <a:t>tách</a:t>
            </a:r>
            <a:r>
              <a:rPr lang="en-US" sz="2200" i="1" spc="130" dirty="0" smtClean="0">
                <a:latin typeface="Nina Compressed"/>
              </a:rPr>
              <a:t> </a:t>
            </a:r>
            <a:r>
              <a:rPr lang="en-US" sz="2200" i="1" spc="130" dirty="0" err="1" smtClean="0">
                <a:latin typeface="Nina Compressed"/>
              </a:rPr>
              <a:t>thành</a:t>
            </a:r>
            <a:r>
              <a:rPr lang="en-US" sz="2200" i="1" spc="130" dirty="0" smtClean="0">
                <a:latin typeface="Nina Compressed"/>
              </a:rPr>
              <a:t> </a:t>
            </a:r>
            <a:r>
              <a:rPr lang="en-US" sz="2200" i="1" spc="130" dirty="0" err="1" smtClean="0">
                <a:latin typeface="Nina Compressed"/>
              </a:rPr>
              <a:t>các</a:t>
            </a:r>
            <a:r>
              <a:rPr lang="en-US" sz="2200" i="1" spc="130" dirty="0" smtClean="0">
                <a:latin typeface="Nina Compressed"/>
              </a:rPr>
              <a:t> task (8h)</a:t>
            </a:r>
          </a:p>
          <a:p>
            <a:pPr marL="457200" indent="-457200">
              <a:buFont typeface="Wingdings" pitchFamily="2" charset="2"/>
              <a:buChar char="ü"/>
              <a:defRPr/>
            </a:pPr>
            <a:r>
              <a:rPr lang="en-US" sz="2200" i="1" spc="130" dirty="0" err="1" smtClean="0">
                <a:latin typeface="Nina Compressed"/>
              </a:rPr>
              <a:t>Các</a:t>
            </a:r>
            <a:r>
              <a:rPr lang="en-US" sz="2200" i="1" spc="130" dirty="0" smtClean="0">
                <a:latin typeface="Nina Compressed"/>
              </a:rPr>
              <a:t> task </a:t>
            </a:r>
            <a:r>
              <a:rPr lang="en-US" sz="2200" i="1" spc="130" dirty="0" err="1" smtClean="0">
                <a:latin typeface="Nina Compressed"/>
              </a:rPr>
              <a:t>được</a:t>
            </a:r>
            <a:r>
              <a:rPr lang="en-US" sz="2200" i="1" spc="130" dirty="0" smtClean="0">
                <a:latin typeface="Nina Compressed"/>
              </a:rPr>
              <a:t> </a:t>
            </a:r>
            <a:r>
              <a:rPr lang="en-US" sz="2200" i="1" spc="130" dirty="0" err="1" smtClean="0">
                <a:latin typeface="Nina Compressed"/>
              </a:rPr>
              <a:t>gán</a:t>
            </a:r>
            <a:r>
              <a:rPr lang="en-US" sz="2200" i="1" spc="130" dirty="0" smtClean="0">
                <a:latin typeface="Nina Compressed"/>
              </a:rPr>
              <a:t> </a:t>
            </a:r>
            <a:r>
              <a:rPr lang="en-US" sz="2200" i="1" spc="130" dirty="0" err="1" smtClean="0">
                <a:latin typeface="Nina Compressed"/>
              </a:rPr>
              <a:t>với</a:t>
            </a:r>
            <a:r>
              <a:rPr lang="en-US" sz="2200" i="1" spc="130" dirty="0" smtClean="0">
                <a:latin typeface="Nina Compressed"/>
              </a:rPr>
              <a:t> ST</a:t>
            </a:r>
          </a:p>
          <a:p>
            <a:pPr marL="457200" indent="-457200">
              <a:buFont typeface="Wingdings" pitchFamily="2" charset="2"/>
              <a:buChar char="ü"/>
              <a:defRPr/>
            </a:pPr>
            <a:r>
              <a:rPr lang="en-US" sz="2200" i="1" spc="130" dirty="0" err="1" smtClean="0">
                <a:latin typeface="Nina Compressed"/>
              </a:rPr>
              <a:t>Cập</a:t>
            </a:r>
            <a:r>
              <a:rPr lang="en-US" sz="2200" i="1" spc="130" dirty="0" smtClean="0">
                <a:latin typeface="Nina Compressed"/>
              </a:rPr>
              <a:t> </a:t>
            </a:r>
            <a:r>
              <a:rPr lang="en-US" sz="2200" i="1" spc="130" dirty="0" err="1" smtClean="0">
                <a:latin typeface="Nina Compressed"/>
              </a:rPr>
              <a:t>nhật</a:t>
            </a:r>
            <a:r>
              <a:rPr lang="en-US" sz="2200" i="1" spc="130" dirty="0" smtClean="0">
                <a:latin typeface="Nina Compressed"/>
              </a:rPr>
              <a:t>, </a:t>
            </a:r>
            <a:r>
              <a:rPr lang="en-US" sz="2200" i="1" spc="130" dirty="0" err="1" smtClean="0">
                <a:latin typeface="Nina Compressed"/>
              </a:rPr>
              <a:t>logwork</a:t>
            </a:r>
            <a:r>
              <a:rPr lang="en-US" sz="2200" i="1" spc="130" dirty="0" smtClean="0">
                <a:latin typeface="Nina Compressed"/>
              </a:rPr>
              <a:t> </a:t>
            </a:r>
            <a:r>
              <a:rPr lang="en-US" sz="2200" i="1" spc="130" dirty="0" err="1" smtClean="0">
                <a:latin typeface="Nina Compressed"/>
              </a:rPr>
              <a:t>hàng</a:t>
            </a:r>
            <a:r>
              <a:rPr lang="en-US" sz="2200" i="1" spc="130" dirty="0" smtClean="0">
                <a:latin typeface="Nina Compressed"/>
              </a:rPr>
              <a:t> </a:t>
            </a:r>
            <a:r>
              <a:rPr lang="en-US" sz="2200" i="1" spc="130" dirty="0" err="1" smtClean="0">
                <a:latin typeface="Nina Compressed"/>
              </a:rPr>
              <a:t>ngày</a:t>
            </a:r>
            <a:endParaRPr lang="en-US" sz="2200" i="1" spc="130" dirty="0" smtClean="0">
              <a:latin typeface="Nina Compressed"/>
            </a:endParaRPr>
          </a:p>
          <a:p>
            <a:pPr marL="457200" indent="-457200">
              <a:buFont typeface="Wingdings" pitchFamily="2" charset="2"/>
              <a:buChar char="ü"/>
              <a:defRPr/>
            </a:pPr>
            <a:endParaRPr lang="en-US" sz="2200" i="1" spc="130" dirty="0">
              <a:latin typeface="Nina Compresse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7150"/>
            <a:ext cx="7620000" cy="68580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smtClean="0"/>
              <a:t>2.3.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cuộc</a:t>
            </a:r>
            <a:r>
              <a:rPr lang="en-US" dirty="0" smtClean="0"/>
              <a:t> </a:t>
            </a:r>
            <a:r>
              <a:rPr lang="en-US" dirty="0" err="1" smtClean="0"/>
              <a:t>họp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Scrum</a:t>
            </a:r>
            <a:endParaRPr lang="en-US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895350"/>
            <a:ext cx="6553200" cy="3867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52400" y="33010"/>
            <a:ext cx="662940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500" spc="-100" dirty="0" smtClean="0">
                <a:latin typeface="+mj-lt"/>
                <a:ea typeface="+mj-ea"/>
                <a:cs typeface="+mj-cs"/>
              </a:rPr>
              <a:t> Sprint </a:t>
            </a:r>
            <a:r>
              <a:rPr lang="en-US" sz="3500" spc="-100" dirty="0">
                <a:latin typeface="+mj-lt"/>
                <a:ea typeface="+mj-ea"/>
                <a:cs typeface="+mj-cs"/>
              </a:rPr>
              <a:t>Planning </a:t>
            </a:r>
            <a:r>
              <a:rPr lang="en-US" sz="3500" spc="-100" dirty="0" smtClean="0">
                <a:latin typeface="+mj-lt"/>
                <a:ea typeface="+mj-ea"/>
                <a:cs typeface="+mj-cs"/>
              </a:rPr>
              <a:t>(1)</a:t>
            </a:r>
            <a:endParaRPr lang="en-US" sz="3500" spc="-100" dirty="0">
              <a:latin typeface="+mj-lt"/>
              <a:ea typeface="+mj-ea"/>
              <a:cs typeface="+mj-cs"/>
            </a:endParaRPr>
          </a:p>
        </p:txBody>
      </p:sp>
      <p:pic>
        <p:nvPicPr>
          <p:cNvPr id="40962" name="Picture 2" descr="https://encrypted-tbn0.gstatic.com/images?q=tbn:ANd9GcSMjSF_raIm5TYsTSOoovHY9vTy-72zFdOl3zVtqrBPTK8HqiKV_w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352550"/>
            <a:ext cx="1981200" cy="2057400"/>
          </a:xfrm>
          <a:prstGeom prst="rect">
            <a:avLst/>
          </a:prstGeom>
          <a:noFill/>
        </p:spPr>
      </p:pic>
      <p:sp>
        <p:nvSpPr>
          <p:cNvPr id="9" name="Text Placeholder 2"/>
          <p:cNvSpPr txBox="1">
            <a:spLocks/>
          </p:cNvSpPr>
          <p:nvPr/>
        </p:nvSpPr>
        <p:spPr>
          <a:xfrm>
            <a:off x="152400" y="742950"/>
            <a:ext cx="5715000" cy="4191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None/>
              <a:defRPr sz="14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None/>
              <a:defRPr sz="14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itchFamily="2" charset="2"/>
              <a:buChar char="Ø"/>
              <a:defRPr/>
            </a:pPr>
            <a:r>
              <a:rPr lang="en-US" b="1" i="1" spc="130" dirty="0">
                <a:solidFill>
                  <a:schemeClr val="dk1"/>
                </a:solidFill>
                <a:latin typeface="Nina Compressed"/>
              </a:rPr>
              <a:t>PO,ST,SM </a:t>
            </a:r>
            <a:r>
              <a:rPr lang="en-US" b="1" i="1" spc="130" dirty="0" err="1">
                <a:solidFill>
                  <a:schemeClr val="dk1"/>
                </a:solidFill>
                <a:latin typeface="Nina Compressed"/>
              </a:rPr>
              <a:t>bắt</a:t>
            </a:r>
            <a:r>
              <a:rPr lang="en-US" b="1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b="1" i="1" spc="130" dirty="0" err="1">
                <a:solidFill>
                  <a:schemeClr val="dk1"/>
                </a:solidFill>
                <a:latin typeface="Nina Compressed"/>
              </a:rPr>
              <a:t>buộc</a:t>
            </a:r>
            <a:r>
              <a:rPr lang="en-US" b="1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b="1" i="1" spc="130" dirty="0" err="1">
                <a:solidFill>
                  <a:schemeClr val="dk1"/>
                </a:solidFill>
                <a:latin typeface="Nina Compressed"/>
              </a:rPr>
              <a:t>phải</a:t>
            </a:r>
            <a:r>
              <a:rPr lang="en-US" b="1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b="1" i="1" spc="130" dirty="0" err="1">
                <a:solidFill>
                  <a:schemeClr val="dk1"/>
                </a:solidFill>
                <a:latin typeface="Nina Compressed"/>
              </a:rPr>
              <a:t>tham</a:t>
            </a:r>
            <a:r>
              <a:rPr lang="en-US" b="1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b="1" i="1" spc="130" dirty="0" err="1">
                <a:solidFill>
                  <a:schemeClr val="dk1"/>
                </a:solidFill>
                <a:latin typeface="Nina Compressed"/>
              </a:rPr>
              <a:t>gia</a:t>
            </a:r>
            <a:r>
              <a:rPr lang="en-US" b="1" i="1" spc="130" dirty="0">
                <a:solidFill>
                  <a:schemeClr val="dk1"/>
                </a:solidFill>
                <a:latin typeface="Nina Compressed"/>
              </a:rPr>
              <a:t>:</a:t>
            </a:r>
          </a:p>
          <a:p>
            <a:pPr marL="457200" indent="-457200">
              <a:buFont typeface="Wingdings" pitchFamily="2" charset="2"/>
              <a:buChar char="ü"/>
              <a:defRPr/>
            </a:pPr>
            <a:r>
              <a:rPr lang="en-US" i="1" spc="130" dirty="0" err="1">
                <a:solidFill>
                  <a:schemeClr val="dk1"/>
                </a:solidFill>
                <a:latin typeface="Nina Compressed"/>
              </a:rPr>
              <a:t>Thống</a:t>
            </a:r>
            <a:r>
              <a:rPr lang="en-US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>
                <a:solidFill>
                  <a:schemeClr val="dk1"/>
                </a:solidFill>
                <a:latin typeface="Nina Compressed"/>
              </a:rPr>
              <a:t>nhất</a:t>
            </a:r>
            <a:r>
              <a:rPr lang="en-US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>
                <a:solidFill>
                  <a:schemeClr val="dk1"/>
                </a:solidFill>
                <a:latin typeface="Nina Compressed"/>
              </a:rPr>
              <a:t>các</a:t>
            </a:r>
            <a:r>
              <a:rPr lang="en-US" i="1" spc="130" dirty="0">
                <a:solidFill>
                  <a:schemeClr val="dk1"/>
                </a:solidFill>
                <a:latin typeface="Nina Compressed"/>
              </a:rPr>
              <a:t> user story </a:t>
            </a:r>
            <a:r>
              <a:rPr lang="en-US" i="1" spc="130" dirty="0" err="1">
                <a:solidFill>
                  <a:schemeClr val="dk1"/>
                </a:solidFill>
                <a:latin typeface="Nina Compressed"/>
              </a:rPr>
              <a:t>đưa</a:t>
            </a:r>
            <a:r>
              <a:rPr lang="en-US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>
                <a:solidFill>
                  <a:schemeClr val="dk1"/>
                </a:solidFill>
                <a:latin typeface="Nina Compressed"/>
              </a:rPr>
              <a:t>vào</a:t>
            </a:r>
            <a:r>
              <a:rPr lang="en-US" i="1" spc="130" dirty="0">
                <a:solidFill>
                  <a:schemeClr val="dk1"/>
                </a:solidFill>
                <a:latin typeface="Nina Compressed"/>
              </a:rPr>
              <a:t> sprint backlog</a:t>
            </a:r>
          </a:p>
          <a:p>
            <a:pPr marL="457200" indent="-457200">
              <a:buFont typeface="Wingdings" pitchFamily="2" charset="2"/>
              <a:buChar char="ü"/>
              <a:defRPr/>
            </a:pPr>
            <a:r>
              <a:rPr lang="en-US" i="1" spc="130" dirty="0" err="1">
                <a:solidFill>
                  <a:schemeClr val="dk1"/>
                </a:solidFill>
                <a:latin typeface="Nina Compressed"/>
              </a:rPr>
              <a:t>Xác</a:t>
            </a:r>
            <a:r>
              <a:rPr lang="en-US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>
                <a:solidFill>
                  <a:schemeClr val="dk1"/>
                </a:solidFill>
                <a:latin typeface="Nina Compressed"/>
              </a:rPr>
              <a:t>định</a:t>
            </a:r>
            <a:r>
              <a:rPr lang="en-US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>
                <a:solidFill>
                  <a:schemeClr val="dk1"/>
                </a:solidFill>
                <a:latin typeface="Nina Compressed"/>
              </a:rPr>
              <a:t>kích</a:t>
            </a:r>
            <a:r>
              <a:rPr lang="en-US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>
                <a:solidFill>
                  <a:schemeClr val="dk1"/>
                </a:solidFill>
                <a:latin typeface="Nina Compressed"/>
              </a:rPr>
              <a:t>cỡ</a:t>
            </a:r>
            <a:r>
              <a:rPr lang="en-US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>
                <a:solidFill>
                  <a:schemeClr val="dk1"/>
                </a:solidFill>
                <a:latin typeface="Nina Compressed"/>
              </a:rPr>
              <a:t>cho</a:t>
            </a:r>
            <a:r>
              <a:rPr lang="en-US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>
                <a:solidFill>
                  <a:schemeClr val="dk1"/>
                </a:solidFill>
                <a:latin typeface="Nina Compressed"/>
              </a:rPr>
              <a:t>từng</a:t>
            </a:r>
            <a:r>
              <a:rPr lang="en-US" i="1" spc="130" dirty="0">
                <a:solidFill>
                  <a:schemeClr val="dk1"/>
                </a:solidFill>
                <a:latin typeface="Nina Compressed"/>
              </a:rPr>
              <a:t> User story, </a:t>
            </a:r>
            <a:r>
              <a:rPr lang="en-US" i="1" spc="130" dirty="0" err="1">
                <a:solidFill>
                  <a:schemeClr val="dk1"/>
                </a:solidFill>
                <a:latin typeface="Nina Compressed"/>
              </a:rPr>
              <a:t>thời</a:t>
            </a:r>
            <a:r>
              <a:rPr lang="en-US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>
                <a:solidFill>
                  <a:schemeClr val="dk1"/>
                </a:solidFill>
                <a:latin typeface="Nina Compressed"/>
              </a:rPr>
              <a:t>gian</a:t>
            </a:r>
            <a:r>
              <a:rPr lang="en-US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>
                <a:solidFill>
                  <a:schemeClr val="dk1"/>
                </a:solidFill>
                <a:latin typeface="Nina Compressed"/>
              </a:rPr>
              <a:t>thực</a:t>
            </a:r>
            <a:r>
              <a:rPr lang="en-US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>
                <a:solidFill>
                  <a:schemeClr val="dk1"/>
                </a:solidFill>
                <a:latin typeface="Nina Compressed"/>
              </a:rPr>
              <a:t>hiện</a:t>
            </a:r>
            <a:endParaRPr lang="en-US" i="1" spc="130" dirty="0">
              <a:solidFill>
                <a:schemeClr val="dk1"/>
              </a:solidFill>
              <a:latin typeface="Nina Compressed"/>
            </a:endParaRPr>
          </a:p>
          <a:p>
            <a:pPr marL="457200" indent="-457200">
              <a:buFont typeface="Wingdings" pitchFamily="2" charset="2"/>
              <a:buChar char="ü"/>
              <a:defRPr/>
            </a:pPr>
            <a:r>
              <a:rPr lang="en-US" i="1" spc="130" dirty="0">
                <a:solidFill>
                  <a:schemeClr val="dk1"/>
                </a:solidFill>
                <a:latin typeface="Nina Compressed"/>
              </a:rPr>
              <a:t>PO </a:t>
            </a:r>
            <a:r>
              <a:rPr lang="en-US" i="1" spc="130" dirty="0" err="1">
                <a:solidFill>
                  <a:schemeClr val="dk1"/>
                </a:solidFill>
                <a:latin typeface="Nina Compressed"/>
              </a:rPr>
              <a:t>giải</a:t>
            </a:r>
            <a:r>
              <a:rPr lang="en-US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>
                <a:solidFill>
                  <a:schemeClr val="dk1"/>
                </a:solidFill>
                <a:latin typeface="Nina Compressed"/>
              </a:rPr>
              <a:t>thích</a:t>
            </a:r>
            <a:r>
              <a:rPr lang="en-US" i="1" spc="130" dirty="0">
                <a:solidFill>
                  <a:schemeClr val="dk1"/>
                </a:solidFill>
                <a:latin typeface="Nina Compressed"/>
              </a:rPr>
              <a:t>, </a:t>
            </a:r>
            <a:r>
              <a:rPr lang="en-US" i="1" spc="130" dirty="0" err="1">
                <a:solidFill>
                  <a:schemeClr val="dk1"/>
                </a:solidFill>
                <a:latin typeface="Nina Compressed"/>
              </a:rPr>
              <a:t>làm</a:t>
            </a:r>
            <a:r>
              <a:rPr lang="en-US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>
                <a:solidFill>
                  <a:schemeClr val="dk1"/>
                </a:solidFill>
                <a:latin typeface="Nina Compressed"/>
              </a:rPr>
              <a:t>rõ</a:t>
            </a:r>
            <a:r>
              <a:rPr lang="en-US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>
                <a:solidFill>
                  <a:schemeClr val="dk1"/>
                </a:solidFill>
                <a:latin typeface="Nina Compressed"/>
              </a:rPr>
              <a:t>nghiệp</a:t>
            </a:r>
            <a:r>
              <a:rPr lang="en-US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>
                <a:solidFill>
                  <a:schemeClr val="dk1"/>
                </a:solidFill>
                <a:latin typeface="Nina Compressed"/>
              </a:rPr>
              <a:t>vụ</a:t>
            </a:r>
            <a:r>
              <a:rPr lang="en-US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>
                <a:solidFill>
                  <a:schemeClr val="dk1"/>
                </a:solidFill>
                <a:latin typeface="Nina Compressed"/>
              </a:rPr>
              <a:t>của</a:t>
            </a:r>
            <a:r>
              <a:rPr lang="en-US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>
                <a:solidFill>
                  <a:schemeClr val="dk1"/>
                </a:solidFill>
                <a:latin typeface="Nina Compressed"/>
              </a:rPr>
              <a:t>từng</a:t>
            </a:r>
            <a:r>
              <a:rPr lang="en-US" i="1" spc="130" dirty="0">
                <a:solidFill>
                  <a:schemeClr val="dk1"/>
                </a:solidFill>
                <a:latin typeface="Nina Compressed"/>
              </a:rPr>
              <a:t> User Story </a:t>
            </a:r>
            <a:r>
              <a:rPr lang="en-US" i="1" spc="130" dirty="0" err="1">
                <a:solidFill>
                  <a:schemeClr val="dk1"/>
                </a:solidFill>
                <a:latin typeface="Nina Compressed"/>
              </a:rPr>
              <a:t>cho</a:t>
            </a:r>
            <a:r>
              <a:rPr lang="en-US" i="1" spc="130" dirty="0">
                <a:solidFill>
                  <a:schemeClr val="dk1"/>
                </a:solidFill>
                <a:latin typeface="Nina Compressed"/>
              </a:rPr>
              <a:t> ST</a:t>
            </a:r>
          </a:p>
          <a:p>
            <a:pPr marL="457200" indent="-457200">
              <a:buFont typeface="Wingdings" pitchFamily="2" charset="2"/>
              <a:buChar char="ü"/>
              <a:defRPr/>
            </a:pPr>
            <a:r>
              <a:rPr lang="en-US" i="1" spc="130" dirty="0" err="1">
                <a:solidFill>
                  <a:schemeClr val="dk1"/>
                </a:solidFill>
                <a:latin typeface="Nina Compressed"/>
              </a:rPr>
              <a:t>Xác</a:t>
            </a:r>
            <a:r>
              <a:rPr lang="en-US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>
                <a:solidFill>
                  <a:schemeClr val="dk1"/>
                </a:solidFill>
                <a:latin typeface="Nina Compressed"/>
              </a:rPr>
              <a:t>định</a:t>
            </a:r>
            <a:r>
              <a:rPr lang="en-US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>
                <a:solidFill>
                  <a:schemeClr val="dk1"/>
                </a:solidFill>
                <a:latin typeface="Nina Compressed"/>
              </a:rPr>
              <a:t>rõ</a:t>
            </a:r>
            <a:r>
              <a:rPr lang="en-US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>
                <a:solidFill>
                  <a:schemeClr val="dk1"/>
                </a:solidFill>
                <a:latin typeface="Nina Compressed"/>
              </a:rPr>
              <a:t>mục</a:t>
            </a:r>
            <a:r>
              <a:rPr lang="en-US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>
                <a:solidFill>
                  <a:schemeClr val="dk1"/>
                </a:solidFill>
                <a:latin typeface="Nina Compressed"/>
              </a:rPr>
              <a:t>đích</a:t>
            </a:r>
            <a:r>
              <a:rPr lang="en-US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>
                <a:solidFill>
                  <a:schemeClr val="dk1"/>
                </a:solidFill>
                <a:latin typeface="Nina Compressed"/>
              </a:rPr>
              <a:t>của</a:t>
            </a:r>
            <a:r>
              <a:rPr lang="en-US" i="1" spc="130" dirty="0">
                <a:solidFill>
                  <a:schemeClr val="dk1"/>
                </a:solidFill>
                <a:latin typeface="Nina Compressed"/>
              </a:rPr>
              <a:t> Sprint, </a:t>
            </a:r>
            <a:r>
              <a:rPr lang="en-US" i="1" spc="130" dirty="0" err="1">
                <a:solidFill>
                  <a:schemeClr val="dk1"/>
                </a:solidFill>
                <a:latin typeface="Nina Compressed"/>
              </a:rPr>
              <a:t>DoD</a:t>
            </a:r>
            <a:r>
              <a:rPr lang="en-US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>
                <a:solidFill>
                  <a:schemeClr val="dk1"/>
                </a:solidFill>
                <a:latin typeface="Nina Compressed"/>
              </a:rPr>
              <a:t>của</a:t>
            </a:r>
            <a:r>
              <a:rPr lang="en-US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>
                <a:solidFill>
                  <a:schemeClr val="dk1"/>
                </a:solidFill>
                <a:latin typeface="Nina Compressed"/>
              </a:rPr>
              <a:t>từng</a:t>
            </a:r>
            <a:r>
              <a:rPr lang="en-US" i="1" spc="130" dirty="0">
                <a:solidFill>
                  <a:schemeClr val="dk1"/>
                </a:solidFill>
                <a:latin typeface="Nina Compressed"/>
              </a:rPr>
              <a:t> user Story</a:t>
            </a:r>
          </a:p>
          <a:p>
            <a:pPr marL="457200" indent="-457200">
              <a:buFont typeface="Wingdings" pitchFamily="2" charset="2"/>
              <a:buChar char="ü"/>
              <a:defRPr/>
            </a:pPr>
            <a:r>
              <a:rPr lang="en-US" i="1" spc="130" dirty="0" err="1">
                <a:solidFill>
                  <a:schemeClr val="dk1"/>
                </a:solidFill>
                <a:latin typeface="Nina Compressed"/>
              </a:rPr>
              <a:t>Phân</a:t>
            </a:r>
            <a:r>
              <a:rPr lang="en-US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>
                <a:solidFill>
                  <a:schemeClr val="dk1"/>
                </a:solidFill>
                <a:latin typeface="Nina Compressed"/>
              </a:rPr>
              <a:t>tách</a:t>
            </a:r>
            <a:r>
              <a:rPr lang="en-US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>
                <a:solidFill>
                  <a:schemeClr val="dk1"/>
                </a:solidFill>
                <a:latin typeface="Nina Compressed"/>
              </a:rPr>
              <a:t>thành</a:t>
            </a:r>
            <a:r>
              <a:rPr lang="en-US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>
                <a:solidFill>
                  <a:schemeClr val="dk1"/>
                </a:solidFill>
                <a:latin typeface="Nina Compressed"/>
              </a:rPr>
              <a:t>các</a:t>
            </a:r>
            <a:r>
              <a:rPr lang="en-US" i="1" spc="130" dirty="0">
                <a:solidFill>
                  <a:schemeClr val="dk1"/>
                </a:solidFill>
                <a:latin typeface="Nina Compressed"/>
              </a:rPr>
              <a:t> task </a:t>
            </a:r>
            <a:r>
              <a:rPr lang="en-US" i="1" spc="130" dirty="0" err="1">
                <a:solidFill>
                  <a:schemeClr val="dk1"/>
                </a:solidFill>
                <a:latin typeface="Nina Compressed"/>
              </a:rPr>
              <a:t>và</a:t>
            </a:r>
            <a:r>
              <a:rPr lang="en-US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>
                <a:solidFill>
                  <a:schemeClr val="dk1"/>
                </a:solidFill>
                <a:latin typeface="Nina Compressed"/>
              </a:rPr>
              <a:t>gán</a:t>
            </a:r>
            <a:r>
              <a:rPr lang="en-US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>
                <a:solidFill>
                  <a:schemeClr val="dk1"/>
                </a:solidFill>
                <a:latin typeface="Nina Compressed"/>
              </a:rPr>
              <a:t>cho</a:t>
            </a:r>
            <a:r>
              <a:rPr lang="en-US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>
                <a:solidFill>
                  <a:schemeClr val="dk1"/>
                </a:solidFill>
                <a:latin typeface="Nina Compressed"/>
              </a:rPr>
              <a:t>từng</a:t>
            </a:r>
            <a:r>
              <a:rPr lang="en-US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ST</a:t>
            </a:r>
          </a:p>
          <a:p>
            <a:pPr marL="457200" indent="-457200">
              <a:buFont typeface="Wingdings" pitchFamily="2" charset="2"/>
              <a:buChar char="ü"/>
              <a:defRPr/>
            </a:pP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Xác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định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thời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điêm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Backlog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Goomming</a:t>
            </a:r>
            <a:endParaRPr lang="en-US" i="1" spc="130" dirty="0">
              <a:solidFill>
                <a:schemeClr val="dk1"/>
              </a:solidFill>
              <a:latin typeface="Nina Compresse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152400" y="114300"/>
            <a:ext cx="8458200" cy="628650"/>
          </a:xfrm>
        </p:spPr>
        <p:txBody>
          <a:bodyPr>
            <a:normAutofit/>
          </a:bodyPr>
          <a:lstStyle/>
          <a:p>
            <a:pPr algn="l" eaLnBrk="1" hangingPunct="1"/>
            <a:r>
              <a:rPr lang="en-US" sz="3500" dirty="0" smtClean="0"/>
              <a:t>Sprint Planning(2)</a:t>
            </a:r>
            <a:endParaRPr lang="en-US" sz="3500" dirty="0" smtClean="0"/>
          </a:p>
        </p:txBody>
      </p:sp>
      <p:sp>
        <p:nvSpPr>
          <p:cNvPr id="18" name="Cube 17"/>
          <p:cNvSpPr/>
          <p:nvPr/>
        </p:nvSpPr>
        <p:spPr>
          <a:xfrm>
            <a:off x="533400" y="1771650"/>
            <a:ext cx="1752600" cy="571500"/>
          </a:xfrm>
          <a:prstGeom prst="cube">
            <a:avLst>
              <a:gd name="adj" fmla="val 13349"/>
            </a:avLst>
          </a:prstGeom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003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Coupons</a:t>
            </a:r>
          </a:p>
        </p:txBody>
      </p:sp>
      <p:sp>
        <p:nvSpPr>
          <p:cNvPr id="25" name="Cube 24"/>
          <p:cNvSpPr/>
          <p:nvPr/>
        </p:nvSpPr>
        <p:spPr>
          <a:xfrm>
            <a:off x="762000" y="2343150"/>
            <a:ext cx="1752600" cy="571500"/>
          </a:xfrm>
          <a:prstGeom prst="cube">
            <a:avLst>
              <a:gd name="adj" fmla="val 13349"/>
            </a:avLst>
          </a:prstGeom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Returns</a:t>
            </a:r>
          </a:p>
        </p:txBody>
      </p:sp>
      <p:sp>
        <p:nvSpPr>
          <p:cNvPr id="26" name="Cube 25"/>
          <p:cNvSpPr/>
          <p:nvPr/>
        </p:nvSpPr>
        <p:spPr>
          <a:xfrm>
            <a:off x="304800" y="2914650"/>
            <a:ext cx="1752600" cy="571500"/>
          </a:xfrm>
          <a:prstGeom prst="cube">
            <a:avLst>
              <a:gd name="adj" fmla="val 13349"/>
            </a:avLst>
          </a:prstGeom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Gift vouchers</a:t>
            </a:r>
          </a:p>
        </p:txBody>
      </p:sp>
      <p:sp>
        <p:nvSpPr>
          <p:cNvPr id="27" name="Cube 26"/>
          <p:cNvSpPr/>
          <p:nvPr/>
        </p:nvSpPr>
        <p:spPr>
          <a:xfrm>
            <a:off x="1143000" y="1200150"/>
            <a:ext cx="1752600" cy="571500"/>
          </a:xfrm>
          <a:prstGeom prst="cube">
            <a:avLst>
              <a:gd name="adj" fmla="val 13349"/>
            </a:avLst>
          </a:prstGeom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003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Returns</a:t>
            </a:r>
          </a:p>
        </p:txBody>
      </p:sp>
      <p:sp>
        <p:nvSpPr>
          <p:cNvPr id="28" name="Cube 27"/>
          <p:cNvSpPr/>
          <p:nvPr/>
        </p:nvSpPr>
        <p:spPr>
          <a:xfrm>
            <a:off x="1143000" y="3486150"/>
            <a:ext cx="1752600" cy="571500"/>
          </a:xfrm>
          <a:prstGeom prst="cube">
            <a:avLst>
              <a:gd name="adj" fmla="val 13349"/>
            </a:avLst>
          </a:prstGeom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Payments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3657600" y="1428750"/>
            <a:ext cx="1828800" cy="5143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0" name="Cube 29"/>
          <p:cNvSpPr/>
          <p:nvPr/>
        </p:nvSpPr>
        <p:spPr>
          <a:xfrm>
            <a:off x="6172200" y="1714500"/>
            <a:ext cx="1752600" cy="571500"/>
          </a:xfrm>
          <a:prstGeom prst="cube">
            <a:avLst>
              <a:gd name="adj" fmla="val 1334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dirty="0"/>
              <a:t>Coupons</a:t>
            </a:r>
          </a:p>
        </p:txBody>
      </p:sp>
      <p:sp>
        <p:nvSpPr>
          <p:cNvPr id="31" name="Cube 30"/>
          <p:cNvSpPr/>
          <p:nvPr/>
        </p:nvSpPr>
        <p:spPr>
          <a:xfrm>
            <a:off x="6781800" y="1143000"/>
            <a:ext cx="1752600" cy="571500"/>
          </a:xfrm>
          <a:prstGeom prst="cube">
            <a:avLst>
              <a:gd name="adj" fmla="val 1334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dirty="0"/>
              <a:t>Returns</a:t>
            </a:r>
          </a:p>
        </p:txBody>
      </p:sp>
      <p:sp>
        <p:nvSpPr>
          <p:cNvPr id="13337" name="TextBox 31"/>
          <p:cNvSpPr txBox="1">
            <a:spLocks noChangeArrowheads="1"/>
          </p:cNvSpPr>
          <p:nvPr/>
        </p:nvSpPr>
        <p:spPr bwMode="auto">
          <a:xfrm>
            <a:off x="304805" y="4343400"/>
            <a:ext cx="298645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>
                <a:latin typeface="Calibri" pitchFamily="34" charset="0"/>
              </a:rPr>
              <a:t>Prioritized Product backlog</a:t>
            </a:r>
          </a:p>
        </p:txBody>
      </p:sp>
      <p:sp>
        <p:nvSpPr>
          <p:cNvPr id="13338" name="TextBox 33"/>
          <p:cNvSpPr txBox="1">
            <a:spLocks noChangeArrowheads="1"/>
          </p:cNvSpPr>
          <p:nvPr/>
        </p:nvSpPr>
        <p:spPr bwMode="auto">
          <a:xfrm>
            <a:off x="6705607" y="3143250"/>
            <a:ext cx="166186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>
                <a:latin typeface="Calibri" pitchFamily="34" charset="0"/>
              </a:rPr>
              <a:t>Sprint backlog</a:t>
            </a:r>
          </a:p>
        </p:txBody>
      </p:sp>
      <p:sp>
        <p:nvSpPr>
          <p:cNvPr id="13339" name="TextBox 34"/>
          <p:cNvSpPr txBox="1">
            <a:spLocks noChangeArrowheads="1"/>
          </p:cNvSpPr>
          <p:nvPr/>
        </p:nvSpPr>
        <p:spPr bwMode="auto">
          <a:xfrm>
            <a:off x="6705601" y="3429000"/>
            <a:ext cx="129945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>
                <a:solidFill>
                  <a:srgbClr val="00B050"/>
                </a:solidFill>
                <a:latin typeface="Calibri" pitchFamily="34" charset="0"/>
              </a:rPr>
              <a:t>Sprint goal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495550"/>
            <a:ext cx="3733800" cy="40011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 err="1" smtClean="0"/>
              <a:t>Xác</a:t>
            </a:r>
            <a:r>
              <a:rPr lang="en-US" sz="2000" b="1" i="1" dirty="0" smtClean="0"/>
              <a:t> </a:t>
            </a:r>
            <a:r>
              <a:rPr lang="en-US" sz="2000" b="1" i="1" dirty="0" err="1" smtClean="0"/>
              <a:t>định</a:t>
            </a:r>
            <a:r>
              <a:rPr lang="en-US" sz="2000" b="1" i="1" dirty="0" smtClean="0"/>
              <a:t> </a:t>
            </a:r>
            <a:r>
              <a:rPr lang="en-US" sz="2000" b="1" i="1" dirty="0" err="1" smtClean="0"/>
              <a:t>nội</a:t>
            </a:r>
            <a:r>
              <a:rPr lang="en-US" sz="2000" b="1" i="1" dirty="0" smtClean="0"/>
              <a:t> dung </a:t>
            </a:r>
            <a:r>
              <a:rPr lang="en-US" sz="2000" b="1" i="1" dirty="0" err="1" smtClean="0"/>
              <a:t>công</a:t>
            </a:r>
            <a:r>
              <a:rPr lang="en-US" sz="2000" b="1" i="1" dirty="0" smtClean="0"/>
              <a:t> </a:t>
            </a:r>
            <a:r>
              <a:rPr lang="en-US" sz="2000" b="1" i="1" dirty="0" err="1" smtClean="0"/>
              <a:t>việc</a:t>
            </a:r>
            <a:endParaRPr lang="en-US" sz="2000" b="1" i="1" dirty="0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152402" y="114300"/>
            <a:ext cx="5368222" cy="857250"/>
          </a:xfrm>
        </p:spPr>
        <p:txBody>
          <a:bodyPr>
            <a:normAutofit/>
          </a:bodyPr>
          <a:lstStyle/>
          <a:p>
            <a:pPr algn="l" eaLnBrk="1" hangingPunct="1"/>
            <a:r>
              <a:rPr lang="en-US" sz="3500" dirty="0" smtClean="0"/>
              <a:t>Sprint Planning(3) </a:t>
            </a:r>
            <a:endParaRPr lang="en-US" sz="3500" dirty="0" smtClean="0"/>
          </a:p>
        </p:txBody>
      </p:sp>
      <p:sp>
        <p:nvSpPr>
          <p:cNvPr id="30" name="Cube 29"/>
          <p:cNvSpPr/>
          <p:nvPr/>
        </p:nvSpPr>
        <p:spPr>
          <a:xfrm>
            <a:off x="609600" y="3714750"/>
            <a:ext cx="1752600" cy="571500"/>
          </a:xfrm>
          <a:prstGeom prst="cube">
            <a:avLst>
              <a:gd name="adj" fmla="val 1334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Coupons</a:t>
            </a:r>
          </a:p>
        </p:txBody>
      </p:sp>
      <p:sp>
        <p:nvSpPr>
          <p:cNvPr id="31" name="Cube 30"/>
          <p:cNvSpPr/>
          <p:nvPr/>
        </p:nvSpPr>
        <p:spPr>
          <a:xfrm>
            <a:off x="533400" y="1371600"/>
            <a:ext cx="1752600" cy="571500"/>
          </a:xfrm>
          <a:prstGeom prst="cube">
            <a:avLst>
              <a:gd name="adj" fmla="val 1334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Returns</a:t>
            </a:r>
          </a:p>
        </p:txBody>
      </p:sp>
      <p:sp>
        <p:nvSpPr>
          <p:cNvPr id="14341" name="TextBox 33"/>
          <p:cNvSpPr txBox="1">
            <a:spLocks noChangeArrowheads="1"/>
          </p:cNvSpPr>
          <p:nvPr/>
        </p:nvSpPr>
        <p:spPr bwMode="auto">
          <a:xfrm>
            <a:off x="381000" y="2571753"/>
            <a:ext cx="254851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 dirty="0">
                <a:latin typeface="Calibri" pitchFamily="34" charset="0"/>
              </a:rPr>
              <a:t>Sprint backlog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429000" y="2514600"/>
            <a:ext cx="2438400" cy="5143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Team builds</a:t>
            </a:r>
          </a:p>
        </p:txBody>
      </p:sp>
      <p:pic>
        <p:nvPicPr>
          <p:cNvPr id="14343" name="Picture 5" descr="C:\Users\srikanth\AppData\Local\Microsoft\Windows\Temporary Internet Files\Content.IE5\OMK7G43J\MCj04247960000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929141">
            <a:off x="6203953" y="3273031"/>
            <a:ext cx="1419225" cy="945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19"/>
          <p:cNvGrpSpPr>
            <a:grpSpLocks/>
          </p:cNvGrpSpPr>
          <p:nvPr/>
        </p:nvGrpSpPr>
        <p:grpSpPr bwMode="auto">
          <a:xfrm>
            <a:off x="5791200" y="114300"/>
            <a:ext cx="1371600" cy="1028700"/>
            <a:chOff x="4800600" y="685800"/>
            <a:chExt cx="1630363" cy="1447800"/>
          </a:xfrm>
        </p:grpSpPr>
        <p:pic>
          <p:nvPicPr>
            <p:cNvPr id="14374" name="Picture 4" descr="C:\Users\srikanth\AppData\Local\Microsoft\Windows\Temporary Internet Files\Content.IE5\1L07G1NR\MCj04247980000[1].wmf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4800600" y="685800"/>
              <a:ext cx="1630363" cy="1447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7" name="TextBox 31"/>
            <p:cNvSpPr txBox="1">
              <a:spLocks noChangeArrowheads="1"/>
            </p:cNvSpPr>
            <p:nvPr/>
          </p:nvSpPr>
          <p:spPr bwMode="auto">
            <a:xfrm rot="20960256">
              <a:off x="5030813" y="995295"/>
              <a:ext cx="1135971" cy="8338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100" dirty="0">
                  <a:latin typeface="Lucida Handwriting" pitchFamily="66" charset="0"/>
                  <a:cs typeface="+mn-cs"/>
                </a:rPr>
                <a:t>Visual Design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50" dirty="0" smtClean="0">
                  <a:latin typeface="Lucida Handwriting" pitchFamily="66" charset="0"/>
                  <a:cs typeface="+mn-cs"/>
                </a:rPr>
                <a:t>4 </a:t>
              </a:r>
              <a:r>
                <a:rPr lang="en-US" sz="1050" dirty="0">
                  <a:latin typeface="Lucida Handwriting" pitchFamily="66" charset="0"/>
                  <a:cs typeface="+mn-cs"/>
                </a:rPr>
                <a:t>hours</a:t>
              </a:r>
            </a:p>
          </p:txBody>
        </p:sp>
      </p:grpSp>
      <p:grpSp>
        <p:nvGrpSpPr>
          <p:cNvPr id="3" name="Group 20"/>
          <p:cNvGrpSpPr>
            <a:grpSpLocks/>
          </p:cNvGrpSpPr>
          <p:nvPr/>
        </p:nvGrpSpPr>
        <p:grpSpPr bwMode="auto">
          <a:xfrm>
            <a:off x="7239000" y="0"/>
            <a:ext cx="1371600" cy="1028700"/>
            <a:chOff x="4800600" y="685800"/>
            <a:chExt cx="1630363" cy="1447800"/>
          </a:xfrm>
        </p:grpSpPr>
        <p:pic>
          <p:nvPicPr>
            <p:cNvPr id="14372" name="Picture 4" descr="C:\Users\srikanth\AppData\Local\Microsoft\Windows\Temporary Internet Files\Content.IE5\1L07G1NR\MCj04247980000[1].wmf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4800600" y="685800"/>
              <a:ext cx="1630363" cy="1447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3" name="TextBox 31"/>
            <p:cNvSpPr txBox="1">
              <a:spLocks noChangeArrowheads="1"/>
            </p:cNvSpPr>
            <p:nvPr/>
          </p:nvSpPr>
          <p:spPr bwMode="auto">
            <a:xfrm rot="20960256">
              <a:off x="5030813" y="1000710"/>
              <a:ext cx="1135971" cy="8230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100" dirty="0">
                  <a:latin typeface="Lucida Handwriting" pitchFamily="66" charset="0"/>
                  <a:cs typeface="+mn-cs"/>
                </a:rPr>
                <a:t>JSP GUI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50" dirty="0">
                  <a:latin typeface="Lucida Handwriting" pitchFamily="66" charset="0"/>
                  <a:cs typeface="+mn-cs"/>
                </a:rPr>
                <a:t>	2 hours</a:t>
              </a:r>
            </a:p>
          </p:txBody>
        </p:sp>
      </p:grpSp>
      <p:grpSp>
        <p:nvGrpSpPr>
          <p:cNvPr id="4" name="Group 35"/>
          <p:cNvGrpSpPr>
            <a:grpSpLocks/>
          </p:cNvGrpSpPr>
          <p:nvPr/>
        </p:nvGrpSpPr>
        <p:grpSpPr bwMode="auto">
          <a:xfrm>
            <a:off x="5867400" y="1085850"/>
            <a:ext cx="1371600" cy="1028700"/>
            <a:chOff x="4800600" y="685800"/>
            <a:chExt cx="1630363" cy="1447800"/>
          </a:xfrm>
        </p:grpSpPr>
        <p:pic>
          <p:nvPicPr>
            <p:cNvPr id="14370" name="Picture 4" descr="C:\Users\srikanth\AppData\Local\Microsoft\Windows\Temporary Internet Files\Content.IE5\1L07G1NR\MCj04247980000[1].wmf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4800600" y="685800"/>
              <a:ext cx="1630363" cy="1447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8" name="TextBox 31"/>
            <p:cNvSpPr txBox="1">
              <a:spLocks noChangeArrowheads="1"/>
            </p:cNvSpPr>
            <p:nvPr/>
          </p:nvSpPr>
          <p:spPr bwMode="auto">
            <a:xfrm rot="20960256">
              <a:off x="4957221" y="881407"/>
              <a:ext cx="1135971" cy="10720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100" dirty="0">
                  <a:latin typeface="Lucida Handwriting" pitchFamily="66" charset="0"/>
                  <a:cs typeface="+mn-cs"/>
                </a:rPr>
                <a:t>Service classes 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100" dirty="0">
                <a:latin typeface="Lucida Handwriting" pitchFamily="66" charset="0"/>
                <a:cs typeface="+mn-cs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50" dirty="0">
                  <a:latin typeface="Lucida Handwriting" pitchFamily="66" charset="0"/>
                  <a:cs typeface="+mn-cs"/>
                </a:rPr>
                <a:t>2 hours</a:t>
              </a:r>
            </a:p>
          </p:txBody>
        </p:sp>
      </p:grpSp>
      <p:grpSp>
        <p:nvGrpSpPr>
          <p:cNvPr id="5" name="Group 41"/>
          <p:cNvGrpSpPr>
            <a:grpSpLocks/>
          </p:cNvGrpSpPr>
          <p:nvPr/>
        </p:nvGrpSpPr>
        <p:grpSpPr bwMode="auto">
          <a:xfrm>
            <a:off x="7315200" y="914400"/>
            <a:ext cx="1371600" cy="1028700"/>
            <a:chOff x="4800600" y="685800"/>
            <a:chExt cx="1630363" cy="1447800"/>
          </a:xfrm>
        </p:grpSpPr>
        <p:pic>
          <p:nvPicPr>
            <p:cNvPr id="14368" name="Picture 4" descr="C:\Users\srikanth\AppData\Local\Microsoft\Windows\Temporary Internet Files\Content.IE5\1L07G1NR\MCj04247980000[1].wmf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4800600" y="685800"/>
              <a:ext cx="1630363" cy="1447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4" name="TextBox 31"/>
            <p:cNvSpPr txBox="1">
              <a:spLocks noChangeArrowheads="1"/>
            </p:cNvSpPr>
            <p:nvPr/>
          </p:nvSpPr>
          <p:spPr bwMode="auto">
            <a:xfrm rot="20960256">
              <a:off x="5030813" y="1000710"/>
              <a:ext cx="1135971" cy="8230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100" b="1" dirty="0">
                  <a:solidFill>
                    <a:schemeClr val="bg1"/>
                  </a:solidFill>
                  <a:latin typeface="Lucida Handwriting" pitchFamily="66" charset="0"/>
                  <a:cs typeface="+mn-cs"/>
                </a:rPr>
                <a:t>Test cases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50" b="1" dirty="0">
                  <a:solidFill>
                    <a:schemeClr val="bg1"/>
                  </a:solidFill>
                  <a:latin typeface="Lucida Handwriting" pitchFamily="66" charset="0"/>
                  <a:cs typeface="+mn-cs"/>
                </a:rPr>
                <a:t>	3 hours</a:t>
              </a:r>
            </a:p>
          </p:txBody>
        </p:sp>
      </p:grpSp>
      <p:sp>
        <p:nvSpPr>
          <p:cNvPr id="14348" name="TextBox 39"/>
          <p:cNvSpPr txBox="1">
            <a:spLocks noChangeArrowheads="1"/>
          </p:cNvSpPr>
          <p:nvPr/>
        </p:nvSpPr>
        <p:spPr bwMode="auto">
          <a:xfrm rot="275848">
            <a:off x="6464304" y="3356822"/>
            <a:ext cx="866775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100" dirty="0">
                <a:latin typeface="Lucida Handwriting" pitchFamily="66" charset="0"/>
              </a:rPr>
              <a:t>Code  the  UI</a:t>
            </a:r>
          </a:p>
          <a:p>
            <a:endParaRPr lang="en-US" sz="1100" dirty="0">
              <a:latin typeface="Lucida Handwriting" pitchFamily="66" charset="0"/>
            </a:endParaRPr>
          </a:p>
          <a:p>
            <a:r>
              <a:rPr lang="en-US" sz="1100" dirty="0">
                <a:latin typeface="Lucida Handwriting" pitchFamily="66" charset="0"/>
              </a:rPr>
              <a:t>2 hours</a:t>
            </a:r>
          </a:p>
        </p:txBody>
      </p:sp>
      <p:pic>
        <p:nvPicPr>
          <p:cNvPr id="14349" name="Picture 5" descr="C:\Users\srikanth\AppData\Local\Microsoft\Windows\Temporary Internet Files\Content.IE5\OMK7G43J\MCj04247960000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929141">
            <a:off x="5289557" y="4073131"/>
            <a:ext cx="1419225" cy="945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50" name="TextBox 39"/>
          <p:cNvSpPr txBox="1">
            <a:spLocks noChangeArrowheads="1"/>
          </p:cNvSpPr>
          <p:nvPr/>
        </p:nvSpPr>
        <p:spPr bwMode="auto">
          <a:xfrm rot="275848">
            <a:off x="5549907" y="4159899"/>
            <a:ext cx="969963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100" dirty="0">
                <a:latin typeface="Lucida Handwriting" pitchFamily="66" charset="0"/>
              </a:rPr>
              <a:t>Database  design </a:t>
            </a:r>
          </a:p>
          <a:p>
            <a:endParaRPr lang="en-US" sz="1100" dirty="0">
              <a:latin typeface="Lucida Handwriting" pitchFamily="66" charset="0"/>
            </a:endParaRPr>
          </a:p>
          <a:p>
            <a:r>
              <a:rPr lang="en-US" sz="1100" dirty="0">
                <a:latin typeface="Lucida Handwriting" pitchFamily="66" charset="0"/>
              </a:rPr>
              <a:t>1 hours</a:t>
            </a:r>
          </a:p>
        </p:txBody>
      </p:sp>
      <p:pic>
        <p:nvPicPr>
          <p:cNvPr id="14351" name="Picture 5" descr="C:\Users\srikanth\AppData\Local\Microsoft\Windows\Temporary Internet Files\Content.IE5\OMK7G43J\MCj04247960000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929141">
            <a:off x="6661152" y="4073131"/>
            <a:ext cx="1419225" cy="945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52" name="TextBox 39"/>
          <p:cNvSpPr txBox="1">
            <a:spLocks noChangeArrowheads="1"/>
          </p:cNvSpPr>
          <p:nvPr/>
        </p:nvSpPr>
        <p:spPr bwMode="auto">
          <a:xfrm rot="275848">
            <a:off x="6921500" y="4159899"/>
            <a:ext cx="969963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100" dirty="0">
                <a:latin typeface="Lucida Handwriting" pitchFamily="66" charset="0"/>
              </a:rPr>
              <a:t>Service  + </a:t>
            </a:r>
            <a:r>
              <a:rPr lang="en-US" sz="1100" dirty="0" err="1">
                <a:latin typeface="Lucida Handwriting" pitchFamily="66" charset="0"/>
              </a:rPr>
              <a:t>JUnit</a:t>
            </a:r>
            <a:endParaRPr lang="en-US" sz="1100" dirty="0">
              <a:latin typeface="Lucida Handwriting" pitchFamily="66" charset="0"/>
            </a:endParaRPr>
          </a:p>
          <a:p>
            <a:endParaRPr lang="en-US" sz="1100" dirty="0">
              <a:latin typeface="Lucida Handwriting" pitchFamily="66" charset="0"/>
            </a:endParaRPr>
          </a:p>
          <a:p>
            <a:r>
              <a:rPr lang="en-US" sz="1100" dirty="0">
                <a:latin typeface="Lucida Handwriting" pitchFamily="66" charset="0"/>
              </a:rPr>
              <a:t>1 hours</a:t>
            </a:r>
          </a:p>
        </p:txBody>
      </p:sp>
      <p:pic>
        <p:nvPicPr>
          <p:cNvPr id="14353" name="Picture 5" descr="C:\Users\srikanth\AppData\Local\Microsoft\Windows\Temporary Internet Files\Content.IE5\OMK7G43J\MCj04247960000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929141">
            <a:off x="7581907" y="3564733"/>
            <a:ext cx="1419225" cy="945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54" name="TextBox 39"/>
          <p:cNvSpPr txBox="1">
            <a:spLocks noChangeArrowheads="1"/>
          </p:cNvSpPr>
          <p:nvPr/>
        </p:nvSpPr>
        <p:spPr bwMode="auto">
          <a:xfrm rot="275848">
            <a:off x="7767638" y="3652097"/>
            <a:ext cx="969962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100" dirty="0">
                <a:latin typeface="Lucida Handwriting" pitchFamily="66" charset="0"/>
              </a:rPr>
              <a:t>DAO + </a:t>
            </a:r>
            <a:r>
              <a:rPr lang="en-US" sz="1100" dirty="0" err="1">
                <a:latin typeface="Lucida Handwriting" pitchFamily="66" charset="0"/>
              </a:rPr>
              <a:t>DBUnit</a:t>
            </a:r>
            <a:endParaRPr lang="en-US" sz="1100" dirty="0">
              <a:latin typeface="Lucida Handwriting" pitchFamily="66" charset="0"/>
            </a:endParaRPr>
          </a:p>
          <a:p>
            <a:endParaRPr lang="en-US" sz="1100" dirty="0">
              <a:latin typeface="Lucida Handwriting" pitchFamily="66" charset="0"/>
            </a:endParaRPr>
          </a:p>
          <a:p>
            <a:r>
              <a:rPr lang="en-US" sz="1100" dirty="0">
                <a:latin typeface="Lucida Handwriting" pitchFamily="66" charset="0"/>
              </a:rPr>
              <a:t>1 hours</a:t>
            </a:r>
          </a:p>
        </p:txBody>
      </p:sp>
      <p:sp>
        <p:nvSpPr>
          <p:cNvPr id="14355" name="TextBox 53"/>
          <p:cNvSpPr txBox="1">
            <a:spLocks noChangeArrowheads="1"/>
          </p:cNvSpPr>
          <p:nvPr/>
        </p:nvSpPr>
        <p:spPr bwMode="auto">
          <a:xfrm>
            <a:off x="6248404" y="2514603"/>
            <a:ext cx="105291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 dirty="0">
                <a:latin typeface="Calibri" pitchFamily="34" charset="0"/>
              </a:rPr>
              <a:t>Tasks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0" y="3181350"/>
            <a:ext cx="3013378" cy="40011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 err="1" smtClean="0"/>
              <a:t>Cách</a:t>
            </a:r>
            <a:r>
              <a:rPr lang="en-US" sz="2000" b="1" i="1" dirty="0" smtClean="0"/>
              <a:t> </a:t>
            </a:r>
            <a:r>
              <a:rPr lang="en-US" sz="2000" b="1" i="1" dirty="0" err="1" smtClean="0"/>
              <a:t>thức</a:t>
            </a:r>
            <a:r>
              <a:rPr lang="en-US" sz="2000" b="1" i="1" dirty="0" smtClean="0"/>
              <a:t> </a:t>
            </a:r>
            <a:r>
              <a:rPr lang="en-US" sz="2000" b="1" i="1" dirty="0" err="1" smtClean="0"/>
              <a:t>thực</a:t>
            </a:r>
            <a:r>
              <a:rPr lang="en-US" sz="2000" b="1" i="1" dirty="0" smtClean="0"/>
              <a:t> </a:t>
            </a:r>
            <a:r>
              <a:rPr lang="en-US" sz="2000" b="1" i="1" dirty="0" err="1" smtClean="0"/>
              <a:t>hiện</a:t>
            </a:r>
            <a:endParaRPr lang="en-US" sz="2000" b="1" i="1" dirty="0"/>
          </a:p>
        </p:txBody>
      </p:sp>
      <p:pic>
        <p:nvPicPr>
          <p:cNvPr id="41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1276350"/>
            <a:ext cx="1786824" cy="1238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>
          <a:xfrm>
            <a:off x="152400" y="114300"/>
            <a:ext cx="7709694" cy="781050"/>
          </a:xfrm>
        </p:spPr>
        <p:txBody>
          <a:bodyPr>
            <a:noAutofit/>
          </a:bodyPr>
          <a:lstStyle/>
          <a:p>
            <a:pPr algn="l" eaLnBrk="1" hangingPunct="1"/>
            <a:r>
              <a:rPr lang="en-US" sz="3500" dirty="0" smtClean="0"/>
              <a:t>Daily meeting</a:t>
            </a:r>
            <a:endParaRPr lang="en-US" sz="3500" dirty="0" smtClean="0"/>
          </a:p>
        </p:txBody>
      </p:sp>
      <p:pic>
        <p:nvPicPr>
          <p:cNvPr id="15363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7" y="971550"/>
            <a:ext cx="6437313" cy="314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4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743700" y="971550"/>
            <a:ext cx="2236788" cy="1257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65" name="TextBox 32"/>
          <p:cNvSpPr txBox="1">
            <a:spLocks noChangeArrowheads="1"/>
          </p:cNvSpPr>
          <p:nvPr/>
        </p:nvSpPr>
        <p:spPr bwMode="auto">
          <a:xfrm>
            <a:off x="990601" y="4229104"/>
            <a:ext cx="328711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dirty="0">
                <a:latin typeface="Calibri" pitchFamily="34" charset="0"/>
              </a:rPr>
              <a:t>What did I do yesterday?</a:t>
            </a:r>
          </a:p>
        </p:txBody>
      </p:sp>
      <p:sp>
        <p:nvSpPr>
          <p:cNvPr id="15366" name="TextBox 34"/>
          <p:cNvSpPr txBox="1">
            <a:spLocks noChangeArrowheads="1"/>
          </p:cNvSpPr>
          <p:nvPr/>
        </p:nvSpPr>
        <p:spPr bwMode="auto">
          <a:xfrm>
            <a:off x="2133601" y="4514854"/>
            <a:ext cx="282282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>
                <a:latin typeface="Calibri" pitchFamily="34" charset="0"/>
              </a:rPr>
              <a:t>What will I do today?</a:t>
            </a:r>
          </a:p>
        </p:txBody>
      </p:sp>
      <p:sp>
        <p:nvSpPr>
          <p:cNvPr id="15367" name="TextBox 35"/>
          <p:cNvSpPr txBox="1">
            <a:spLocks noChangeArrowheads="1"/>
          </p:cNvSpPr>
          <p:nvPr/>
        </p:nvSpPr>
        <p:spPr bwMode="auto">
          <a:xfrm>
            <a:off x="3886200" y="4800604"/>
            <a:ext cx="373942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>
                <a:latin typeface="Calibri" pitchFamily="34" charset="0"/>
              </a:rPr>
              <a:t>Is there anything in my way?</a:t>
            </a:r>
          </a:p>
        </p:txBody>
      </p:sp>
      <p:pic>
        <p:nvPicPr>
          <p:cNvPr id="15368" name="Picture 8" descr="C:\Users\srikanth\AppData\Local\Microsoft\Windows\Temporary Internet Files\Content.IE5\28HJ0W0T\MCj04326020000[1]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239000" y="2343150"/>
            <a:ext cx="152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69" name="TextBox 9"/>
          <p:cNvSpPr txBox="1">
            <a:spLocks noChangeArrowheads="1"/>
          </p:cNvSpPr>
          <p:nvPr/>
        </p:nvSpPr>
        <p:spPr bwMode="auto">
          <a:xfrm>
            <a:off x="7086600" y="3429000"/>
            <a:ext cx="1905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Max. 15 minutes</a:t>
            </a: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96" y="358381"/>
            <a:ext cx="8377407" cy="536970"/>
          </a:xfrm>
        </p:spPr>
        <p:txBody>
          <a:bodyPr>
            <a:noAutofit/>
          </a:bodyPr>
          <a:lstStyle/>
          <a:p>
            <a:pPr algn="l"/>
            <a:r>
              <a:rPr lang="en-US" sz="3500" dirty="0" smtClean="0"/>
              <a:t>Product </a:t>
            </a:r>
            <a:r>
              <a:rPr lang="en-US" sz="3500" dirty="0" smtClean="0"/>
              <a:t>backlog grooming</a:t>
            </a:r>
            <a:endParaRPr lang="en-US" sz="3500" dirty="0"/>
          </a:p>
        </p:txBody>
      </p:sp>
      <p:pic>
        <p:nvPicPr>
          <p:cNvPr id="1026" name="Picture 14" descr="Description: C:\Users\nhungnt\Desktop\Ready_don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29200" y="1047752"/>
            <a:ext cx="3782506" cy="14537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16" descr="Description: C:\Users\nhungnt\Desktop\ReadyStory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6" y="2190750"/>
            <a:ext cx="4754563" cy="264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1371606" y="1581150"/>
            <a:ext cx="2785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 smtClean="0"/>
              <a:t>Làm</a:t>
            </a:r>
            <a:r>
              <a:rPr lang="en-US" b="1" dirty="0" smtClean="0"/>
              <a:t> </a:t>
            </a:r>
            <a:r>
              <a:rPr lang="en-US" b="1" dirty="0" err="1" smtClean="0"/>
              <a:t>cho</a:t>
            </a:r>
            <a:r>
              <a:rPr lang="en-US" b="1" dirty="0" smtClean="0"/>
              <a:t> Story “SẴN SÀNG”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>
          <a:xfrm>
            <a:off x="304800" y="285751"/>
            <a:ext cx="5181600" cy="762000"/>
          </a:xfrm>
        </p:spPr>
        <p:txBody>
          <a:bodyPr>
            <a:normAutofit fontScale="90000"/>
          </a:bodyPr>
          <a:lstStyle/>
          <a:p>
            <a:pPr algn="l"/>
            <a:r>
              <a:rPr lang="en-US" sz="3900" dirty="0" smtClean="0"/>
              <a:t>Sprint Review</a:t>
            </a:r>
            <a:r>
              <a:rPr lang="en-US" dirty="0"/>
              <a:t/>
            </a:r>
            <a:br>
              <a:rPr lang="en-US" dirty="0"/>
            </a:br>
            <a:endParaRPr lang="en-US" dirty="0" smtClean="0"/>
          </a:p>
        </p:txBody>
      </p:sp>
      <p:sp>
        <p:nvSpPr>
          <p:cNvPr id="16389" name="TextBox 11"/>
          <p:cNvSpPr txBox="1">
            <a:spLocks noChangeArrowheads="1"/>
          </p:cNvSpPr>
          <p:nvPr/>
        </p:nvSpPr>
        <p:spPr bwMode="auto">
          <a:xfrm>
            <a:off x="381000" y="1215190"/>
            <a:ext cx="3733800" cy="2677656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57200" indent="-457200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en-US" sz="2000" i="1" spc="130" dirty="0">
                <a:solidFill>
                  <a:schemeClr val="dk1"/>
                </a:solidFill>
                <a:latin typeface="Nina Compressed"/>
              </a:rPr>
              <a:t>Scrum Team </a:t>
            </a:r>
            <a:r>
              <a:rPr lang="en-US" sz="2000" i="1" spc="130" dirty="0" err="1">
                <a:solidFill>
                  <a:schemeClr val="dk1"/>
                </a:solidFill>
                <a:latin typeface="Nina Compressed"/>
              </a:rPr>
              <a:t>trình</a:t>
            </a:r>
            <a:r>
              <a:rPr lang="en-US" sz="2000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sz="2000" i="1" spc="130" dirty="0" err="1">
                <a:solidFill>
                  <a:schemeClr val="dk1"/>
                </a:solidFill>
                <a:latin typeface="Nina Compressed"/>
              </a:rPr>
              <a:t>bày</a:t>
            </a:r>
            <a:r>
              <a:rPr lang="en-US" sz="2000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sz="2000" i="1" spc="130" dirty="0" err="1">
                <a:solidFill>
                  <a:schemeClr val="dk1"/>
                </a:solidFill>
                <a:latin typeface="Nina Compressed"/>
              </a:rPr>
              <a:t>phần</a:t>
            </a:r>
            <a:r>
              <a:rPr lang="en-US" sz="2000" i="1" spc="130" dirty="0">
                <a:solidFill>
                  <a:schemeClr val="dk1"/>
                </a:solidFill>
                <a:latin typeface="Nina Compressed"/>
              </a:rPr>
              <a:t> Scrum team </a:t>
            </a:r>
            <a:r>
              <a:rPr lang="en-US" sz="2000" i="1" spc="130" dirty="0" err="1">
                <a:solidFill>
                  <a:schemeClr val="dk1"/>
                </a:solidFill>
                <a:latin typeface="Nina Compressed"/>
              </a:rPr>
              <a:t>đã</a:t>
            </a:r>
            <a:r>
              <a:rPr lang="en-US" sz="2000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sz="2000" i="1" spc="130" dirty="0" err="1">
                <a:solidFill>
                  <a:schemeClr val="dk1"/>
                </a:solidFill>
                <a:latin typeface="Nina Compressed"/>
              </a:rPr>
              <a:t>hoàn</a:t>
            </a:r>
            <a:r>
              <a:rPr lang="en-US" sz="2000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sz="2000" i="1" spc="130" dirty="0" err="1">
                <a:solidFill>
                  <a:schemeClr val="dk1"/>
                </a:solidFill>
                <a:latin typeface="Nina Compressed"/>
              </a:rPr>
              <a:t>thành</a:t>
            </a:r>
            <a:r>
              <a:rPr lang="en-US" sz="2000" i="1" spc="130" dirty="0">
                <a:solidFill>
                  <a:schemeClr val="dk1"/>
                </a:solidFill>
                <a:latin typeface="Nina Compressed"/>
              </a:rPr>
              <a:t>.</a:t>
            </a:r>
            <a:endParaRPr lang="en-US" sz="2000" i="1" spc="130" dirty="0">
              <a:solidFill>
                <a:schemeClr val="dk1"/>
              </a:solidFill>
              <a:latin typeface="Nina Compressed"/>
            </a:endParaRPr>
          </a:p>
          <a:p>
            <a:pPr marL="457200" indent="-457200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en-US" sz="2000" i="1" spc="130" dirty="0">
                <a:solidFill>
                  <a:schemeClr val="dk1"/>
                </a:solidFill>
                <a:latin typeface="Nina Compressed"/>
              </a:rPr>
              <a:t>Demo </a:t>
            </a:r>
            <a:r>
              <a:rPr lang="en-US" sz="2000" i="1" spc="130" dirty="0" err="1">
                <a:solidFill>
                  <a:schemeClr val="dk1"/>
                </a:solidFill>
                <a:latin typeface="Nina Compressed"/>
              </a:rPr>
              <a:t>tính</a:t>
            </a:r>
            <a:r>
              <a:rPr lang="en-US" sz="2000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sz="2000" i="1" spc="130" dirty="0" err="1">
                <a:solidFill>
                  <a:schemeClr val="dk1"/>
                </a:solidFill>
                <a:latin typeface="Nina Compressed"/>
              </a:rPr>
              <a:t>năng</a:t>
            </a:r>
            <a:r>
              <a:rPr lang="en-US" sz="2000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sz="2000" i="1" spc="130" dirty="0" err="1">
                <a:solidFill>
                  <a:schemeClr val="dk1"/>
                </a:solidFill>
                <a:latin typeface="Nina Compressed"/>
              </a:rPr>
              <a:t>mới</a:t>
            </a:r>
            <a:r>
              <a:rPr lang="en-US" sz="2000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sz="2000" i="1" spc="130" dirty="0" err="1">
                <a:solidFill>
                  <a:schemeClr val="dk1"/>
                </a:solidFill>
                <a:latin typeface="Nina Compressed"/>
              </a:rPr>
              <a:t>được</a:t>
            </a:r>
            <a:r>
              <a:rPr lang="en-US" sz="2000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sz="2000" i="1" spc="130" dirty="0" err="1">
                <a:solidFill>
                  <a:schemeClr val="dk1"/>
                </a:solidFill>
                <a:latin typeface="Nina Compressed"/>
              </a:rPr>
              <a:t>phát</a:t>
            </a:r>
            <a:r>
              <a:rPr lang="en-US" sz="2000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sz="2000" i="1" spc="130" dirty="0" err="1">
                <a:solidFill>
                  <a:schemeClr val="dk1"/>
                </a:solidFill>
                <a:latin typeface="Nina Compressed"/>
              </a:rPr>
              <a:t>triển</a:t>
            </a:r>
            <a:r>
              <a:rPr lang="en-US" sz="2000" i="1" spc="130" dirty="0">
                <a:solidFill>
                  <a:schemeClr val="dk1"/>
                </a:solidFill>
                <a:latin typeface="Nina Compressed"/>
              </a:rPr>
              <a:t> </a:t>
            </a:r>
          </a:p>
          <a:p>
            <a:pPr marL="457200" indent="-457200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en-US" sz="2000" i="1" spc="130" dirty="0" err="1">
                <a:solidFill>
                  <a:schemeClr val="dk1"/>
                </a:solidFill>
                <a:latin typeface="Nina Compressed"/>
              </a:rPr>
              <a:t>Mời</a:t>
            </a:r>
            <a:r>
              <a:rPr lang="en-US" sz="2000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sz="2000" i="1" spc="130" dirty="0" err="1">
                <a:solidFill>
                  <a:schemeClr val="dk1"/>
                </a:solidFill>
                <a:latin typeface="Nina Compressed"/>
              </a:rPr>
              <a:t>thành</a:t>
            </a:r>
            <a:r>
              <a:rPr lang="en-US" sz="2000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sz="2000" i="1" spc="130" dirty="0" err="1">
                <a:solidFill>
                  <a:schemeClr val="dk1"/>
                </a:solidFill>
                <a:latin typeface="Nina Compressed"/>
              </a:rPr>
              <a:t>viên</a:t>
            </a:r>
            <a:r>
              <a:rPr lang="en-US" sz="2000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sz="2000" i="1" spc="130" dirty="0" err="1">
                <a:solidFill>
                  <a:schemeClr val="dk1"/>
                </a:solidFill>
                <a:latin typeface="Nina Compressed"/>
              </a:rPr>
              <a:t>liên</a:t>
            </a:r>
            <a:r>
              <a:rPr lang="en-US" sz="2000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sz="2000" i="1" spc="130" dirty="0" err="1">
                <a:solidFill>
                  <a:schemeClr val="dk1"/>
                </a:solidFill>
                <a:latin typeface="Nina Compressed"/>
              </a:rPr>
              <a:t>quan</a:t>
            </a:r>
            <a:r>
              <a:rPr lang="en-US" sz="2000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sz="2000" i="1" spc="130" dirty="0" err="1">
                <a:solidFill>
                  <a:schemeClr val="dk1"/>
                </a:solidFill>
                <a:latin typeface="Nina Compressed"/>
              </a:rPr>
              <a:t>tham</a:t>
            </a:r>
            <a:r>
              <a:rPr lang="en-US" sz="2000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sz="2000" i="1" spc="130" dirty="0" err="1">
                <a:solidFill>
                  <a:schemeClr val="dk1"/>
                </a:solidFill>
                <a:latin typeface="Nina Compressed"/>
              </a:rPr>
              <a:t>gia</a:t>
            </a:r>
            <a:r>
              <a:rPr lang="en-US" sz="2000" i="1" spc="130" dirty="0">
                <a:solidFill>
                  <a:schemeClr val="dk1"/>
                </a:solidFill>
                <a:latin typeface="Nina Compressed"/>
              </a:rPr>
              <a:t> (</a:t>
            </a:r>
            <a:r>
              <a:rPr lang="en-US" sz="2000" i="1" spc="130" dirty="0" err="1">
                <a:solidFill>
                  <a:schemeClr val="dk1"/>
                </a:solidFill>
                <a:latin typeface="Nina Compressed"/>
              </a:rPr>
              <a:t>nếu</a:t>
            </a:r>
            <a:r>
              <a:rPr lang="en-US" sz="2000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sz="2000" i="1" spc="130" dirty="0" err="1">
                <a:solidFill>
                  <a:schemeClr val="dk1"/>
                </a:solidFill>
                <a:latin typeface="Nina Compressed"/>
              </a:rPr>
              <a:t>có</a:t>
            </a:r>
            <a:r>
              <a:rPr lang="en-US" sz="2000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sz="2000" i="1" spc="130" dirty="0" err="1">
                <a:solidFill>
                  <a:schemeClr val="dk1"/>
                </a:solidFill>
                <a:latin typeface="Nina Compressed"/>
              </a:rPr>
              <a:t>thể</a:t>
            </a:r>
            <a:r>
              <a:rPr lang="en-US" sz="2000" i="1" spc="130" dirty="0">
                <a:solidFill>
                  <a:schemeClr val="dk1"/>
                </a:solidFill>
                <a:latin typeface="Nina Compressed"/>
              </a:rPr>
              <a:t>)</a:t>
            </a:r>
            <a:endParaRPr lang="en-US" sz="2000" i="1" spc="130" dirty="0">
              <a:solidFill>
                <a:schemeClr val="dk1"/>
              </a:solidFill>
              <a:latin typeface="Nina Compressed"/>
            </a:endParaRPr>
          </a:p>
        </p:txBody>
      </p:sp>
      <p:pic>
        <p:nvPicPr>
          <p:cNvPr id="1639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60900" y="1196140"/>
            <a:ext cx="2895600" cy="27622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7897765" y="2261631"/>
            <a:ext cx="1246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SẢN PHẨM</a:t>
            </a:r>
            <a:endParaRPr lang="en-US" b="1" dirty="0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7772400" cy="857250"/>
          </a:xfrm>
        </p:spPr>
        <p:txBody>
          <a:bodyPr>
            <a:normAutofit/>
          </a:bodyPr>
          <a:lstStyle/>
          <a:p>
            <a:pPr algn="l"/>
            <a:r>
              <a:rPr lang="en-US" sz="3500" dirty="0" smtClean="0"/>
              <a:t>Sprint </a:t>
            </a:r>
            <a:r>
              <a:rPr lang="en-US" sz="3500" dirty="0"/>
              <a:t>Retrospective 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43600" y="1352553"/>
            <a:ext cx="2743200" cy="21728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15"/>
          <p:cNvSpPr txBox="1">
            <a:spLocks noChangeArrowheads="1"/>
          </p:cNvSpPr>
          <p:nvPr/>
        </p:nvSpPr>
        <p:spPr bwMode="auto">
          <a:xfrm>
            <a:off x="685805" y="1170622"/>
            <a:ext cx="4724395" cy="243143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57200" indent="-457200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en-US" sz="2000" i="1" spc="130" dirty="0" err="1">
                <a:solidFill>
                  <a:schemeClr val="dk1"/>
                </a:solidFill>
                <a:latin typeface="Nina Compressed"/>
              </a:rPr>
              <a:t>Toàn</a:t>
            </a:r>
            <a:r>
              <a:rPr lang="en-US" sz="2000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sz="2000" i="1" spc="130" dirty="0" err="1">
                <a:solidFill>
                  <a:schemeClr val="dk1"/>
                </a:solidFill>
                <a:latin typeface="Nina Compressed"/>
              </a:rPr>
              <a:t>bộ</a:t>
            </a:r>
            <a:r>
              <a:rPr lang="en-US" sz="2000" i="1" spc="130" dirty="0">
                <a:solidFill>
                  <a:schemeClr val="dk1"/>
                </a:solidFill>
                <a:latin typeface="Nina Compressed"/>
              </a:rPr>
              <a:t> Scrum Team + Product Owner </a:t>
            </a:r>
            <a:r>
              <a:rPr lang="en-US" sz="2000" i="1" spc="130" dirty="0" err="1">
                <a:solidFill>
                  <a:schemeClr val="dk1"/>
                </a:solidFill>
                <a:latin typeface="Nina Compressed"/>
              </a:rPr>
              <a:t>thảo</a:t>
            </a:r>
            <a:r>
              <a:rPr lang="en-US" sz="2000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sz="2000" i="1" spc="130" dirty="0" err="1">
                <a:solidFill>
                  <a:schemeClr val="dk1"/>
                </a:solidFill>
                <a:latin typeface="Nina Compressed"/>
              </a:rPr>
              <a:t>luận</a:t>
            </a:r>
            <a:r>
              <a:rPr lang="en-US" sz="2000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sz="2000" i="1" spc="130" dirty="0" err="1">
                <a:solidFill>
                  <a:schemeClr val="dk1"/>
                </a:solidFill>
                <a:latin typeface="Nina Compressed"/>
              </a:rPr>
              <a:t>về</a:t>
            </a:r>
            <a:r>
              <a:rPr lang="en-US" sz="2000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sz="2000" i="1" spc="130" dirty="0" err="1">
                <a:solidFill>
                  <a:schemeClr val="dk1"/>
                </a:solidFill>
                <a:latin typeface="Nina Compressed"/>
              </a:rPr>
              <a:t>kết</a:t>
            </a:r>
            <a:r>
              <a:rPr lang="en-US" sz="2000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sz="2000" i="1" spc="130" dirty="0" err="1">
                <a:solidFill>
                  <a:schemeClr val="dk1"/>
                </a:solidFill>
                <a:latin typeface="Nina Compressed"/>
              </a:rPr>
              <a:t>quả</a:t>
            </a:r>
            <a:r>
              <a:rPr lang="en-US" sz="2000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sz="2000" i="1" spc="130" dirty="0" smtClean="0">
                <a:solidFill>
                  <a:schemeClr val="dk1"/>
                </a:solidFill>
                <a:latin typeface="Nina Compressed"/>
              </a:rPr>
              <a:t>sprint: </a:t>
            </a:r>
            <a:endParaRPr lang="en-US" sz="2000" i="1" spc="130" dirty="0">
              <a:solidFill>
                <a:schemeClr val="dk1"/>
              </a:solidFill>
              <a:latin typeface="Nina Compressed"/>
            </a:endParaRP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en-US" sz="2000" i="1" spc="130" dirty="0" smtClean="0">
                <a:latin typeface="Nina Compressed"/>
              </a:rPr>
              <a:t>  </a:t>
            </a:r>
            <a:r>
              <a:rPr lang="en-US" sz="2000" i="1" spc="130" dirty="0" err="1" smtClean="0">
                <a:solidFill>
                  <a:schemeClr val="dk1"/>
                </a:solidFill>
                <a:latin typeface="Nina Compressed"/>
              </a:rPr>
              <a:t>Điều</a:t>
            </a:r>
            <a:r>
              <a:rPr lang="en-US" sz="2000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sz="2000" i="1" spc="130" dirty="0" err="1">
                <a:solidFill>
                  <a:schemeClr val="dk1"/>
                </a:solidFill>
                <a:latin typeface="Nina Compressed"/>
              </a:rPr>
              <a:t>nên</a:t>
            </a:r>
            <a:r>
              <a:rPr lang="en-US" sz="2000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sz="2000" i="1" spc="130" dirty="0" err="1">
                <a:solidFill>
                  <a:schemeClr val="dk1"/>
                </a:solidFill>
                <a:latin typeface="Nina Compressed"/>
              </a:rPr>
              <a:t>cải</a:t>
            </a:r>
            <a:r>
              <a:rPr lang="en-US" sz="2000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sz="2000" i="1" spc="130" dirty="0" err="1">
                <a:solidFill>
                  <a:schemeClr val="dk1"/>
                </a:solidFill>
                <a:latin typeface="Nina Compressed"/>
              </a:rPr>
              <a:t>tiến</a:t>
            </a:r>
            <a:r>
              <a:rPr lang="en-US" sz="2000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sz="2000" i="1" spc="130" dirty="0" err="1">
                <a:solidFill>
                  <a:schemeClr val="dk1"/>
                </a:solidFill>
                <a:latin typeface="Nina Compressed"/>
              </a:rPr>
              <a:t>và</a:t>
            </a:r>
            <a:r>
              <a:rPr lang="en-US" sz="2000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sz="2000" i="1" spc="130" dirty="0" err="1">
                <a:solidFill>
                  <a:schemeClr val="dk1"/>
                </a:solidFill>
                <a:latin typeface="Nina Compressed"/>
              </a:rPr>
              <a:t>thực</a:t>
            </a:r>
            <a:r>
              <a:rPr lang="en-US" sz="2000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sz="2000" i="1" spc="130" dirty="0" err="1">
                <a:solidFill>
                  <a:schemeClr val="dk1"/>
                </a:solidFill>
                <a:latin typeface="Nina Compressed"/>
              </a:rPr>
              <a:t>hiện</a:t>
            </a:r>
            <a:r>
              <a:rPr lang="en-US" sz="2000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sz="2000" i="1" spc="130" dirty="0" err="1">
                <a:solidFill>
                  <a:schemeClr val="dk1"/>
                </a:solidFill>
                <a:latin typeface="Nina Compressed"/>
              </a:rPr>
              <a:t>trong</a:t>
            </a:r>
            <a:r>
              <a:rPr lang="en-US" sz="2000" i="1" spc="130" dirty="0">
                <a:solidFill>
                  <a:schemeClr val="dk1"/>
                </a:solidFill>
                <a:latin typeface="Nina Compressed"/>
              </a:rPr>
              <a:t> sprint </a:t>
            </a:r>
            <a:r>
              <a:rPr lang="en-US" sz="2000" i="1" spc="130" dirty="0" err="1" smtClean="0">
                <a:solidFill>
                  <a:schemeClr val="dk1"/>
                </a:solidFill>
                <a:latin typeface="Nina Compressed"/>
              </a:rPr>
              <a:t>tiếp</a:t>
            </a:r>
            <a:r>
              <a:rPr lang="en-US" sz="2000" i="1" spc="130" dirty="0" smtClean="0">
                <a:solidFill>
                  <a:schemeClr val="dk1"/>
                </a:solidFill>
                <a:latin typeface="Nina Compressed"/>
              </a:rPr>
              <a:t>: </a:t>
            </a:r>
            <a:endParaRPr lang="en-US" sz="2000" i="1" spc="130" dirty="0">
              <a:solidFill>
                <a:schemeClr val="dk1"/>
              </a:solidFill>
              <a:latin typeface="Nina Compressed"/>
            </a:endParaRPr>
          </a:p>
          <a:p>
            <a:pPr>
              <a:spcBef>
                <a:spcPct val="20000"/>
              </a:spcBef>
              <a:defRPr/>
            </a:pPr>
            <a:r>
              <a:rPr lang="en-US" sz="2000" i="1" spc="130" dirty="0" smtClean="0">
                <a:solidFill>
                  <a:schemeClr val="dk1"/>
                </a:solidFill>
                <a:latin typeface="Nina Compressed"/>
              </a:rPr>
              <a:t> - </a:t>
            </a:r>
            <a:r>
              <a:rPr lang="en-US" sz="2000" i="1" spc="130" dirty="0" err="1" smtClean="0">
                <a:solidFill>
                  <a:schemeClr val="dk1"/>
                </a:solidFill>
                <a:latin typeface="Nina Compressed"/>
              </a:rPr>
              <a:t>Điều</a:t>
            </a:r>
            <a:r>
              <a:rPr lang="en-US" sz="2000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sz="2000" i="1" spc="130" dirty="0" err="1">
                <a:solidFill>
                  <a:schemeClr val="dk1"/>
                </a:solidFill>
                <a:latin typeface="Nina Compressed"/>
              </a:rPr>
              <a:t>không</a:t>
            </a:r>
            <a:r>
              <a:rPr lang="en-US" sz="2000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sz="2000" i="1" spc="130" dirty="0" err="1">
                <a:solidFill>
                  <a:schemeClr val="dk1"/>
                </a:solidFill>
                <a:latin typeface="Nina Compressed"/>
              </a:rPr>
              <a:t>nên</a:t>
            </a:r>
            <a:r>
              <a:rPr lang="en-US" sz="2000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sz="2000" i="1" spc="130" dirty="0" err="1">
                <a:solidFill>
                  <a:schemeClr val="dk1"/>
                </a:solidFill>
                <a:latin typeface="Nina Compressed"/>
              </a:rPr>
              <a:t>làm</a:t>
            </a:r>
            <a:r>
              <a:rPr lang="en-US" sz="2000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sz="2000" i="1" spc="130" dirty="0" err="1">
                <a:solidFill>
                  <a:schemeClr val="dk1"/>
                </a:solidFill>
                <a:latin typeface="Nina Compressed"/>
              </a:rPr>
              <a:t>nữa</a:t>
            </a:r>
            <a:endParaRPr lang="en-US" sz="2000" i="1" spc="130" dirty="0">
              <a:solidFill>
                <a:schemeClr val="dk1"/>
              </a:solidFill>
              <a:latin typeface="Nina Compressed"/>
            </a:endParaRPr>
          </a:p>
          <a:p>
            <a:pPr>
              <a:spcBef>
                <a:spcPct val="20000"/>
              </a:spcBef>
              <a:defRPr/>
            </a:pPr>
            <a:r>
              <a:rPr lang="en-US" sz="2000" i="1" spc="130" dirty="0" smtClean="0">
                <a:solidFill>
                  <a:schemeClr val="dk1"/>
                </a:solidFill>
                <a:latin typeface="Nina Compressed"/>
              </a:rPr>
              <a:t>- </a:t>
            </a:r>
            <a:r>
              <a:rPr lang="en-US" sz="2000" i="1" spc="130" dirty="0" err="1" smtClean="0">
                <a:solidFill>
                  <a:schemeClr val="dk1"/>
                </a:solidFill>
                <a:latin typeface="Nina Compressed"/>
              </a:rPr>
              <a:t>Điều</a:t>
            </a:r>
            <a:r>
              <a:rPr lang="en-US" sz="2000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sz="2000" i="1" spc="130" dirty="0" err="1">
                <a:solidFill>
                  <a:schemeClr val="dk1"/>
                </a:solidFill>
                <a:latin typeface="Nina Compressed"/>
              </a:rPr>
              <a:t>tiếp</a:t>
            </a:r>
            <a:r>
              <a:rPr lang="en-US" sz="2000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sz="2000" i="1" spc="130" dirty="0" err="1">
                <a:solidFill>
                  <a:schemeClr val="dk1"/>
                </a:solidFill>
                <a:latin typeface="Nina Compressed"/>
              </a:rPr>
              <a:t>tục</a:t>
            </a:r>
            <a:r>
              <a:rPr lang="en-US" sz="2000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sz="2000" i="1" spc="130" dirty="0" err="1">
                <a:solidFill>
                  <a:schemeClr val="dk1"/>
                </a:solidFill>
                <a:latin typeface="Nina Compressed"/>
              </a:rPr>
              <a:t>làm</a:t>
            </a:r>
            <a:endParaRPr lang="en-US" sz="2000" i="1" spc="130" dirty="0">
              <a:solidFill>
                <a:schemeClr val="dk1"/>
              </a:solidFill>
              <a:latin typeface="Nina Compressed"/>
            </a:endParaRPr>
          </a:p>
        </p:txBody>
      </p:sp>
    </p:spTree>
    <p:extLst>
      <p:ext uri="{BB962C8B-B14F-4D97-AF65-F5344CB8AC3E}">
        <p14:creationId xmlns:p14="http://schemas.microsoft.com/office/powerpoint/2010/main" val="294577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33400" y="2343150"/>
            <a:ext cx="6781800" cy="4572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500" b="1" dirty="0" err="1" smtClean="0"/>
              <a:t>Nội</a:t>
            </a:r>
            <a:r>
              <a:rPr lang="en-US" sz="3500" b="1" dirty="0" smtClean="0"/>
              <a:t> dung</a:t>
            </a:r>
            <a:endParaRPr lang="en-US" sz="35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1. </a:t>
            </a:r>
            <a:r>
              <a:rPr lang="en-US" dirty="0" err="1" smtClean="0"/>
              <a:t>Quy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</a:t>
            </a:r>
            <a:r>
              <a:rPr lang="en-US" dirty="0" err="1" smtClean="0"/>
              <a:t>khung</a:t>
            </a:r>
            <a:r>
              <a:rPr lang="en-US" dirty="0" smtClean="0"/>
              <a:t> </a:t>
            </a:r>
            <a:r>
              <a:rPr lang="en-US" dirty="0" err="1" smtClean="0"/>
              <a:t>Viettel</a:t>
            </a:r>
            <a:r>
              <a:rPr lang="en-US" dirty="0" smtClean="0"/>
              <a:t> – Agile</a:t>
            </a:r>
          </a:p>
          <a:p>
            <a:pPr marL="0" indent="0">
              <a:buNone/>
            </a:pPr>
            <a:r>
              <a:rPr lang="en-US" dirty="0" smtClean="0"/>
              <a:t>2.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khái</a:t>
            </a:r>
            <a:r>
              <a:rPr lang="en-US" dirty="0" smtClean="0"/>
              <a:t> </a:t>
            </a:r>
            <a:r>
              <a:rPr lang="en-US" dirty="0" err="1" smtClean="0"/>
              <a:t>niệm</a:t>
            </a:r>
            <a:r>
              <a:rPr lang="en-US" dirty="0" smtClean="0"/>
              <a:t> Scrum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3. </a:t>
            </a:r>
            <a:r>
              <a:rPr lang="en-US" dirty="0" err="1" smtClean="0">
                <a:solidFill>
                  <a:srgbClr val="FF0000"/>
                </a:solidFill>
              </a:rPr>
              <a:t>Các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công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việc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thực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hiện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trong</a:t>
            </a:r>
            <a:r>
              <a:rPr lang="en-US" dirty="0" smtClean="0">
                <a:solidFill>
                  <a:srgbClr val="FF0000"/>
                </a:solidFill>
              </a:rPr>
              <a:t> sprint</a:t>
            </a:r>
          </a:p>
          <a:p>
            <a:pPr marL="0" indent="0">
              <a:buNone/>
            </a:pPr>
            <a:r>
              <a:rPr lang="en-US" dirty="0"/>
              <a:t>4</a:t>
            </a:r>
            <a:r>
              <a:rPr lang="en-US" dirty="0" smtClean="0"/>
              <a:t>. </a:t>
            </a:r>
            <a:r>
              <a:rPr lang="en-US" dirty="0" err="1" smtClean="0"/>
              <a:t>Nghiệm</a:t>
            </a:r>
            <a:r>
              <a:rPr lang="en-US" dirty="0" smtClean="0"/>
              <a:t> </a:t>
            </a:r>
            <a:r>
              <a:rPr lang="en-US" dirty="0" err="1" smtClean="0"/>
              <a:t>thu</a:t>
            </a:r>
            <a:r>
              <a:rPr lang="en-US" dirty="0" smtClean="0"/>
              <a:t> </a:t>
            </a:r>
            <a:r>
              <a:rPr lang="en-US" dirty="0" err="1" smtClean="0"/>
              <a:t>sản</a:t>
            </a:r>
            <a:r>
              <a:rPr lang="en-US" dirty="0" smtClean="0"/>
              <a:t> </a:t>
            </a:r>
            <a:r>
              <a:rPr lang="en-US" dirty="0" err="1" smtClean="0"/>
              <a:t>phẩm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5</a:t>
            </a:r>
            <a:r>
              <a:rPr lang="en-US" dirty="0" smtClean="0"/>
              <a:t>.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thúc</a:t>
            </a:r>
            <a:r>
              <a:rPr lang="en-US" dirty="0" smtClean="0"/>
              <a:t> </a:t>
            </a:r>
            <a:r>
              <a:rPr lang="en-US" dirty="0" err="1" smtClean="0"/>
              <a:t>dự</a:t>
            </a:r>
            <a:r>
              <a:rPr lang="en-US" dirty="0" smtClean="0"/>
              <a:t> </a:t>
            </a:r>
            <a:r>
              <a:rPr lang="en-US" dirty="0" err="1" smtClean="0"/>
              <a:t>án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6. </a:t>
            </a:r>
            <a:r>
              <a:rPr lang="en-US" dirty="0" err="1" smtClean="0"/>
              <a:t>Thảo</a:t>
            </a:r>
            <a:r>
              <a:rPr lang="en-US" dirty="0" smtClean="0"/>
              <a:t> </a:t>
            </a:r>
            <a:r>
              <a:rPr lang="en-US" dirty="0" err="1" smtClean="0"/>
              <a:t>luận</a:t>
            </a:r>
            <a:endParaRPr lang="en-US" dirty="0" smtClean="0"/>
          </a:p>
          <a:p>
            <a:pPr>
              <a:buFont typeface="Wingdings" pitchFamily="2" charset="2"/>
              <a:buChar char="ü"/>
            </a:pPr>
            <a:endParaRPr lang="en-US" dirty="0" smtClean="0"/>
          </a:p>
          <a:p>
            <a:pPr>
              <a:buFont typeface="Wingdings" pitchFamily="2" charset="2"/>
              <a:buChar char="ü"/>
            </a:pPr>
            <a:endParaRPr lang="en-US" dirty="0" smtClean="0"/>
          </a:p>
          <a:p>
            <a:pPr>
              <a:buFont typeface="Wingdings" pitchFamily="2" charset="2"/>
              <a:buChar char="ü"/>
            </a:pPr>
            <a:endParaRPr lang="en-US" dirty="0" smtClean="0"/>
          </a:p>
          <a:p>
            <a:pPr>
              <a:buFont typeface="Wingdings" pitchFamily="2" charset="2"/>
              <a:buChar char="ü"/>
            </a:pPr>
            <a:endParaRPr lang="en-US" dirty="0" smtClean="0"/>
          </a:p>
          <a:p>
            <a:pPr>
              <a:buFont typeface="Wingdings" pitchFamily="2" charset="2"/>
              <a:buChar char="ü"/>
            </a:pPr>
            <a:endParaRPr lang="en-US" dirty="0" smtClean="0"/>
          </a:p>
          <a:p>
            <a:pPr>
              <a:buFont typeface="Wingdings" pitchFamily="2" charset="2"/>
              <a:buChar char="ü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59431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1950"/>
            <a:ext cx="3657600" cy="533400"/>
          </a:xfrm>
        </p:spPr>
        <p:txBody>
          <a:bodyPr rtlCol="0">
            <a:noAutofit/>
          </a:bodyPr>
          <a:lstStyle/>
          <a:p>
            <a:pPr algn="l" fontAlgn="auto">
              <a:spcAft>
                <a:spcPts val="0"/>
              </a:spcAft>
              <a:defRPr/>
            </a:pPr>
            <a:r>
              <a:rPr lang="en-US" sz="3500" spc="130" dirty="0" smtClean="0">
                <a:latin typeface="Nina Compressed"/>
              </a:rPr>
              <a:t>3.1.Sprint </a:t>
            </a:r>
            <a:r>
              <a:rPr lang="en-US" sz="3500" spc="130" dirty="0" err="1" smtClean="0">
                <a:latin typeface="Nina Compressed"/>
              </a:rPr>
              <a:t>là</a:t>
            </a:r>
            <a:r>
              <a:rPr lang="en-US" sz="3500" spc="130" dirty="0" smtClean="0">
                <a:latin typeface="Nina Compressed"/>
              </a:rPr>
              <a:t> …</a:t>
            </a:r>
            <a:endParaRPr lang="en-US" sz="3500" spc="130" dirty="0" smtClean="0">
              <a:latin typeface="Nina Compressed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14800" y="361950"/>
            <a:ext cx="4267200" cy="42672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>
            <a:noAutofit/>
          </a:bodyPr>
          <a:lstStyle/>
          <a:p>
            <a:pPr marL="457200" indent="-457200" fontAlgn="auto">
              <a:spcAft>
                <a:spcPts val="0"/>
              </a:spcAft>
              <a:buFont typeface="Wingdings" pitchFamily="2" charset="2"/>
              <a:buChar char="ü"/>
              <a:defRPr/>
            </a:pPr>
            <a:endParaRPr lang="en-US" sz="2000" i="1" spc="130" dirty="0" smtClean="0">
              <a:solidFill>
                <a:schemeClr val="dk1"/>
              </a:solidFill>
              <a:latin typeface="Nina Compressed"/>
            </a:endParaRPr>
          </a:p>
          <a:p>
            <a:pPr marL="457200" indent="-457200" fontAlgn="auto"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en-US" sz="2000" i="1" spc="130" dirty="0" smtClean="0">
                <a:solidFill>
                  <a:schemeClr val="dk1"/>
                </a:solidFill>
                <a:latin typeface="Nina Compressed"/>
              </a:rPr>
              <a:t>Chu </a:t>
            </a:r>
            <a:r>
              <a:rPr lang="en-US" sz="2000" i="1" spc="130" dirty="0" err="1">
                <a:solidFill>
                  <a:schemeClr val="dk1"/>
                </a:solidFill>
                <a:latin typeface="Nina Compressed"/>
              </a:rPr>
              <a:t>trình</a:t>
            </a:r>
            <a:r>
              <a:rPr lang="en-US" sz="2000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sz="2000" i="1" spc="130" dirty="0" err="1">
                <a:solidFill>
                  <a:schemeClr val="dk1"/>
                </a:solidFill>
                <a:latin typeface="Nina Compressed"/>
              </a:rPr>
              <a:t>làm</a:t>
            </a:r>
            <a:r>
              <a:rPr lang="en-US" sz="2000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sz="2000" i="1" spc="130" dirty="0" err="1">
                <a:solidFill>
                  <a:schemeClr val="dk1"/>
                </a:solidFill>
                <a:latin typeface="Nina Compressed"/>
              </a:rPr>
              <a:t>việc</a:t>
            </a:r>
            <a:r>
              <a:rPr lang="en-US" sz="2000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sz="2000" i="1" spc="130" dirty="0" err="1">
                <a:solidFill>
                  <a:schemeClr val="dk1"/>
                </a:solidFill>
                <a:latin typeface="Nina Compressed"/>
              </a:rPr>
              <a:t>tạo</a:t>
            </a:r>
            <a:r>
              <a:rPr lang="en-US" sz="2000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sz="2000" i="1" spc="130" dirty="0" err="1">
                <a:solidFill>
                  <a:schemeClr val="dk1"/>
                </a:solidFill>
                <a:latin typeface="Nina Compressed"/>
              </a:rPr>
              <a:t>ra</a:t>
            </a:r>
            <a:r>
              <a:rPr lang="en-US" sz="2000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sz="2000" i="1" spc="130" dirty="0" err="1">
                <a:solidFill>
                  <a:schemeClr val="dk1"/>
                </a:solidFill>
                <a:latin typeface="Nina Compressed"/>
              </a:rPr>
              <a:t>sự</a:t>
            </a:r>
            <a:r>
              <a:rPr lang="en-US" sz="2000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sz="2000" i="1" spc="130" dirty="0" err="1">
                <a:solidFill>
                  <a:schemeClr val="dk1"/>
                </a:solidFill>
                <a:latin typeface="Nina Compressed"/>
              </a:rPr>
              <a:t>tăng</a:t>
            </a:r>
            <a:r>
              <a:rPr lang="en-US" sz="2000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sz="2000" i="1" spc="130" dirty="0" err="1">
                <a:solidFill>
                  <a:schemeClr val="dk1"/>
                </a:solidFill>
                <a:latin typeface="Nina Compressed"/>
              </a:rPr>
              <a:t>trưởng</a:t>
            </a:r>
            <a:r>
              <a:rPr lang="en-US" sz="2000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sz="2000" i="1" spc="130" dirty="0" err="1">
                <a:solidFill>
                  <a:schemeClr val="dk1"/>
                </a:solidFill>
                <a:latin typeface="Nina Compressed"/>
              </a:rPr>
              <a:t>của</a:t>
            </a:r>
            <a:r>
              <a:rPr lang="en-US" sz="2000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sz="2000" i="1" spc="130" dirty="0" err="1">
                <a:solidFill>
                  <a:schemeClr val="dk1"/>
                </a:solidFill>
                <a:latin typeface="Nina Compressed"/>
              </a:rPr>
              <a:t>sản</a:t>
            </a:r>
            <a:r>
              <a:rPr lang="en-US" sz="2000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sz="2000" i="1" spc="130" dirty="0" err="1">
                <a:solidFill>
                  <a:schemeClr val="dk1"/>
                </a:solidFill>
                <a:latin typeface="Nina Compressed"/>
              </a:rPr>
              <a:t>phẩm</a:t>
            </a:r>
            <a:endParaRPr lang="en-US" sz="2000" i="1" spc="130" dirty="0">
              <a:solidFill>
                <a:schemeClr val="dk1"/>
              </a:solidFill>
              <a:latin typeface="Nina Compressed"/>
            </a:endParaRPr>
          </a:p>
          <a:p>
            <a:pPr marL="457200" indent="-457200" fontAlgn="auto"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en-US" sz="2000" i="1" spc="130" dirty="0" err="1" smtClean="0">
                <a:solidFill>
                  <a:schemeClr val="dk1"/>
                </a:solidFill>
                <a:latin typeface="Nina Compressed"/>
              </a:rPr>
              <a:t>Mục</a:t>
            </a:r>
            <a:r>
              <a:rPr lang="en-US" sz="2000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sz="2000" i="1" spc="130" dirty="0" err="1">
                <a:solidFill>
                  <a:schemeClr val="dk1"/>
                </a:solidFill>
                <a:latin typeface="Nina Compressed"/>
              </a:rPr>
              <a:t>tiêu</a:t>
            </a:r>
            <a:r>
              <a:rPr lang="en-US" sz="2000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sz="2000" i="1" spc="130" dirty="0" err="1">
                <a:solidFill>
                  <a:schemeClr val="dk1"/>
                </a:solidFill>
                <a:latin typeface="Nina Compressed"/>
              </a:rPr>
              <a:t>của</a:t>
            </a:r>
            <a:r>
              <a:rPr lang="en-US" sz="2000" i="1" spc="130" dirty="0">
                <a:solidFill>
                  <a:schemeClr val="dk1"/>
                </a:solidFill>
                <a:latin typeface="Nina Compressed"/>
              </a:rPr>
              <a:t> 1 Sprint </a:t>
            </a:r>
            <a:r>
              <a:rPr lang="en-US" sz="2000" i="1" spc="130" dirty="0" err="1">
                <a:solidFill>
                  <a:schemeClr val="dk1"/>
                </a:solidFill>
                <a:latin typeface="Nina Compressed"/>
              </a:rPr>
              <a:t>là</a:t>
            </a:r>
            <a:r>
              <a:rPr lang="en-US" sz="2000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sz="2000" i="1" spc="130" dirty="0" err="1">
                <a:solidFill>
                  <a:schemeClr val="dk1"/>
                </a:solidFill>
                <a:latin typeface="Nina Compressed"/>
              </a:rPr>
              <a:t>không</a:t>
            </a:r>
            <a:r>
              <a:rPr lang="en-US" sz="2000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sz="2000" i="1" spc="130" dirty="0" err="1" smtClean="0">
                <a:solidFill>
                  <a:schemeClr val="dk1"/>
                </a:solidFill>
                <a:latin typeface="Nina Compressed"/>
              </a:rPr>
              <a:t>đổi</a:t>
            </a:r>
            <a:r>
              <a:rPr lang="en-US" sz="2000" i="1" spc="130" dirty="0" smtClean="0">
                <a:solidFill>
                  <a:schemeClr val="dk1"/>
                </a:solidFill>
                <a:latin typeface="Nina Compressed"/>
              </a:rPr>
              <a:t> </a:t>
            </a:r>
          </a:p>
          <a:p>
            <a:pPr marL="457200" indent="-457200" fontAlgn="auto"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en-US" sz="2000" i="1" spc="130" dirty="0" smtClean="0">
                <a:solidFill>
                  <a:schemeClr val="dk1"/>
                </a:solidFill>
                <a:latin typeface="Nina Compressed"/>
              </a:rPr>
              <a:t>Working </a:t>
            </a:r>
            <a:r>
              <a:rPr lang="en-US" sz="2000" i="1" spc="130" dirty="0">
                <a:solidFill>
                  <a:schemeClr val="dk1"/>
                </a:solidFill>
                <a:latin typeface="Nina Compressed"/>
              </a:rPr>
              <a:t>product </a:t>
            </a:r>
            <a:r>
              <a:rPr lang="en-US" sz="2000" i="1" spc="130" dirty="0" err="1">
                <a:solidFill>
                  <a:schemeClr val="dk1"/>
                </a:solidFill>
                <a:latin typeface="Nina Compressed"/>
              </a:rPr>
              <a:t>được</a:t>
            </a:r>
            <a:r>
              <a:rPr lang="en-US" sz="2000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sz="2000" i="1" spc="130" dirty="0" err="1">
                <a:solidFill>
                  <a:schemeClr val="dk1"/>
                </a:solidFill>
                <a:latin typeface="Nina Compressed"/>
              </a:rPr>
              <a:t>chuyển</a:t>
            </a:r>
            <a:r>
              <a:rPr lang="en-US" sz="2000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sz="2000" i="1" spc="130" dirty="0" err="1">
                <a:solidFill>
                  <a:schemeClr val="dk1"/>
                </a:solidFill>
                <a:latin typeface="Nina Compressed"/>
              </a:rPr>
              <a:t>giao</a:t>
            </a:r>
            <a:r>
              <a:rPr lang="en-US" sz="2000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sz="2000" i="1" spc="130" dirty="0" err="1">
                <a:solidFill>
                  <a:schemeClr val="dk1"/>
                </a:solidFill>
                <a:latin typeface="Nina Compressed"/>
              </a:rPr>
              <a:t>tại</a:t>
            </a:r>
            <a:r>
              <a:rPr lang="en-US" sz="2000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sz="2000" i="1" spc="130" dirty="0" err="1">
                <a:solidFill>
                  <a:schemeClr val="dk1"/>
                </a:solidFill>
                <a:latin typeface="Nina Compressed"/>
              </a:rPr>
              <a:t>cuối</a:t>
            </a:r>
            <a:r>
              <a:rPr lang="en-US" sz="2000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sz="2000" i="1" spc="130" dirty="0" err="1">
                <a:solidFill>
                  <a:schemeClr val="dk1"/>
                </a:solidFill>
                <a:latin typeface="Nina Compressed"/>
              </a:rPr>
              <a:t>của</a:t>
            </a:r>
            <a:r>
              <a:rPr lang="en-US" sz="2000" i="1" spc="130" dirty="0">
                <a:solidFill>
                  <a:schemeClr val="dk1"/>
                </a:solidFill>
                <a:latin typeface="Nina Compressed"/>
              </a:rPr>
              <a:t> sprint</a:t>
            </a:r>
          </a:p>
          <a:p>
            <a:pPr marL="457200" indent="-457200" fontAlgn="auto"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en-US" sz="2000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sz="2000" i="1" spc="130" dirty="0" err="1">
                <a:solidFill>
                  <a:schemeClr val="dk1"/>
                </a:solidFill>
                <a:latin typeface="Nina Compressed"/>
              </a:rPr>
              <a:t>Nhịp</a:t>
            </a:r>
            <a:r>
              <a:rPr lang="en-US" sz="2000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sz="2000" i="1" spc="130" dirty="0" err="1">
                <a:solidFill>
                  <a:schemeClr val="dk1"/>
                </a:solidFill>
                <a:latin typeface="Nina Compressed"/>
              </a:rPr>
              <a:t>đập</a:t>
            </a:r>
            <a:r>
              <a:rPr lang="en-US" sz="2000" i="1" spc="130" dirty="0">
                <a:solidFill>
                  <a:schemeClr val="dk1"/>
                </a:solidFill>
                <a:latin typeface="Nina Compressed"/>
              </a:rPr>
              <a:t> sprint </a:t>
            </a:r>
            <a:r>
              <a:rPr lang="en-US" sz="2000" i="1" spc="130" dirty="0" err="1">
                <a:solidFill>
                  <a:schemeClr val="dk1"/>
                </a:solidFill>
                <a:latin typeface="Nina Compressed"/>
              </a:rPr>
              <a:t>được</a:t>
            </a:r>
            <a:r>
              <a:rPr lang="en-US" sz="2000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sz="2000" i="1" spc="130" dirty="0" err="1">
                <a:solidFill>
                  <a:schemeClr val="dk1"/>
                </a:solidFill>
                <a:latin typeface="Nina Compressed"/>
              </a:rPr>
              <a:t>giữ</a:t>
            </a:r>
            <a:r>
              <a:rPr lang="en-US" sz="2000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sz="2000" i="1" spc="130" dirty="0" err="1">
                <a:solidFill>
                  <a:schemeClr val="dk1"/>
                </a:solidFill>
                <a:latin typeface="Nina Compressed"/>
              </a:rPr>
              <a:t>ổn</a:t>
            </a:r>
            <a:r>
              <a:rPr lang="en-US" sz="2000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sz="2000" i="1" spc="130" dirty="0" err="1">
                <a:solidFill>
                  <a:schemeClr val="dk1"/>
                </a:solidFill>
                <a:latin typeface="Nina Compressed"/>
              </a:rPr>
              <a:t>định</a:t>
            </a:r>
            <a:endParaRPr lang="en-US" sz="2000" i="1" spc="130" dirty="0">
              <a:solidFill>
                <a:schemeClr val="dk1"/>
              </a:solidFill>
              <a:latin typeface="Nina Compressed"/>
            </a:endParaRPr>
          </a:p>
        </p:txBody>
      </p:sp>
      <p:pic>
        <p:nvPicPr>
          <p:cNvPr id="1026" name="Picture 2" descr="http://cdn.softwaretestinghelp.com/wp-content/qa/uploads/2010/07/agile-scrum-sprint-proces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148020"/>
            <a:ext cx="3886200" cy="3023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620000" cy="838200"/>
          </a:xfrm>
        </p:spPr>
        <p:txBody>
          <a:bodyPr>
            <a:normAutofit/>
          </a:bodyPr>
          <a:lstStyle/>
          <a:p>
            <a:pPr algn="l"/>
            <a:r>
              <a:rPr lang="en-US" sz="3500" dirty="0" smtClean="0"/>
              <a:t>3.2.Sprint </a:t>
            </a:r>
            <a:r>
              <a:rPr lang="en-US" sz="3500" dirty="0" smtClean="0"/>
              <a:t>0</a:t>
            </a:r>
            <a:endParaRPr lang="en-US" sz="35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819150"/>
            <a:ext cx="6477000" cy="39624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indent="-342900">
              <a:buFont typeface="Wingdings" pitchFamily="2" charset="2"/>
              <a:buChar char="Ø"/>
              <a:defRPr/>
            </a:pPr>
            <a:r>
              <a:rPr lang="en-US" sz="2000" b="1" i="1" spc="130" dirty="0" err="1" smtClean="0">
                <a:latin typeface="Nina Compressed"/>
              </a:rPr>
              <a:t>Mục</a:t>
            </a:r>
            <a:r>
              <a:rPr lang="en-US" sz="2000" b="1" i="1" spc="130" dirty="0" smtClean="0">
                <a:latin typeface="Nina Compressed"/>
              </a:rPr>
              <a:t> </a:t>
            </a:r>
            <a:r>
              <a:rPr lang="en-US" sz="2000" b="1" i="1" spc="130" dirty="0" err="1" smtClean="0">
                <a:latin typeface="Nina Compressed"/>
              </a:rPr>
              <a:t>đích</a:t>
            </a:r>
            <a:r>
              <a:rPr lang="en-US" sz="2000" b="1" i="1" spc="130" dirty="0" smtClean="0">
                <a:latin typeface="Nina Compressed"/>
              </a:rPr>
              <a:t>: </a:t>
            </a:r>
            <a:endParaRPr lang="en-US" sz="2000" b="1" i="1" spc="130" dirty="0">
              <a:latin typeface="Nina Compressed"/>
            </a:endParaRPr>
          </a:p>
          <a:p>
            <a:pPr marL="457200" indent="-457200">
              <a:buFont typeface="Wingdings" pitchFamily="2" charset="2"/>
              <a:buChar char="ü"/>
              <a:defRPr/>
            </a:pPr>
            <a:r>
              <a:rPr lang="en-US" sz="2000" i="1" spc="130" dirty="0">
                <a:latin typeface="Nina Compressed"/>
              </a:rPr>
              <a:t> </a:t>
            </a:r>
            <a:r>
              <a:rPr lang="en-US" sz="1800" i="1" spc="130" dirty="0" err="1">
                <a:latin typeface="Nina Compressed"/>
              </a:rPr>
              <a:t>Xây</a:t>
            </a:r>
            <a:r>
              <a:rPr lang="en-US" sz="1800" i="1" spc="130" dirty="0">
                <a:latin typeface="Nina Compressed"/>
              </a:rPr>
              <a:t> </a:t>
            </a:r>
            <a:r>
              <a:rPr lang="en-US" sz="1800" i="1" spc="130" dirty="0" err="1">
                <a:latin typeface="Nina Compressed"/>
              </a:rPr>
              <a:t>dựng</a:t>
            </a:r>
            <a:r>
              <a:rPr lang="en-US" sz="1800" i="1" spc="130" dirty="0">
                <a:latin typeface="Nina Compressed"/>
              </a:rPr>
              <a:t> Product Backlog</a:t>
            </a:r>
          </a:p>
          <a:p>
            <a:pPr marL="457200" indent="-457200">
              <a:buFont typeface="Wingdings" pitchFamily="2" charset="2"/>
              <a:buChar char="ü"/>
              <a:defRPr/>
            </a:pPr>
            <a:r>
              <a:rPr lang="en-US" sz="1800" i="1" spc="130" dirty="0">
                <a:latin typeface="Nina Compressed"/>
              </a:rPr>
              <a:t>Release plan</a:t>
            </a:r>
          </a:p>
          <a:p>
            <a:pPr marL="457200" indent="-457200">
              <a:buFont typeface="Wingdings" pitchFamily="2" charset="2"/>
              <a:buChar char="ü"/>
              <a:defRPr/>
            </a:pPr>
            <a:r>
              <a:rPr lang="en-US" sz="1800" i="1" spc="130" dirty="0">
                <a:latin typeface="Nina Compressed"/>
              </a:rPr>
              <a:t>TKTT, </a:t>
            </a:r>
            <a:r>
              <a:rPr lang="en-US" sz="1800" i="1" spc="130" dirty="0" err="1" smtClean="0">
                <a:latin typeface="Nina Compressed"/>
              </a:rPr>
              <a:t>TKCSDL,Prototype</a:t>
            </a:r>
            <a:endParaRPr lang="en-US" sz="1800" i="1" spc="130" dirty="0">
              <a:latin typeface="Nina Compressed"/>
            </a:endParaRPr>
          </a:p>
          <a:p>
            <a:pPr marL="457200" indent="-457200">
              <a:buFont typeface="Wingdings" pitchFamily="2" charset="2"/>
              <a:buChar char="ü"/>
              <a:defRPr/>
            </a:pPr>
            <a:r>
              <a:rPr lang="en-US" sz="1800" i="1" spc="130" dirty="0" err="1">
                <a:latin typeface="Nina Compressed"/>
              </a:rPr>
              <a:t>Giải</a:t>
            </a:r>
            <a:r>
              <a:rPr lang="en-US" sz="1800" i="1" spc="130" dirty="0">
                <a:latin typeface="Nina Compressed"/>
              </a:rPr>
              <a:t> </a:t>
            </a:r>
            <a:r>
              <a:rPr lang="en-US" sz="1800" i="1" spc="130" dirty="0" err="1">
                <a:latin typeface="Nina Compressed"/>
              </a:rPr>
              <a:t>quyết</a:t>
            </a:r>
            <a:r>
              <a:rPr lang="en-US" sz="1800" i="1" spc="130" dirty="0">
                <a:latin typeface="Nina Compressed"/>
              </a:rPr>
              <a:t> </a:t>
            </a:r>
            <a:r>
              <a:rPr lang="en-US" sz="1800" i="1" spc="130" dirty="0" err="1">
                <a:latin typeface="Nina Compressed"/>
              </a:rPr>
              <a:t>các</a:t>
            </a:r>
            <a:r>
              <a:rPr lang="en-US" sz="1800" i="1" spc="130" dirty="0">
                <a:latin typeface="Nina Compressed"/>
              </a:rPr>
              <a:t> </a:t>
            </a:r>
            <a:r>
              <a:rPr lang="en-US" sz="1800" i="1" spc="130" dirty="0" err="1" smtClean="0">
                <a:latin typeface="Nina Compressed"/>
              </a:rPr>
              <a:t>vấn</a:t>
            </a:r>
            <a:r>
              <a:rPr lang="en-US" sz="1800" i="1" spc="130" dirty="0" smtClean="0">
                <a:latin typeface="Nina Compressed"/>
              </a:rPr>
              <a:t> </a:t>
            </a:r>
            <a:r>
              <a:rPr lang="en-US" sz="1800" i="1" spc="130" dirty="0" err="1" smtClean="0">
                <a:latin typeface="Nina Compressed"/>
              </a:rPr>
              <a:t>đề</a:t>
            </a:r>
            <a:r>
              <a:rPr lang="en-US" sz="1800" i="1" spc="130" dirty="0" smtClean="0">
                <a:latin typeface="Nina Compressed"/>
              </a:rPr>
              <a:t> </a:t>
            </a:r>
            <a:r>
              <a:rPr lang="en-US" sz="1800" i="1" spc="130" dirty="0" err="1" smtClean="0">
                <a:latin typeface="Nina Compressed"/>
              </a:rPr>
              <a:t>về</a:t>
            </a:r>
            <a:r>
              <a:rPr lang="en-US" sz="1800" i="1" spc="130" dirty="0" smtClean="0">
                <a:latin typeface="Nina Compressed"/>
              </a:rPr>
              <a:t> </a:t>
            </a:r>
            <a:r>
              <a:rPr lang="en-US" sz="1800" i="1" spc="130" dirty="0" err="1" smtClean="0">
                <a:latin typeface="Nina Compressed"/>
              </a:rPr>
              <a:t>kỹ</a:t>
            </a:r>
            <a:r>
              <a:rPr lang="en-US" sz="1800" i="1" spc="130" dirty="0" smtClean="0">
                <a:latin typeface="Nina Compressed"/>
              </a:rPr>
              <a:t> </a:t>
            </a:r>
            <a:r>
              <a:rPr lang="en-US" sz="1800" i="1" spc="130" dirty="0" err="1" smtClean="0">
                <a:latin typeface="Nina Compressed"/>
              </a:rPr>
              <a:t>thuật</a:t>
            </a:r>
            <a:endParaRPr lang="en-US" sz="1800" i="1" spc="130" dirty="0">
              <a:latin typeface="Nina Compressed"/>
            </a:endParaRPr>
          </a:p>
          <a:p>
            <a:pPr marL="457200" indent="-457200">
              <a:buFont typeface="Wingdings" pitchFamily="2" charset="2"/>
              <a:buChar char="ü"/>
              <a:defRPr/>
            </a:pPr>
            <a:r>
              <a:rPr lang="en-US" sz="1800" i="1" spc="130" dirty="0" err="1">
                <a:latin typeface="Nina Compressed"/>
              </a:rPr>
              <a:t>Tối</a:t>
            </a:r>
            <a:r>
              <a:rPr lang="en-US" sz="1800" i="1" spc="130" dirty="0">
                <a:latin typeface="Nina Compressed"/>
              </a:rPr>
              <a:t> </a:t>
            </a:r>
            <a:r>
              <a:rPr lang="en-US" sz="1800" i="1" spc="130" dirty="0" err="1">
                <a:latin typeface="Nina Compressed"/>
              </a:rPr>
              <a:t>ưu</a:t>
            </a:r>
            <a:r>
              <a:rPr lang="en-US" sz="1800" i="1" spc="130" dirty="0">
                <a:latin typeface="Nina Compressed"/>
              </a:rPr>
              <a:t> </a:t>
            </a:r>
            <a:r>
              <a:rPr lang="en-US" sz="1800" i="1" spc="130" dirty="0" err="1">
                <a:latin typeface="Nina Compressed"/>
              </a:rPr>
              <a:t>hóa</a:t>
            </a:r>
            <a:r>
              <a:rPr lang="en-US" sz="1800" i="1" spc="130" dirty="0">
                <a:latin typeface="Nina Compressed"/>
              </a:rPr>
              <a:t> </a:t>
            </a:r>
            <a:r>
              <a:rPr lang="en-US" sz="1800" i="1" spc="130" dirty="0" err="1">
                <a:latin typeface="Nina Compressed"/>
              </a:rPr>
              <a:t>hệ</a:t>
            </a:r>
            <a:r>
              <a:rPr lang="en-US" sz="1800" i="1" spc="130" dirty="0">
                <a:latin typeface="Nina Compressed"/>
              </a:rPr>
              <a:t> </a:t>
            </a:r>
            <a:r>
              <a:rPr lang="en-US" sz="1800" i="1" spc="130" dirty="0" err="1">
                <a:latin typeface="Nina Compressed"/>
              </a:rPr>
              <a:t>thống</a:t>
            </a:r>
            <a:endParaRPr lang="en-US" sz="1800" i="1" spc="130" dirty="0">
              <a:latin typeface="Nina Compressed"/>
            </a:endParaRPr>
          </a:p>
          <a:p>
            <a:pPr marL="457200" indent="-457200">
              <a:buFont typeface="Wingdings" pitchFamily="2" charset="2"/>
              <a:buChar char="ü"/>
              <a:defRPr/>
            </a:pPr>
            <a:r>
              <a:rPr lang="en-US" sz="1800" i="1" spc="130" dirty="0">
                <a:latin typeface="Nina Compressed"/>
              </a:rPr>
              <a:t>…. (</a:t>
            </a:r>
            <a:r>
              <a:rPr lang="en-US" sz="1800" i="1" spc="130" dirty="0" err="1">
                <a:latin typeface="Nina Compressed"/>
              </a:rPr>
              <a:t>giải</a:t>
            </a:r>
            <a:r>
              <a:rPr lang="en-US" sz="1800" i="1" spc="130" dirty="0">
                <a:latin typeface="Nina Compressed"/>
              </a:rPr>
              <a:t> </a:t>
            </a:r>
            <a:r>
              <a:rPr lang="en-US" sz="1800" i="1" spc="130" dirty="0" err="1">
                <a:latin typeface="Nina Compressed"/>
              </a:rPr>
              <a:t>quyết</a:t>
            </a:r>
            <a:r>
              <a:rPr lang="en-US" sz="1800" i="1" spc="130" dirty="0">
                <a:latin typeface="Nina Compressed"/>
              </a:rPr>
              <a:t> </a:t>
            </a:r>
            <a:r>
              <a:rPr lang="en-US" sz="1800" i="1" spc="130" dirty="0" err="1">
                <a:latin typeface="Nina Compressed"/>
              </a:rPr>
              <a:t>các</a:t>
            </a:r>
            <a:r>
              <a:rPr lang="en-US" sz="1800" i="1" spc="130" dirty="0">
                <a:latin typeface="Nina Compressed"/>
              </a:rPr>
              <a:t> </a:t>
            </a:r>
            <a:r>
              <a:rPr lang="en-US" sz="1800" i="1" spc="130" dirty="0" err="1">
                <a:latin typeface="Nina Compressed"/>
              </a:rPr>
              <a:t>vấn</a:t>
            </a:r>
            <a:r>
              <a:rPr lang="en-US" sz="1800" i="1" spc="130" dirty="0">
                <a:latin typeface="Nina Compressed"/>
              </a:rPr>
              <a:t> </a:t>
            </a:r>
            <a:r>
              <a:rPr lang="en-US" sz="1800" i="1" spc="130" dirty="0" err="1">
                <a:latin typeface="Nina Compressed"/>
              </a:rPr>
              <a:t>đề</a:t>
            </a:r>
            <a:r>
              <a:rPr lang="en-US" sz="1800" i="1" spc="130" dirty="0">
                <a:latin typeface="Nina Compressed"/>
              </a:rPr>
              <a:t> </a:t>
            </a:r>
            <a:r>
              <a:rPr lang="en-US" sz="1800" i="1" spc="130" dirty="0" err="1">
                <a:latin typeface="Nina Compressed"/>
              </a:rPr>
              <a:t>của</a:t>
            </a:r>
            <a:r>
              <a:rPr lang="en-US" sz="1800" i="1" spc="130" dirty="0">
                <a:latin typeface="Nina Compressed"/>
              </a:rPr>
              <a:t> </a:t>
            </a:r>
            <a:r>
              <a:rPr lang="en-US" sz="1800" i="1" spc="130" dirty="0" err="1">
                <a:latin typeface="Nina Compressed"/>
              </a:rPr>
              <a:t>dự</a:t>
            </a:r>
            <a:r>
              <a:rPr lang="en-US" sz="1800" i="1" spc="130" dirty="0">
                <a:latin typeface="Nina Compressed"/>
              </a:rPr>
              <a:t> </a:t>
            </a:r>
            <a:r>
              <a:rPr lang="en-US" sz="1800" i="1" spc="130" dirty="0" err="1">
                <a:latin typeface="Nina Compressed"/>
              </a:rPr>
              <a:t>án</a:t>
            </a:r>
            <a:r>
              <a:rPr lang="en-US" sz="1800" i="1" spc="130" dirty="0">
                <a:latin typeface="Nina Compressed"/>
              </a:rPr>
              <a:t> </a:t>
            </a:r>
            <a:r>
              <a:rPr lang="en-US" sz="1800" i="1" spc="130" dirty="0" err="1">
                <a:latin typeface="Nina Compressed"/>
              </a:rPr>
              <a:t>mà</a:t>
            </a:r>
            <a:r>
              <a:rPr lang="en-US" sz="1800" i="1" spc="130" dirty="0">
                <a:latin typeface="Nina Compressed"/>
              </a:rPr>
              <a:t> </a:t>
            </a:r>
            <a:r>
              <a:rPr lang="en-US" sz="1800" i="1" spc="130" dirty="0" err="1">
                <a:latin typeface="Nina Compressed"/>
              </a:rPr>
              <a:t>không</a:t>
            </a:r>
            <a:r>
              <a:rPr lang="en-US" sz="1800" i="1" spc="130" dirty="0">
                <a:latin typeface="Nina Compressed"/>
              </a:rPr>
              <a:t> </a:t>
            </a:r>
            <a:r>
              <a:rPr lang="en-US" sz="1800" i="1" spc="130" dirty="0" err="1">
                <a:latin typeface="Nina Compressed"/>
              </a:rPr>
              <a:t>phải</a:t>
            </a:r>
            <a:r>
              <a:rPr lang="en-US" sz="1800" i="1" spc="130" dirty="0">
                <a:latin typeface="Nina Compressed"/>
              </a:rPr>
              <a:t> </a:t>
            </a:r>
            <a:r>
              <a:rPr lang="en-US" sz="1800" i="1" spc="130" dirty="0" err="1">
                <a:latin typeface="Nina Compressed"/>
              </a:rPr>
              <a:t>là</a:t>
            </a:r>
            <a:r>
              <a:rPr lang="en-US" sz="1800" i="1" spc="130" dirty="0">
                <a:latin typeface="Nina Compressed"/>
              </a:rPr>
              <a:t> user story</a:t>
            </a:r>
            <a:r>
              <a:rPr lang="en-US" sz="1800" i="1" spc="130" dirty="0" smtClean="0">
                <a:latin typeface="Nina Compressed"/>
              </a:rPr>
              <a:t>!)</a:t>
            </a:r>
          </a:p>
          <a:p>
            <a:pPr>
              <a:buFont typeface="Wingdings" pitchFamily="2" charset="2"/>
              <a:buChar char="Ø"/>
              <a:defRPr/>
            </a:pPr>
            <a:r>
              <a:rPr lang="en-US" sz="2000" i="1" spc="130" dirty="0" err="1" smtClean="0">
                <a:latin typeface="Nina Compressed"/>
              </a:rPr>
              <a:t>Thời</a:t>
            </a:r>
            <a:r>
              <a:rPr lang="en-US" sz="2000" i="1" spc="130" dirty="0" smtClean="0">
                <a:latin typeface="Nina Compressed"/>
              </a:rPr>
              <a:t> </a:t>
            </a:r>
            <a:r>
              <a:rPr lang="en-US" sz="2000" i="1" spc="130" dirty="0" err="1" smtClean="0">
                <a:latin typeface="Nina Compressed"/>
              </a:rPr>
              <a:t>điểm</a:t>
            </a:r>
            <a:r>
              <a:rPr lang="en-US" sz="2000" i="1" spc="130" dirty="0" smtClean="0">
                <a:latin typeface="Nina Compressed"/>
              </a:rPr>
              <a:t>: </a:t>
            </a:r>
          </a:p>
          <a:p>
            <a:pPr>
              <a:buFont typeface="Wingdings" pitchFamily="2" charset="2"/>
              <a:buChar char="ü"/>
              <a:defRPr/>
            </a:pPr>
            <a:r>
              <a:rPr lang="en-US" sz="1800" i="1" spc="130" dirty="0" err="1" smtClean="0">
                <a:latin typeface="Nina Compressed"/>
              </a:rPr>
              <a:t>Khởi</a:t>
            </a:r>
            <a:r>
              <a:rPr lang="en-US" sz="1800" i="1" spc="130" dirty="0" smtClean="0">
                <a:latin typeface="Nina Compressed"/>
              </a:rPr>
              <a:t> </a:t>
            </a:r>
            <a:r>
              <a:rPr lang="en-US" sz="1800" i="1" spc="130" dirty="0" err="1" smtClean="0">
                <a:latin typeface="Nina Compressed"/>
              </a:rPr>
              <a:t>động</a:t>
            </a:r>
            <a:r>
              <a:rPr lang="en-US" sz="1800" i="1" spc="130" dirty="0" smtClean="0">
                <a:latin typeface="Nina Compressed"/>
              </a:rPr>
              <a:t> </a:t>
            </a:r>
            <a:r>
              <a:rPr lang="en-US" sz="1800" i="1" spc="130" dirty="0" err="1" smtClean="0">
                <a:latin typeface="Nina Compressed"/>
              </a:rPr>
              <a:t>dự</a:t>
            </a:r>
            <a:r>
              <a:rPr lang="en-US" sz="1800" i="1" spc="130" dirty="0" smtClean="0">
                <a:latin typeface="Nina Compressed"/>
              </a:rPr>
              <a:t> </a:t>
            </a:r>
            <a:r>
              <a:rPr lang="en-US" sz="1800" i="1" spc="130" dirty="0" err="1" smtClean="0">
                <a:latin typeface="Nina Compressed"/>
              </a:rPr>
              <a:t>án</a:t>
            </a:r>
            <a:endParaRPr lang="en-US" sz="1800" i="1" spc="130" dirty="0" smtClean="0">
              <a:latin typeface="Nina Compressed"/>
            </a:endParaRPr>
          </a:p>
          <a:p>
            <a:pPr>
              <a:buFont typeface="Wingdings" pitchFamily="2" charset="2"/>
              <a:buChar char="ü"/>
              <a:defRPr/>
            </a:pPr>
            <a:r>
              <a:rPr lang="en-US" sz="1800" i="1" spc="130" dirty="0" err="1" smtClean="0">
                <a:latin typeface="Nina Compressed"/>
              </a:rPr>
              <a:t>Bất</a:t>
            </a:r>
            <a:r>
              <a:rPr lang="en-US" sz="1800" i="1" spc="130" dirty="0" smtClean="0">
                <a:latin typeface="Nina Compressed"/>
              </a:rPr>
              <a:t> </a:t>
            </a:r>
            <a:r>
              <a:rPr lang="en-US" sz="1800" i="1" spc="130" dirty="0" err="1">
                <a:latin typeface="Nina Compressed"/>
              </a:rPr>
              <a:t>cứ</a:t>
            </a:r>
            <a:r>
              <a:rPr lang="en-US" sz="1800" i="1" spc="130" dirty="0">
                <a:latin typeface="Nina Compressed"/>
              </a:rPr>
              <a:t> </a:t>
            </a:r>
            <a:r>
              <a:rPr lang="en-US" sz="1800" i="1" spc="130" dirty="0" err="1">
                <a:latin typeface="Nina Compressed"/>
              </a:rPr>
              <a:t>khi</a:t>
            </a:r>
            <a:r>
              <a:rPr lang="en-US" sz="1800" i="1" spc="130" dirty="0">
                <a:latin typeface="Nina Compressed"/>
              </a:rPr>
              <a:t> </a:t>
            </a:r>
            <a:r>
              <a:rPr lang="en-US" sz="1800" i="1" spc="130" dirty="0" err="1">
                <a:latin typeface="Nina Compressed"/>
              </a:rPr>
              <a:t>nào</a:t>
            </a:r>
            <a:r>
              <a:rPr lang="en-US" sz="1800" i="1" spc="130" dirty="0">
                <a:latin typeface="Nina Compressed"/>
              </a:rPr>
              <a:t> </a:t>
            </a:r>
            <a:r>
              <a:rPr lang="en-US" sz="1800" i="1" spc="130" dirty="0" err="1">
                <a:latin typeface="Nina Compressed"/>
              </a:rPr>
              <a:t>dự</a:t>
            </a:r>
            <a:r>
              <a:rPr lang="en-US" sz="1800" i="1" spc="130" dirty="0">
                <a:latin typeface="Nina Compressed"/>
              </a:rPr>
              <a:t> </a:t>
            </a:r>
            <a:r>
              <a:rPr lang="en-US" sz="1800" i="1" spc="130" dirty="0" err="1">
                <a:latin typeface="Nina Compressed"/>
              </a:rPr>
              <a:t>án</a:t>
            </a:r>
            <a:r>
              <a:rPr lang="en-US" sz="1800" i="1" spc="130" dirty="0">
                <a:latin typeface="Nina Compressed"/>
              </a:rPr>
              <a:t> </a:t>
            </a:r>
            <a:r>
              <a:rPr lang="en-US" sz="1800" i="1" spc="130" dirty="0" err="1">
                <a:latin typeface="Nina Compressed"/>
              </a:rPr>
              <a:t>thấy</a:t>
            </a:r>
            <a:r>
              <a:rPr lang="en-US" sz="1800" i="1" spc="130" dirty="0">
                <a:latin typeface="Nina Compressed"/>
              </a:rPr>
              <a:t> </a:t>
            </a:r>
            <a:r>
              <a:rPr lang="en-US" sz="1800" i="1" spc="130" dirty="0" err="1">
                <a:latin typeface="Nina Compressed"/>
              </a:rPr>
              <a:t>cần</a:t>
            </a:r>
            <a:r>
              <a:rPr lang="en-US" sz="1800" i="1" spc="130" dirty="0">
                <a:latin typeface="Nina Compressed"/>
              </a:rPr>
              <a:t> </a:t>
            </a:r>
            <a:r>
              <a:rPr lang="en-US" sz="1800" i="1" spc="130" dirty="0" err="1">
                <a:latin typeface="Nina Compressed"/>
              </a:rPr>
              <a:t>thiết</a:t>
            </a:r>
            <a:r>
              <a:rPr lang="en-US" sz="1800" i="1" spc="130" dirty="0">
                <a:latin typeface="Nina Compressed"/>
              </a:rPr>
              <a:t>, </a:t>
            </a:r>
            <a:r>
              <a:rPr lang="en-US" sz="1800" i="1" spc="130" dirty="0" err="1" smtClean="0">
                <a:latin typeface="Nina Compressed"/>
              </a:rPr>
              <a:t>độ</a:t>
            </a:r>
            <a:r>
              <a:rPr lang="en-US" sz="1800" i="1" spc="130" dirty="0" smtClean="0">
                <a:latin typeface="Nina Compressed"/>
              </a:rPr>
              <a:t> </a:t>
            </a:r>
            <a:r>
              <a:rPr lang="en-US" sz="1800" i="1" spc="130" dirty="0" err="1">
                <a:latin typeface="Nina Compressed"/>
              </a:rPr>
              <a:t>dài</a:t>
            </a:r>
            <a:r>
              <a:rPr lang="en-US" sz="1800" i="1" spc="130" dirty="0">
                <a:latin typeface="Nina Compressed"/>
              </a:rPr>
              <a:t> </a:t>
            </a:r>
            <a:r>
              <a:rPr lang="en-US" sz="1800" i="1" spc="130" dirty="0" err="1">
                <a:latin typeface="Nina Compressed"/>
              </a:rPr>
              <a:t>tùy</a:t>
            </a:r>
            <a:r>
              <a:rPr lang="en-US" sz="1800" i="1" spc="130" dirty="0">
                <a:latin typeface="Nina Compressed"/>
              </a:rPr>
              <a:t> </a:t>
            </a:r>
            <a:r>
              <a:rPr lang="en-US" sz="1800" i="1" spc="130" dirty="0" smtClean="0">
                <a:latin typeface="Nina Compressed"/>
              </a:rPr>
              <a:t>ý </a:t>
            </a:r>
            <a:r>
              <a:rPr lang="en-US" sz="1800" i="1" spc="130" dirty="0" err="1" smtClean="0">
                <a:latin typeface="Nina Compressed"/>
              </a:rPr>
              <a:t>không</a:t>
            </a:r>
            <a:r>
              <a:rPr lang="en-US" sz="1800" i="1" spc="130" dirty="0" smtClean="0">
                <a:latin typeface="Nina Compressed"/>
              </a:rPr>
              <a:t> </a:t>
            </a:r>
            <a:r>
              <a:rPr lang="en-US" sz="1800" i="1" spc="130" dirty="0" err="1" smtClean="0">
                <a:latin typeface="Nina Compressed"/>
              </a:rPr>
              <a:t>quá</a:t>
            </a:r>
            <a:r>
              <a:rPr lang="en-US" sz="1800" i="1" spc="130" dirty="0" smtClean="0">
                <a:latin typeface="Nina Compressed"/>
              </a:rPr>
              <a:t> 1 sprint</a:t>
            </a:r>
            <a:endParaRPr lang="en-US" sz="1800" i="1" spc="130" dirty="0">
              <a:latin typeface="Nina Compressed"/>
            </a:endParaRPr>
          </a:p>
          <a:p>
            <a:pPr marL="457200" indent="-457200">
              <a:buFont typeface="Wingdings" pitchFamily="2" charset="2"/>
              <a:buChar char="ü"/>
              <a:defRPr/>
            </a:pPr>
            <a:endParaRPr lang="en-US" sz="2000" i="1" spc="130" dirty="0">
              <a:latin typeface="Nina Compressed"/>
            </a:endParaRPr>
          </a:p>
        </p:txBody>
      </p:sp>
      <p:pic>
        <p:nvPicPr>
          <p:cNvPr id="4" name="Picture 4" descr="http://3.bp.blogspot.com/-NKRZhgFJu4A/UGzxjPBkAVI/AAAAAAAAAH0/184WPWf3QuI/s1600/Start-Button-200x193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81800" y="1447802"/>
            <a:ext cx="2362200" cy="22193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69844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141789"/>
            <a:ext cx="617220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spcBef>
                <a:spcPct val="0"/>
              </a:spcBef>
              <a:defRPr sz="3500" spc="-1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3.3. </a:t>
            </a:r>
            <a:r>
              <a:rPr lang="en-US" dirty="0" err="1">
                <a:solidFill>
                  <a:schemeClr val="tx1"/>
                </a:solidFill>
              </a:rPr>
              <a:t>Thực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hiện</a:t>
            </a:r>
            <a:r>
              <a:rPr lang="en-US" dirty="0">
                <a:solidFill>
                  <a:schemeClr val="tx1"/>
                </a:solidFill>
              </a:rPr>
              <a:t> Sprint </a:t>
            </a:r>
            <a:r>
              <a:rPr lang="en-US" b="1" i="1" dirty="0">
                <a:solidFill>
                  <a:schemeClr val="tx1"/>
                </a:solidFill>
              </a:rPr>
              <a:t>n</a:t>
            </a:r>
          </a:p>
        </p:txBody>
      </p:sp>
      <p:sp>
        <p:nvSpPr>
          <p:cNvPr id="10" name="Text Placeholder 2"/>
          <p:cNvSpPr txBox="1">
            <a:spLocks/>
          </p:cNvSpPr>
          <p:nvPr/>
        </p:nvSpPr>
        <p:spPr>
          <a:xfrm>
            <a:off x="457200" y="971550"/>
            <a:ext cx="4191000" cy="35814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None/>
              <a:defRPr sz="14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None/>
              <a:defRPr sz="14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Wingdings" pitchFamily="2" charset="2"/>
              <a:buChar char="ü"/>
              <a:defRPr/>
            </a:pPr>
            <a:r>
              <a:rPr lang="en-US" i="1" spc="130" dirty="0">
                <a:solidFill>
                  <a:schemeClr val="dk1"/>
                </a:solidFill>
                <a:latin typeface="Nina Compressed"/>
              </a:rPr>
              <a:t>ST </a:t>
            </a:r>
            <a:r>
              <a:rPr lang="en-US" i="1" spc="130" dirty="0" err="1">
                <a:solidFill>
                  <a:schemeClr val="dk1"/>
                </a:solidFill>
                <a:latin typeface="Nina Compressed"/>
              </a:rPr>
              <a:t>thực</a:t>
            </a:r>
            <a:r>
              <a:rPr lang="en-US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>
                <a:solidFill>
                  <a:schemeClr val="dk1"/>
                </a:solidFill>
                <a:latin typeface="Nina Compressed"/>
              </a:rPr>
              <a:t>hiện</a:t>
            </a:r>
            <a:r>
              <a:rPr lang="en-US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>
                <a:solidFill>
                  <a:schemeClr val="dk1"/>
                </a:solidFill>
                <a:latin typeface="Nina Compressed"/>
              </a:rPr>
              <a:t>các</a:t>
            </a:r>
            <a:r>
              <a:rPr lang="en-US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>
                <a:solidFill>
                  <a:schemeClr val="dk1"/>
                </a:solidFill>
                <a:latin typeface="Nina Compressed"/>
              </a:rPr>
              <a:t>công</a:t>
            </a:r>
            <a:r>
              <a:rPr lang="en-US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>
                <a:solidFill>
                  <a:schemeClr val="dk1"/>
                </a:solidFill>
                <a:latin typeface="Nina Compressed"/>
              </a:rPr>
              <a:t>việc</a:t>
            </a:r>
            <a:r>
              <a:rPr lang="en-US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>
                <a:solidFill>
                  <a:schemeClr val="dk1"/>
                </a:solidFill>
                <a:latin typeface="Nina Compressed"/>
              </a:rPr>
              <a:t>đã</a:t>
            </a:r>
            <a:r>
              <a:rPr lang="en-US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>
                <a:solidFill>
                  <a:schemeClr val="dk1"/>
                </a:solidFill>
                <a:latin typeface="Nina Compressed"/>
              </a:rPr>
              <a:t>nhận</a:t>
            </a:r>
            <a:r>
              <a:rPr lang="en-US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>
                <a:solidFill>
                  <a:schemeClr val="dk1"/>
                </a:solidFill>
                <a:latin typeface="Nina Compressed"/>
              </a:rPr>
              <a:t>trong</a:t>
            </a:r>
            <a:r>
              <a:rPr lang="en-US" i="1" spc="130" dirty="0">
                <a:solidFill>
                  <a:schemeClr val="dk1"/>
                </a:solidFill>
                <a:latin typeface="Nina Compressed"/>
              </a:rPr>
              <a:t> Sprint Backlog</a:t>
            </a:r>
          </a:p>
          <a:p>
            <a:pPr marL="457200" indent="-457200">
              <a:buFont typeface="Wingdings" pitchFamily="2" charset="2"/>
              <a:buChar char="ü"/>
              <a:defRPr/>
            </a:pPr>
            <a:r>
              <a:rPr lang="en-US" i="1" spc="130" dirty="0" err="1">
                <a:solidFill>
                  <a:schemeClr val="dk1"/>
                </a:solidFill>
                <a:latin typeface="Nina Compressed"/>
              </a:rPr>
              <a:t>Tham</a:t>
            </a:r>
            <a:r>
              <a:rPr lang="en-US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>
                <a:solidFill>
                  <a:schemeClr val="dk1"/>
                </a:solidFill>
                <a:latin typeface="Nina Compressed"/>
              </a:rPr>
              <a:t>gia</a:t>
            </a:r>
            <a:r>
              <a:rPr lang="en-US" i="1" spc="130" dirty="0">
                <a:solidFill>
                  <a:schemeClr val="dk1"/>
                </a:solidFill>
                <a:latin typeface="Nina Compressed"/>
              </a:rPr>
              <a:t> Daily meeting</a:t>
            </a:r>
          </a:p>
          <a:p>
            <a:pPr marL="457200" indent="-457200">
              <a:buFont typeface="Wingdings" pitchFamily="2" charset="2"/>
              <a:buChar char="ü"/>
              <a:defRPr/>
            </a:pPr>
            <a:r>
              <a:rPr lang="en-US" i="1" spc="130" dirty="0">
                <a:solidFill>
                  <a:schemeClr val="dk1"/>
                </a:solidFill>
                <a:latin typeface="Nina Compressed"/>
              </a:rPr>
              <a:t>Log work </a:t>
            </a:r>
            <a:r>
              <a:rPr lang="en-US" i="1" spc="130" dirty="0" err="1">
                <a:solidFill>
                  <a:schemeClr val="dk1"/>
                </a:solidFill>
                <a:latin typeface="Nina Compressed"/>
              </a:rPr>
              <a:t>hàng</a:t>
            </a:r>
            <a:r>
              <a:rPr lang="en-US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>
                <a:solidFill>
                  <a:schemeClr val="dk1"/>
                </a:solidFill>
                <a:latin typeface="Nina Compressed"/>
              </a:rPr>
              <a:t>ngày</a:t>
            </a:r>
            <a:r>
              <a:rPr lang="en-US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>
                <a:solidFill>
                  <a:schemeClr val="dk1"/>
                </a:solidFill>
                <a:latin typeface="Nina Compressed"/>
              </a:rPr>
              <a:t>trên</a:t>
            </a:r>
            <a:r>
              <a:rPr lang="en-US" i="1" spc="130" dirty="0">
                <a:solidFill>
                  <a:schemeClr val="dk1"/>
                </a:solidFill>
                <a:latin typeface="Nina Compressed"/>
              </a:rPr>
              <a:t> tool IBM</a:t>
            </a:r>
          </a:p>
          <a:p>
            <a:pPr marL="457200" indent="-457200">
              <a:buFont typeface="Wingdings" pitchFamily="2" charset="2"/>
              <a:buChar char="ü"/>
              <a:defRPr/>
            </a:pPr>
            <a:r>
              <a:rPr lang="en-US" i="1" spc="130" dirty="0" err="1">
                <a:solidFill>
                  <a:schemeClr val="dk1"/>
                </a:solidFill>
                <a:latin typeface="Nina Compressed"/>
              </a:rPr>
              <a:t>Thực</a:t>
            </a:r>
            <a:r>
              <a:rPr lang="en-US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>
                <a:solidFill>
                  <a:schemeClr val="dk1"/>
                </a:solidFill>
                <a:latin typeface="Nina Compressed"/>
              </a:rPr>
              <a:t>hiện</a:t>
            </a:r>
            <a:r>
              <a:rPr lang="en-US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>
                <a:solidFill>
                  <a:schemeClr val="dk1"/>
                </a:solidFill>
                <a:latin typeface="Nina Compressed"/>
              </a:rPr>
              <a:t>làm</a:t>
            </a:r>
            <a:r>
              <a:rPr lang="en-US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>
                <a:solidFill>
                  <a:schemeClr val="dk1"/>
                </a:solidFill>
                <a:latin typeface="Nina Compressed"/>
              </a:rPr>
              <a:t>mịn</a:t>
            </a:r>
            <a:r>
              <a:rPr lang="en-US" i="1" spc="130" dirty="0">
                <a:solidFill>
                  <a:schemeClr val="dk1"/>
                </a:solidFill>
                <a:latin typeface="Nina Compressed"/>
              </a:rPr>
              <a:t> Product 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Backlog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chuẩn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bị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cho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sprint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tiếp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theo</a:t>
            </a:r>
            <a:endParaRPr lang="en-US" i="1" spc="130" dirty="0">
              <a:solidFill>
                <a:schemeClr val="dk1"/>
              </a:solidFill>
              <a:latin typeface="Nina Compressed"/>
            </a:endParaRPr>
          </a:p>
          <a:p>
            <a:pPr indent="-342900">
              <a:buFont typeface="Wingdings" pitchFamily="2" charset="2"/>
              <a:buChar char="Ø"/>
              <a:defRPr/>
            </a:pPr>
            <a:endParaRPr lang="en-US" i="1" spc="130" dirty="0">
              <a:latin typeface="Nina Compressed"/>
            </a:endParaRPr>
          </a:p>
        </p:txBody>
      </p:sp>
      <p:sp>
        <p:nvSpPr>
          <p:cNvPr id="11" name="Vertical Scroll 10"/>
          <p:cNvSpPr/>
          <p:nvPr/>
        </p:nvSpPr>
        <p:spPr>
          <a:xfrm>
            <a:off x="4876800" y="457260"/>
            <a:ext cx="4114800" cy="4476691"/>
          </a:xfrm>
          <a:prstGeom prst="verticalScrol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 lang="de-DE" sz="1600" b="1" u="sng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>
              <a:defRPr/>
            </a:pPr>
            <a:endParaRPr lang="de-DE" sz="1600" b="1" u="sng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>
              <a:defRPr/>
            </a:pPr>
            <a:endParaRPr lang="de-DE" sz="1600" b="1" u="sng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>
              <a:defRPr/>
            </a:pPr>
            <a:endParaRPr lang="de-DE" sz="1600" b="1" u="sng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>
              <a:defRPr/>
            </a:pPr>
            <a:r>
              <a:rPr lang="de-DE" sz="1600" b="1" u="sng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Lưu </a:t>
            </a:r>
            <a:r>
              <a:rPr lang="de-DE" sz="1600" b="1" u="sng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ý</a:t>
            </a:r>
            <a:r>
              <a:rPr lang="de-DE" sz="1600" b="1" u="sng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:</a:t>
            </a:r>
          </a:p>
          <a:p>
            <a:pPr marL="457200" indent="-457200">
              <a:buFont typeface="Wingdings" pitchFamily="2" charset="2"/>
              <a:buChar char="ü"/>
              <a:defRPr/>
            </a:pPr>
            <a:endParaRPr lang="de-DE" sz="1600" b="1" u="sng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marL="457200" indent="-457200">
              <a:buFont typeface="Wingdings" pitchFamily="2" charset="2"/>
              <a:buChar char="ü"/>
              <a:defRPr/>
            </a:pPr>
            <a:r>
              <a:rPr lang="de-DE" sz="1600" b="1" u="sng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1600" i="1" spc="130" dirty="0" err="1">
                <a:solidFill>
                  <a:schemeClr val="bg1"/>
                </a:solidFill>
                <a:latin typeface="Nina Compressed"/>
              </a:rPr>
              <a:t>Các</a:t>
            </a:r>
            <a:r>
              <a:rPr lang="en-US" sz="1600" i="1" spc="130" dirty="0">
                <a:solidFill>
                  <a:schemeClr val="bg1"/>
                </a:solidFill>
                <a:latin typeface="Nina Compressed"/>
              </a:rPr>
              <a:t> </a:t>
            </a:r>
            <a:r>
              <a:rPr lang="en-US" sz="1600" i="1" spc="130" dirty="0" err="1">
                <a:solidFill>
                  <a:schemeClr val="bg1"/>
                </a:solidFill>
                <a:latin typeface="Nina Compressed"/>
              </a:rPr>
              <a:t>tài</a:t>
            </a:r>
            <a:r>
              <a:rPr lang="en-US" sz="1600" i="1" spc="130" dirty="0">
                <a:solidFill>
                  <a:schemeClr val="bg1"/>
                </a:solidFill>
                <a:latin typeface="Nina Compressed"/>
              </a:rPr>
              <a:t> </a:t>
            </a:r>
            <a:r>
              <a:rPr lang="en-US" sz="1600" i="1" spc="130" dirty="0" err="1">
                <a:solidFill>
                  <a:schemeClr val="bg1"/>
                </a:solidFill>
                <a:latin typeface="Nina Compressed"/>
              </a:rPr>
              <a:t>liệu</a:t>
            </a:r>
            <a:r>
              <a:rPr lang="en-US" sz="1600" i="1" spc="130" dirty="0">
                <a:solidFill>
                  <a:schemeClr val="bg1"/>
                </a:solidFill>
                <a:latin typeface="Nina Compressed"/>
              </a:rPr>
              <a:t> </a:t>
            </a:r>
            <a:r>
              <a:rPr lang="en-US" sz="1600" i="1" spc="130" dirty="0" err="1">
                <a:solidFill>
                  <a:schemeClr val="bg1"/>
                </a:solidFill>
                <a:latin typeface="Nina Compressed"/>
              </a:rPr>
              <a:t>của</a:t>
            </a:r>
            <a:r>
              <a:rPr lang="en-US" sz="1600" i="1" spc="130" dirty="0">
                <a:solidFill>
                  <a:schemeClr val="bg1"/>
                </a:solidFill>
                <a:latin typeface="Nina Compressed"/>
              </a:rPr>
              <a:t> </a:t>
            </a:r>
            <a:r>
              <a:rPr lang="en-US" sz="1600" i="1" spc="130" dirty="0" err="1">
                <a:solidFill>
                  <a:schemeClr val="bg1"/>
                </a:solidFill>
                <a:latin typeface="Nina Compressed"/>
              </a:rPr>
              <a:t>dự</a:t>
            </a:r>
            <a:r>
              <a:rPr lang="en-US" sz="1600" i="1" spc="130" dirty="0">
                <a:solidFill>
                  <a:schemeClr val="bg1"/>
                </a:solidFill>
                <a:latin typeface="Nina Compressed"/>
              </a:rPr>
              <a:t> </a:t>
            </a:r>
            <a:r>
              <a:rPr lang="en-US" sz="1600" i="1" spc="130" dirty="0" err="1">
                <a:solidFill>
                  <a:schemeClr val="bg1"/>
                </a:solidFill>
                <a:latin typeface="Nina Compressed"/>
              </a:rPr>
              <a:t>án</a:t>
            </a:r>
            <a:r>
              <a:rPr lang="en-US" sz="1600" i="1" spc="130" dirty="0">
                <a:solidFill>
                  <a:schemeClr val="bg1"/>
                </a:solidFill>
                <a:latin typeface="Nina Compressed"/>
              </a:rPr>
              <a:t> </a:t>
            </a:r>
            <a:r>
              <a:rPr lang="en-US" sz="1600" i="1" spc="130" dirty="0" err="1">
                <a:solidFill>
                  <a:schemeClr val="bg1"/>
                </a:solidFill>
                <a:latin typeface="Nina Compressed"/>
              </a:rPr>
              <a:t>cần</a:t>
            </a:r>
            <a:r>
              <a:rPr lang="en-US" sz="1600" i="1" spc="130" dirty="0">
                <a:solidFill>
                  <a:schemeClr val="bg1"/>
                </a:solidFill>
                <a:latin typeface="Nina Compressed"/>
              </a:rPr>
              <a:t> </a:t>
            </a:r>
            <a:r>
              <a:rPr lang="en-US" sz="1600" i="1" spc="130" dirty="0" err="1">
                <a:solidFill>
                  <a:schemeClr val="bg1"/>
                </a:solidFill>
                <a:latin typeface="Nina Compressed"/>
              </a:rPr>
              <a:t>thiết</a:t>
            </a:r>
            <a:r>
              <a:rPr lang="en-US" sz="1600" i="1" spc="130" dirty="0">
                <a:solidFill>
                  <a:schemeClr val="bg1"/>
                </a:solidFill>
                <a:latin typeface="Nina Compressed"/>
              </a:rPr>
              <a:t> (HDSD, TKCT,..) </a:t>
            </a:r>
            <a:r>
              <a:rPr lang="en-US" sz="1600" i="1" spc="130" dirty="0" err="1">
                <a:solidFill>
                  <a:schemeClr val="bg1"/>
                </a:solidFill>
                <a:latin typeface="Nina Compressed"/>
              </a:rPr>
              <a:t>không</a:t>
            </a:r>
            <a:r>
              <a:rPr lang="en-US" sz="1600" i="1" spc="130" dirty="0">
                <a:solidFill>
                  <a:schemeClr val="bg1"/>
                </a:solidFill>
                <a:latin typeface="Nina Compressed"/>
              </a:rPr>
              <a:t> </a:t>
            </a:r>
            <a:r>
              <a:rPr lang="en-US" sz="1600" i="1" spc="130" dirty="0" err="1">
                <a:solidFill>
                  <a:schemeClr val="bg1"/>
                </a:solidFill>
                <a:latin typeface="Nina Compressed"/>
              </a:rPr>
              <a:t>nhất</a:t>
            </a:r>
            <a:r>
              <a:rPr lang="en-US" sz="1600" i="1" spc="130" dirty="0">
                <a:solidFill>
                  <a:schemeClr val="bg1"/>
                </a:solidFill>
                <a:latin typeface="Nina Compressed"/>
              </a:rPr>
              <a:t> </a:t>
            </a:r>
            <a:r>
              <a:rPr lang="en-US" sz="1600" i="1" spc="130" dirty="0" err="1">
                <a:solidFill>
                  <a:schemeClr val="bg1"/>
                </a:solidFill>
                <a:latin typeface="Nina Compressed"/>
              </a:rPr>
              <a:t>thiết</a:t>
            </a:r>
            <a:r>
              <a:rPr lang="en-US" sz="1600" i="1" spc="130" dirty="0">
                <a:solidFill>
                  <a:schemeClr val="bg1"/>
                </a:solidFill>
                <a:latin typeface="Nina Compressed"/>
              </a:rPr>
              <a:t> </a:t>
            </a:r>
            <a:r>
              <a:rPr lang="en-US" sz="1600" i="1" spc="130" dirty="0" err="1">
                <a:solidFill>
                  <a:schemeClr val="bg1"/>
                </a:solidFill>
                <a:latin typeface="Nina Compressed"/>
              </a:rPr>
              <a:t>hoàn</a:t>
            </a:r>
            <a:r>
              <a:rPr lang="en-US" sz="1600" i="1" spc="130" dirty="0">
                <a:solidFill>
                  <a:schemeClr val="bg1"/>
                </a:solidFill>
                <a:latin typeface="Nina Compressed"/>
              </a:rPr>
              <a:t> </a:t>
            </a:r>
            <a:r>
              <a:rPr lang="en-US" sz="1600" i="1" spc="130" dirty="0" err="1">
                <a:solidFill>
                  <a:schemeClr val="bg1"/>
                </a:solidFill>
                <a:latin typeface="Nina Compressed"/>
              </a:rPr>
              <a:t>thiện</a:t>
            </a:r>
            <a:r>
              <a:rPr lang="en-US" sz="1600" i="1" spc="130" dirty="0">
                <a:solidFill>
                  <a:schemeClr val="bg1"/>
                </a:solidFill>
                <a:latin typeface="Nina Compressed"/>
              </a:rPr>
              <a:t> </a:t>
            </a:r>
            <a:r>
              <a:rPr lang="en-US" sz="1600" i="1" spc="130" dirty="0" err="1">
                <a:solidFill>
                  <a:schemeClr val="bg1"/>
                </a:solidFill>
                <a:latin typeface="Nina Compressed"/>
              </a:rPr>
              <a:t>trong</a:t>
            </a:r>
            <a:r>
              <a:rPr lang="en-US" sz="1600" i="1" spc="130" dirty="0">
                <a:solidFill>
                  <a:schemeClr val="bg1"/>
                </a:solidFill>
                <a:latin typeface="Nina Compressed"/>
              </a:rPr>
              <a:t> sprint </a:t>
            </a:r>
            <a:r>
              <a:rPr lang="en-US" sz="1600" i="1" spc="130" dirty="0" err="1">
                <a:solidFill>
                  <a:schemeClr val="bg1"/>
                </a:solidFill>
                <a:latin typeface="Nina Compressed"/>
              </a:rPr>
              <a:t>tuy</a:t>
            </a:r>
            <a:r>
              <a:rPr lang="en-US" sz="1600" i="1" spc="130" dirty="0">
                <a:solidFill>
                  <a:schemeClr val="bg1"/>
                </a:solidFill>
                <a:latin typeface="Nina Compressed"/>
              </a:rPr>
              <a:t> </a:t>
            </a:r>
            <a:r>
              <a:rPr lang="en-US" sz="1600" i="1" spc="130" dirty="0" err="1">
                <a:solidFill>
                  <a:schemeClr val="bg1"/>
                </a:solidFill>
                <a:latin typeface="Nina Compressed"/>
              </a:rPr>
              <a:t>nhiên</a:t>
            </a:r>
            <a:r>
              <a:rPr lang="en-US" sz="1600" i="1" spc="130" dirty="0">
                <a:solidFill>
                  <a:schemeClr val="bg1"/>
                </a:solidFill>
                <a:latin typeface="Nina Compressed"/>
              </a:rPr>
              <a:t> </a:t>
            </a:r>
            <a:r>
              <a:rPr lang="en-US" sz="1600" i="1" spc="130" dirty="0" err="1">
                <a:solidFill>
                  <a:schemeClr val="bg1"/>
                </a:solidFill>
                <a:latin typeface="Nina Compressed"/>
              </a:rPr>
              <a:t>khi</a:t>
            </a:r>
            <a:r>
              <a:rPr lang="en-US" sz="1600" i="1" spc="130" dirty="0">
                <a:solidFill>
                  <a:schemeClr val="bg1"/>
                </a:solidFill>
                <a:latin typeface="Nina Compressed"/>
              </a:rPr>
              <a:t> release </a:t>
            </a:r>
            <a:r>
              <a:rPr lang="en-US" sz="1600" i="1" spc="130" dirty="0" err="1">
                <a:solidFill>
                  <a:schemeClr val="bg1"/>
                </a:solidFill>
                <a:latin typeface="Nina Compressed"/>
              </a:rPr>
              <a:t>sản</a:t>
            </a:r>
            <a:r>
              <a:rPr lang="en-US" sz="1600" i="1" spc="130" dirty="0">
                <a:solidFill>
                  <a:schemeClr val="bg1"/>
                </a:solidFill>
                <a:latin typeface="Nina Compressed"/>
              </a:rPr>
              <a:t> </a:t>
            </a:r>
            <a:r>
              <a:rPr lang="en-US" sz="1600" i="1" spc="130" dirty="0" err="1">
                <a:solidFill>
                  <a:schemeClr val="bg1"/>
                </a:solidFill>
                <a:latin typeface="Nina Compressed"/>
              </a:rPr>
              <a:t>phẩm</a:t>
            </a:r>
            <a:r>
              <a:rPr lang="en-US" sz="1600" i="1" spc="130" dirty="0">
                <a:solidFill>
                  <a:schemeClr val="bg1"/>
                </a:solidFill>
                <a:latin typeface="Nina Compressed"/>
              </a:rPr>
              <a:t> </a:t>
            </a:r>
            <a:r>
              <a:rPr lang="en-US" sz="1600" i="1" spc="130" dirty="0" err="1">
                <a:solidFill>
                  <a:schemeClr val="bg1"/>
                </a:solidFill>
                <a:latin typeface="Nina Compressed"/>
              </a:rPr>
              <a:t>cần</a:t>
            </a:r>
            <a:r>
              <a:rPr lang="en-US" sz="1600" i="1" spc="130" dirty="0">
                <a:solidFill>
                  <a:schemeClr val="bg1"/>
                </a:solidFill>
                <a:latin typeface="Nina Compressed"/>
              </a:rPr>
              <a:t> </a:t>
            </a:r>
            <a:r>
              <a:rPr lang="en-US" sz="1600" i="1" spc="130" dirty="0" err="1">
                <a:solidFill>
                  <a:schemeClr val="bg1"/>
                </a:solidFill>
                <a:latin typeface="Nina Compressed"/>
              </a:rPr>
              <a:t>hoàn</a:t>
            </a:r>
            <a:r>
              <a:rPr lang="en-US" sz="1600" i="1" spc="130" dirty="0">
                <a:solidFill>
                  <a:schemeClr val="bg1"/>
                </a:solidFill>
                <a:latin typeface="Nina Compressed"/>
              </a:rPr>
              <a:t> </a:t>
            </a:r>
            <a:r>
              <a:rPr lang="en-US" sz="1600" i="1" spc="130" dirty="0" err="1">
                <a:solidFill>
                  <a:schemeClr val="bg1"/>
                </a:solidFill>
                <a:latin typeface="Nina Compressed"/>
              </a:rPr>
              <a:t>thành</a:t>
            </a:r>
            <a:endParaRPr lang="en-US" sz="1600" i="1" spc="130" dirty="0">
              <a:solidFill>
                <a:schemeClr val="bg1"/>
              </a:solidFill>
              <a:latin typeface="Nina Compressed"/>
            </a:endParaRPr>
          </a:p>
          <a:p>
            <a:pPr marL="457200" indent="-457200">
              <a:buFont typeface="Wingdings" pitchFamily="2" charset="2"/>
              <a:buChar char="ü"/>
              <a:defRPr/>
            </a:pPr>
            <a:r>
              <a:rPr lang="en-US" sz="1600" i="1" spc="130" dirty="0" err="1">
                <a:solidFill>
                  <a:schemeClr val="bg1"/>
                </a:solidFill>
                <a:latin typeface="Nina Compressed"/>
              </a:rPr>
              <a:t>Các</a:t>
            </a:r>
            <a:r>
              <a:rPr lang="en-US" sz="1600" i="1" spc="130" dirty="0">
                <a:solidFill>
                  <a:schemeClr val="bg1"/>
                </a:solidFill>
                <a:latin typeface="Nina Compressed"/>
              </a:rPr>
              <a:t> user story </a:t>
            </a:r>
            <a:r>
              <a:rPr lang="en-US" sz="1600" i="1" spc="130" dirty="0" err="1">
                <a:solidFill>
                  <a:schemeClr val="bg1"/>
                </a:solidFill>
                <a:latin typeface="Nina Compressed"/>
              </a:rPr>
              <a:t>không</a:t>
            </a:r>
            <a:r>
              <a:rPr lang="en-US" sz="1600" i="1" spc="130" dirty="0">
                <a:solidFill>
                  <a:schemeClr val="bg1"/>
                </a:solidFill>
                <a:latin typeface="Nina Compressed"/>
              </a:rPr>
              <a:t> </a:t>
            </a:r>
            <a:r>
              <a:rPr lang="en-US" sz="1600" i="1" spc="130" dirty="0" err="1">
                <a:solidFill>
                  <a:schemeClr val="bg1"/>
                </a:solidFill>
                <a:latin typeface="Nina Compressed"/>
              </a:rPr>
              <a:t>hoàn</a:t>
            </a:r>
            <a:r>
              <a:rPr lang="en-US" sz="1600" i="1" spc="130" dirty="0">
                <a:solidFill>
                  <a:schemeClr val="bg1"/>
                </a:solidFill>
                <a:latin typeface="Nina Compressed"/>
              </a:rPr>
              <a:t> </a:t>
            </a:r>
            <a:r>
              <a:rPr lang="en-US" sz="1600" i="1" spc="130" dirty="0" err="1">
                <a:solidFill>
                  <a:schemeClr val="bg1"/>
                </a:solidFill>
                <a:latin typeface="Nina Compressed"/>
              </a:rPr>
              <a:t>thành</a:t>
            </a:r>
            <a:r>
              <a:rPr lang="en-US" sz="1600" i="1" spc="130" dirty="0">
                <a:solidFill>
                  <a:schemeClr val="bg1"/>
                </a:solidFill>
                <a:latin typeface="Nina Compressed"/>
              </a:rPr>
              <a:t> </a:t>
            </a:r>
            <a:r>
              <a:rPr lang="en-US" sz="1600" i="1" spc="130" dirty="0" err="1">
                <a:solidFill>
                  <a:schemeClr val="bg1"/>
                </a:solidFill>
                <a:latin typeface="Nina Compressed"/>
              </a:rPr>
              <a:t>chuyển</a:t>
            </a:r>
            <a:r>
              <a:rPr lang="en-US" sz="1600" i="1" spc="130" dirty="0">
                <a:solidFill>
                  <a:schemeClr val="bg1"/>
                </a:solidFill>
                <a:latin typeface="Nina Compressed"/>
              </a:rPr>
              <a:t> sang sprint </a:t>
            </a:r>
            <a:r>
              <a:rPr lang="en-US" sz="1600" i="1" spc="130" dirty="0" err="1">
                <a:solidFill>
                  <a:schemeClr val="bg1"/>
                </a:solidFill>
                <a:latin typeface="Nina Compressed"/>
              </a:rPr>
              <a:t>sau</a:t>
            </a:r>
            <a:endParaRPr lang="en-US" sz="1600" i="1" spc="130" dirty="0">
              <a:solidFill>
                <a:schemeClr val="bg1"/>
              </a:solidFill>
              <a:latin typeface="Nina Compressed"/>
            </a:endParaRPr>
          </a:p>
          <a:p>
            <a:pPr marL="457200" indent="-457200">
              <a:buFont typeface="Wingdings" pitchFamily="2" charset="2"/>
              <a:buChar char="ü"/>
              <a:defRPr/>
            </a:pPr>
            <a:r>
              <a:rPr lang="en-US" sz="1600" i="1" spc="130" dirty="0" err="1">
                <a:solidFill>
                  <a:schemeClr val="bg1"/>
                </a:solidFill>
                <a:latin typeface="Nina Compressed"/>
              </a:rPr>
              <a:t>Cần</a:t>
            </a:r>
            <a:r>
              <a:rPr lang="en-US" sz="1600" i="1" spc="130" dirty="0">
                <a:solidFill>
                  <a:schemeClr val="bg1"/>
                </a:solidFill>
                <a:latin typeface="Nina Compressed"/>
              </a:rPr>
              <a:t> </a:t>
            </a:r>
            <a:r>
              <a:rPr lang="en-US" sz="1600" i="1" spc="130" dirty="0" err="1">
                <a:solidFill>
                  <a:schemeClr val="bg1"/>
                </a:solidFill>
                <a:latin typeface="Nina Compressed"/>
              </a:rPr>
              <a:t>thiết</a:t>
            </a:r>
            <a:r>
              <a:rPr lang="en-US" sz="1600" i="1" spc="130" dirty="0">
                <a:solidFill>
                  <a:schemeClr val="bg1"/>
                </a:solidFill>
                <a:latin typeface="Nina Compressed"/>
              </a:rPr>
              <a:t> </a:t>
            </a:r>
            <a:r>
              <a:rPr lang="en-US" sz="1600" i="1" spc="130" dirty="0" err="1">
                <a:solidFill>
                  <a:schemeClr val="bg1"/>
                </a:solidFill>
                <a:latin typeface="Nina Compressed"/>
              </a:rPr>
              <a:t>phải</a:t>
            </a:r>
            <a:r>
              <a:rPr lang="en-US" sz="1600" i="1" spc="130" dirty="0">
                <a:solidFill>
                  <a:schemeClr val="bg1"/>
                </a:solidFill>
                <a:latin typeface="Nina Compressed"/>
              </a:rPr>
              <a:t> </a:t>
            </a:r>
            <a:r>
              <a:rPr lang="en-US" sz="1600" i="1" spc="130" dirty="0" err="1">
                <a:solidFill>
                  <a:schemeClr val="bg1"/>
                </a:solidFill>
                <a:latin typeface="Nina Compressed"/>
              </a:rPr>
              <a:t>kiểm</a:t>
            </a:r>
            <a:r>
              <a:rPr lang="en-US" sz="1600" i="1" spc="130" dirty="0">
                <a:solidFill>
                  <a:schemeClr val="bg1"/>
                </a:solidFill>
                <a:latin typeface="Nina Compressed"/>
              </a:rPr>
              <a:t> </a:t>
            </a:r>
            <a:r>
              <a:rPr lang="en-US" sz="1600" i="1" spc="130" dirty="0" err="1">
                <a:solidFill>
                  <a:schemeClr val="bg1"/>
                </a:solidFill>
                <a:latin typeface="Nina Compressed"/>
              </a:rPr>
              <a:t>thử</a:t>
            </a:r>
            <a:r>
              <a:rPr lang="en-US" sz="1600" i="1" spc="130" dirty="0">
                <a:solidFill>
                  <a:schemeClr val="bg1"/>
                </a:solidFill>
                <a:latin typeface="Nina Compressed"/>
              </a:rPr>
              <a:t> </a:t>
            </a:r>
            <a:r>
              <a:rPr lang="en-US" sz="1600" i="1" spc="130" dirty="0" err="1">
                <a:solidFill>
                  <a:schemeClr val="bg1"/>
                </a:solidFill>
                <a:latin typeface="Nina Compressed"/>
              </a:rPr>
              <a:t>tích</a:t>
            </a:r>
            <a:r>
              <a:rPr lang="en-US" sz="1600" i="1" spc="130" dirty="0">
                <a:solidFill>
                  <a:schemeClr val="bg1"/>
                </a:solidFill>
                <a:latin typeface="Nina Compressed"/>
              </a:rPr>
              <a:t> </a:t>
            </a:r>
            <a:r>
              <a:rPr lang="en-US" sz="1600" i="1" spc="130" dirty="0" err="1">
                <a:solidFill>
                  <a:schemeClr val="bg1"/>
                </a:solidFill>
                <a:latin typeface="Nina Compressed"/>
              </a:rPr>
              <a:t>hợp</a:t>
            </a:r>
            <a:r>
              <a:rPr lang="en-US" sz="1600" i="1" spc="130" dirty="0">
                <a:solidFill>
                  <a:schemeClr val="bg1"/>
                </a:solidFill>
                <a:latin typeface="Nina Compressed"/>
              </a:rPr>
              <a:t> </a:t>
            </a:r>
            <a:r>
              <a:rPr lang="en-US" sz="1600" i="1" spc="130" dirty="0" err="1">
                <a:solidFill>
                  <a:schemeClr val="bg1"/>
                </a:solidFill>
                <a:latin typeface="Nina Compressed"/>
              </a:rPr>
              <a:t>và</a:t>
            </a:r>
            <a:r>
              <a:rPr lang="en-US" sz="1600" i="1" spc="130" dirty="0">
                <a:solidFill>
                  <a:schemeClr val="bg1"/>
                </a:solidFill>
                <a:latin typeface="Nina Compressed"/>
              </a:rPr>
              <a:t> </a:t>
            </a:r>
            <a:r>
              <a:rPr lang="en-US" sz="1600" i="1" spc="130" dirty="0" err="1">
                <a:solidFill>
                  <a:schemeClr val="bg1"/>
                </a:solidFill>
                <a:latin typeface="Nina Compressed"/>
              </a:rPr>
              <a:t>hồi</a:t>
            </a:r>
            <a:r>
              <a:rPr lang="en-US" sz="1600" i="1" spc="130" dirty="0">
                <a:solidFill>
                  <a:schemeClr val="bg1"/>
                </a:solidFill>
                <a:latin typeface="Nina Compressed"/>
              </a:rPr>
              <a:t> </a:t>
            </a:r>
            <a:r>
              <a:rPr lang="en-US" sz="1600" i="1" spc="130" dirty="0" err="1">
                <a:solidFill>
                  <a:schemeClr val="bg1"/>
                </a:solidFill>
                <a:latin typeface="Nina Compressed"/>
              </a:rPr>
              <a:t>quy</a:t>
            </a:r>
            <a:endParaRPr lang="en-US" sz="1600" i="1" spc="130" dirty="0">
              <a:solidFill>
                <a:schemeClr val="bg1"/>
              </a:solidFill>
              <a:latin typeface="Nina Compressed"/>
            </a:endParaRPr>
          </a:p>
          <a:p>
            <a:pPr lvl="0"/>
            <a:endParaRPr lang="de-DE" sz="1600" b="1" u="sng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lvl="0"/>
            <a:endParaRPr lang="vi-VN" sz="1600" b="1" u="sng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lvl="0"/>
            <a:endParaRPr lang="vi-VN" sz="1600" b="1" u="sng" dirty="0">
              <a:solidFill>
                <a:schemeClr val="bg1"/>
              </a:solidFill>
              <a:cs typeface="Arial" pitchFamily="34" charset="0"/>
            </a:endParaRPr>
          </a:p>
          <a:p>
            <a:pPr algn="ctr"/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381000" y="114300"/>
            <a:ext cx="8229600" cy="857250"/>
          </a:xfrm>
        </p:spPr>
        <p:txBody>
          <a:bodyPr>
            <a:normAutofit/>
          </a:bodyPr>
          <a:lstStyle/>
          <a:p>
            <a:pPr algn="l" eaLnBrk="1" hangingPunct="1"/>
            <a:r>
              <a:rPr lang="en-US" sz="3500" dirty="0" smtClean="0"/>
              <a:t>3.4. </a:t>
            </a:r>
            <a:r>
              <a:rPr lang="en-US" sz="3500" dirty="0" err="1" smtClean="0"/>
              <a:t>Một</a:t>
            </a:r>
            <a:r>
              <a:rPr lang="en-US" sz="3500" dirty="0" smtClean="0"/>
              <a:t> </a:t>
            </a:r>
            <a:r>
              <a:rPr lang="en-US" sz="3500" dirty="0" err="1" smtClean="0"/>
              <a:t>số</a:t>
            </a:r>
            <a:r>
              <a:rPr lang="en-US" sz="3500" dirty="0" smtClean="0"/>
              <a:t> </a:t>
            </a:r>
            <a:r>
              <a:rPr lang="en-US" sz="3500" dirty="0" err="1" smtClean="0"/>
              <a:t>kỹ</a:t>
            </a:r>
            <a:r>
              <a:rPr lang="en-US" sz="3500" dirty="0" smtClean="0"/>
              <a:t> </a:t>
            </a:r>
            <a:r>
              <a:rPr lang="en-US" sz="3500" dirty="0" err="1" smtClean="0"/>
              <a:t>thuật</a:t>
            </a:r>
            <a:r>
              <a:rPr lang="en-US" sz="3500" dirty="0" smtClean="0"/>
              <a:t> </a:t>
            </a:r>
            <a:r>
              <a:rPr lang="en-US" sz="3500" dirty="0" err="1" smtClean="0"/>
              <a:t>áp</a:t>
            </a:r>
            <a:r>
              <a:rPr lang="en-US" sz="3500" dirty="0" smtClean="0"/>
              <a:t> </a:t>
            </a:r>
            <a:r>
              <a:rPr lang="en-US" sz="3500" dirty="0" err="1" smtClean="0"/>
              <a:t>dụng</a:t>
            </a:r>
            <a:endParaRPr lang="en-US" sz="3500" dirty="0" smtClean="0"/>
          </a:p>
        </p:txBody>
      </p:sp>
      <p:pic>
        <p:nvPicPr>
          <p:cNvPr id="1843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84295" y="3652837"/>
            <a:ext cx="5629275" cy="6727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36" name="Line 4"/>
          <p:cNvSpPr>
            <a:spLocks noChangeShapeType="1"/>
          </p:cNvSpPr>
          <p:nvPr/>
        </p:nvSpPr>
        <p:spPr bwMode="auto">
          <a:xfrm>
            <a:off x="838200" y="4286250"/>
            <a:ext cx="658495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/>
          </a:ln>
        </p:spPr>
        <p:txBody>
          <a:bodyPr lIns="82296" tIns="41148" rIns="82296" bIns="41148"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85800" y="1314450"/>
            <a:ext cx="685800" cy="3257550"/>
          </a:xfrm>
          <a:prstGeom prst="rect">
            <a:avLst/>
          </a:prstGeom>
          <a:solidFill>
            <a:schemeClr val="tx2">
              <a:lumMod val="10000"/>
            </a:schemeClr>
          </a:solidFill>
          <a:scene3d>
            <a:camera prst="orthographicFront"/>
            <a:lightRig rig="threePt" dir="t"/>
          </a:scene3d>
          <a:sp3d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477000" y="1314450"/>
            <a:ext cx="685800" cy="3257550"/>
          </a:xfrm>
          <a:prstGeom prst="rect">
            <a:avLst/>
          </a:prstGeom>
          <a:solidFill>
            <a:schemeClr val="accent1">
              <a:lumMod val="50000"/>
            </a:schemeClr>
          </a:solidFill>
          <a:scene3d>
            <a:camera prst="orthographicFront"/>
            <a:lightRig rig="threePt" dir="t"/>
          </a:scene3d>
          <a:sp3d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7162800" y="1314450"/>
            <a:ext cx="685800" cy="3257550"/>
          </a:xfrm>
          <a:prstGeom prst="rect">
            <a:avLst/>
          </a:prstGeom>
          <a:solidFill>
            <a:schemeClr val="accent2">
              <a:lumMod val="50000"/>
            </a:schemeClr>
          </a:solidFill>
          <a:scene3d>
            <a:camera prst="orthographicFront"/>
            <a:lightRig rig="threePt" dir="t"/>
          </a:scene3d>
          <a:sp3d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1371600" y="4286250"/>
            <a:ext cx="5105400" cy="28575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7848600" y="1314450"/>
            <a:ext cx="685800" cy="3257550"/>
          </a:xfrm>
          <a:prstGeom prst="rect">
            <a:avLst/>
          </a:prstGeom>
          <a:solidFill>
            <a:schemeClr val="tx2">
              <a:lumMod val="10000"/>
            </a:schemeClr>
          </a:solidFill>
          <a:scene3d>
            <a:camera prst="orthographicFront"/>
            <a:lightRig rig="threePt" dir="t"/>
          </a:scene3d>
          <a:sp3d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8450" name="TextBox 15"/>
          <p:cNvSpPr txBox="1">
            <a:spLocks noChangeArrowheads="1"/>
          </p:cNvSpPr>
          <p:nvPr/>
        </p:nvSpPr>
        <p:spPr bwMode="auto">
          <a:xfrm>
            <a:off x="1981207" y="3257550"/>
            <a:ext cx="58221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B050"/>
                </a:solidFill>
                <a:latin typeface="Calibri" pitchFamily="34" charset="0"/>
              </a:rPr>
              <a:t>TDD</a:t>
            </a:r>
          </a:p>
        </p:txBody>
      </p:sp>
      <p:sp>
        <p:nvSpPr>
          <p:cNvPr id="18451" name="TextBox 16"/>
          <p:cNvSpPr txBox="1">
            <a:spLocks noChangeArrowheads="1"/>
          </p:cNvSpPr>
          <p:nvPr/>
        </p:nvSpPr>
        <p:spPr bwMode="auto">
          <a:xfrm>
            <a:off x="2286006" y="2800350"/>
            <a:ext cx="186243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B050"/>
                </a:solidFill>
                <a:latin typeface="Calibri" pitchFamily="34" charset="0"/>
              </a:rPr>
              <a:t>Pair programming</a:t>
            </a:r>
          </a:p>
        </p:txBody>
      </p:sp>
      <p:sp>
        <p:nvSpPr>
          <p:cNvPr id="18452" name="TextBox 17"/>
          <p:cNvSpPr txBox="1">
            <a:spLocks noChangeArrowheads="1"/>
          </p:cNvSpPr>
          <p:nvPr/>
        </p:nvSpPr>
        <p:spPr bwMode="auto">
          <a:xfrm>
            <a:off x="3352800" y="3143250"/>
            <a:ext cx="233833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alibri" pitchFamily="34" charset="0"/>
              </a:rPr>
              <a:t>Continuous integration</a:t>
            </a:r>
          </a:p>
        </p:txBody>
      </p:sp>
      <p:sp>
        <p:nvSpPr>
          <p:cNvPr id="18453" name="TextBox 17"/>
          <p:cNvSpPr txBox="1">
            <a:spLocks noChangeArrowheads="1"/>
          </p:cNvSpPr>
          <p:nvPr/>
        </p:nvSpPr>
        <p:spPr bwMode="auto">
          <a:xfrm>
            <a:off x="4876800" y="3486150"/>
            <a:ext cx="97578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B050"/>
                </a:solidFill>
                <a:latin typeface="Calibri" pitchFamily="34" charset="0"/>
              </a:rPr>
              <a:t>Others…</a:t>
            </a: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9551"/>
            <a:ext cx="8229600" cy="685800"/>
          </a:xfrm>
        </p:spPr>
        <p:txBody>
          <a:bodyPr>
            <a:normAutofit fontScale="90000"/>
          </a:bodyPr>
          <a:lstStyle/>
          <a:p>
            <a:pPr algn="l"/>
            <a:r>
              <a:rPr lang="en-US" sz="3900" spc="-100" dirty="0"/>
              <a:t>4. </a:t>
            </a:r>
            <a:r>
              <a:rPr lang="en-US" sz="3900" spc="-100" dirty="0" err="1"/>
              <a:t>Nghiệm</a:t>
            </a:r>
            <a:r>
              <a:rPr lang="en-US" sz="3900" spc="-100" dirty="0"/>
              <a:t> </a:t>
            </a:r>
            <a:r>
              <a:rPr lang="en-US" sz="3900" spc="-100" dirty="0" err="1"/>
              <a:t>thu</a:t>
            </a:r>
            <a:r>
              <a:rPr lang="en-US" sz="3900" spc="-100" dirty="0"/>
              <a:t> </a:t>
            </a:r>
            <a:r>
              <a:rPr lang="en-US" sz="3900" spc="-100" dirty="0" err="1"/>
              <a:t>sản</a:t>
            </a:r>
            <a:r>
              <a:rPr lang="en-US" sz="3900" spc="-100" dirty="0"/>
              <a:t> </a:t>
            </a:r>
            <a:r>
              <a:rPr lang="en-US" sz="3900" spc="-100" dirty="0" err="1"/>
              <a:t>phẩm</a:t>
            </a:r>
            <a:r>
              <a:rPr lang="en-US" spc="-100" dirty="0">
                <a:solidFill>
                  <a:schemeClr val="tx2"/>
                </a:solidFill>
              </a:rPr>
              <a:t/>
            </a:r>
            <a:br>
              <a:rPr lang="en-US" spc="-100" dirty="0">
                <a:solidFill>
                  <a:schemeClr val="tx2"/>
                </a:solidFill>
              </a:rPr>
            </a:br>
            <a:endParaRPr lang="en-US" dirty="0"/>
          </a:p>
        </p:txBody>
      </p:sp>
      <p:sp>
        <p:nvSpPr>
          <p:cNvPr id="4" name="Text Placeholder 2"/>
          <p:cNvSpPr txBox="1">
            <a:spLocks/>
          </p:cNvSpPr>
          <p:nvPr/>
        </p:nvSpPr>
        <p:spPr>
          <a:xfrm>
            <a:off x="609600" y="828021"/>
            <a:ext cx="7391400" cy="38011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None/>
              <a:defRPr sz="14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None/>
              <a:defRPr sz="14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Wingdings" pitchFamily="2" charset="2"/>
              <a:buChar char="ü"/>
              <a:defRPr/>
            </a:pP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Thực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hiện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theo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kế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hoạch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Release</a:t>
            </a:r>
          </a:p>
          <a:p>
            <a:pPr marL="457200" indent="-457200">
              <a:buFont typeface="Wingdings" pitchFamily="2" charset="2"/>
              <a:buChar char="ü"/>
              <a:defRPr/>
            </a:pP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Với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phiên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bản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bàn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giao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,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đội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dự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án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tổ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chức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nghiệm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thu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chương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trình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và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ký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xác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nhận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BBKTNT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với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khách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hàng</a:t>
            </a:r>
            <a:endParaRPr lang="en-US" i="1" spc="130" dirty="0" smtClean="0">
              <a:solidFill>
                <a:schemeClr val="dk1"/>
              </a:solidFill>
              <a:latin typeface="Nina Compressed"/>
            </a:endParaRPr>
          </a:p>
          <a:p>
            <a:pPr marL="457200" indent="-457200">
              <a:buFont typeface="Wingdings" pitchFamily="2" charset="2"/>
              <a:buChar char="ü"/>
              <a:defRPr/>
            </a:pP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Với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bản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Demo,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các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ý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kiến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đánh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giá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,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yêu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cầu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thay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đổi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được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ghi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vào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biên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bản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và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cập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nhật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vào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Product Backlog (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nếu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có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)</a:t>
            </a:r>
          </a:p>
          <a:p>
            <a:pPr marL="457200" indent="-457200">
              <a:buFont typeface="Wingdings" pitchFamily="2" charset="2"/>
              <a:buChar char="ü"/>
              <a:defRPr/>
            </a:pP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Với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bản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triển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khai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,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thực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hiện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triển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khai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theo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kế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hoạch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được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phê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duyệt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của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BGĐ </a:t>
            </a:r>
          </a:p>
          <a:p>
            <a:pPr marL="457200" indent="-457200">
              <a:buFont typeface="Wingdings" pitchFamily="2" charset="2"/>
              <a:buChar char="ü"/>
              <a:defRPr/>
            </a:pP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Trước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khi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nghiệm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thu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toàn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bộ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sản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phẩm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,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cần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thực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hiện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đánh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giá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21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tiêu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chí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, ATTT.</a:t>
            </a:r>
          </a:p>
          <a:p>
            <a:pPr marL="457200" indent="-457200">
              <a:buFont typeface="Wingdings" pitchFamily="2" charset="2"/>
              <a:buChar char="ü"/>
              <a:defRPr/>
            </a:pPr>
            <a:endParaRPr lang="en-US" i="1" spc="130" dirty="0">
              <a:solidFill>
                <a:schemeClr val="dk1"/>
              </a:solidFill>
              <a:latin typeface="Nina Compressed"/>
            </a:endParaRPr>
          </a:p>
          <a:p>
            <a:pPr indent="-342900">
              <a:buFont typeface="Wingdings" pitchFamily="2" charset="2"/>
              <a:buChar char="Ø"/>
              <a:defRPr/>
            </a:pPr>
            <a:endParaRPr lang="en-US" i="1" spc="130" dirty="0">
              <a:latin typeface="Nina Compressed"/>
            </a:endParaRPr>
          </a:p>
        </p:txBody>
      </p:sp>
    </p:spTree>
    <p:extLst>
      <p:ext uri="{BB962C8B-B14F-4D97-AF65-F5344CB8AC3E}">
        <p14:creationId xmlns:p14="http://schemas.microsoft.com/office/powerpoint/2010/main" val="39782814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62000" y="57150"/>
            <a:ext cx="617220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500" spc="-100" dirty="0" smtClean="0">
                <a:latin typeface="+mj-lt"/>
                <a:ea typeface="+mj-ea"/>
                <a:cs typeface="+mj-cs"/>
              </a:rPr>
              <a:t>5. </a:t>
            </a:r>
            <a:r>
              <a:rPr lang="en-US" sz="3500" spc="-100" dirty="0" err="1" smtClean="0">
                <a:latin typeface="+mj-lt"/>
                <a:ea typeface="+mj-ea"/>
                <a:cs typeface="+mj-cs"/>
              </a:rPr>
              <a:t>Kết</a:t>
            </a:r>
            <a:r>
              <a:rPr lang="en-US" sz="3500" spc="-100" dirty="0" smtClean="0">
                <a:latin typeface="+mj-lt"/>
                <a:ea typeface="+mj-ea"/>
                <a:cs typeface="+mj-cs"/>
              </a:rPr>
              <a:t> </a:t>
            </a:r>
            <a:r>
              <a:rPr lang="en-US" sz="3500" spc="-100" dirty="0" err="1">
                <a:latin typeface="+mj-lt"/>
                <a:ea typeface="+mj-ea"/>
                <a:cs typeface="+mj-cs"/>
              </a:rPr>
              <a:t>thúc</a:t>
            </a:r>
            <a:r>
              <a:rPr lang="en-US" sz="3500" spc="-100" dirty="0">
                <a:latin typeface="+mj-lt"/>
                <a:ea typeface="+mj-ea"/>
                <a:cs typeface="+mj-cs"/>
              </a:rPr>
              <a:t> </a:t>
            </a:r>
            <a:r>
              <a:rPr lang="en-US" sz="3500" spc="-100" dirty="0" err="1">
                <a:latin typeface="+mj-lt"/>
                <a:ea typeface="+mj-ea"/>
                <a:cs typeface="+mj-cs"/>
              </a:rPr>
              <a:t>dự</a:t>
            </a:r>
            <a:r>
              <a:rPr lang="en-US" sz="3500" spc="-100" dirty="0">
                <a:latin typeface="+mj-lt"/>
                <a:ea typeface="+mj-ea"/>
                <a:cs typeface="+mj-cs"/>
              </a:rPr>
              <a:t> </a:t>
            </a:r>
            <a:r>
              <a:rPr lang="en-US" sz="3500" spc="-100" dirty="0" err="1">
                <a:latin typeface="+mj-lt"/>
                <a:ea typeface="+mj-ea"/>
                <a:cs typeface="+mj-cs"/>
              </a:rPr>
              <a:t>án</a:t>
            </a:r>
            <a:endParaRPr lang="en-US" sz="3500" spc="-100" dirty="0">
              <a:latin typeface="+mj-lt"/>
              <a:ea typeface="+mj-ea"/>
              <a:cs typeface="+mj-cs"/>
            </a:endParaRPr>
          </a:p>
        </p:txBody>
      </p:sp>
      <p:sp>
        <p:nvSpPr>
          <p:cNvPr id="7" name="Text Placeholder 2"/>
          <p:cNvSpPr txBox="1">
            <a:spLocks/>
          </p:cNvSpPr>
          <p:nvPr/>
        </p:nvSpPr>
        <p:spPr>
          <a:xfrm>
            <a:off x="749300" y="990600"/>
            <a:ext cx="4572000" cy="27432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None/>
              <a:defRPr sz="14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None/>
              <a:defRPr sz="14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Wingdings" pitchFamily="2" charset="2"/>
              <a:buChar char="ü"/>
              <a:defRPr/>
            </a:pP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SM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đánh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giá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kết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quả</a:t>
            </a:r>
            <a:r>
              <a:rPr lang="en-US" i="1" spc="130" dirty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thực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hiện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dự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án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và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lập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báo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cáo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tổng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kết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dự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án</a:t>
            </a:r>
            <a:endParaRPr lang="en-US" i="1" spc="130" dirty="0" smtClean="0">
              <a:solidFill>
                <a:schemeClr val="dk1"/>
              </a:solidFill>
              <a:latin typeface="Nina Compressed"/>
            </a:endParaRPr>
          </a:p>
          <a:p>
            <a:pPr marL="457200" indent="-457200">
              <a:buFont typeface="Wingdings" pitchFamily="2" charset="2"/>
              <a:buChar char="ü"/>
              <a:defRPr/>
            </a:pP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SM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tổ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chức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họp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kết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thúc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dự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án</a:t>
            </a:r>
            <a:endParaRPr lang="en-US" i="1" spc="130" dirty="0" smtClean="0">
              <a:solidFill>
                <a:schemeClr val="dk1"/>
              </a:solidFill>
              <a:latin typeface="Nina Compressed"/>
            </a:endParaRPr>
          </a:p>
          <a:p>
            <a:pPr marL="457200" indent="-457200">
              <a:buFont typeface="Wingdings" pitchFamily="2" charset="2"/>
              <a:buChar char="ü"/>
              <a:defRPr/>
            </a:pP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Bàn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giao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cấu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hình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,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tài</a:t>
            </a:r>
            <a:r>
              <a:rPr lang="en-US" i="1" spc="130" dirty="0" smtClean="0">
                <a:solidFill>
                  <a:schemeClr val="dk1"/>
                </a:solidFill>
                <a:latin typeface="Nina Compressed"/>
              </a:rPr>
              <a:t> </a:t>
            </a:r>
            <a:r>
              <a:rPr lang="en-US" i="1" spc="130" dirty="0" err="1" smtClean="0">
                <a:solidFill>
                  <a:schemeClr val="dk1"/>
                </a:solidFill>
                <a:latin typeface="Nina Compressed"/>
              </a:rPr>
              <a:t>liệu</a:t>
            </a:r>
            <a:endParaRPr lang="en-US" i="1" spc="130" dirty="0">
              <a:solidFill>
                <a:schemeClr val="dk1"/>
              </a:solidFill>
              <a:latin typeface="Nina Compressed"/>
            </a:endParaRPr>
          </a:p>
          <a:p>
            <a:pPr indent="-342900">
              <a:buFont typeface="Wingdings" pitchFamily="2" charset="2"/>
              <a:buChar char="Ø"/>
              <a:defRPr/>
            </a:pPr>
            <a:endParaRPr lang="en-US" i="1" spc="130" dirty="0">
              <a:latin typeface="Nina Compresse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62000" y="1047750"/>
            <a:ext cx="7696200" cy="3200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838200" y="361950"/>
            <a:ext cx="6172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spc="-150" dirty="0" smtClean="0">
                <a:latin typeface="Arial" pitchFamily="34" charset="0"/>
                <a:cs typeface="Arial" pitchFamily="34" charset="0"/>
              </a:rPr>
              <a:t>6. THẮC </a:t>
            </a:r>
            <a:r>
              <a:rPr lang="en-US" sz="2000" spc="-150" dirty="0" smtClean="0">
                <a:latin typeface="Arial" pitchFamily="34" charset="0"/>
                <a:cs typeface="Arial" pitchFamily="34" charset="0"/>
              </a:rPr>
              <a:t>MẮC, TRAO ĐỔI</a:t>
            </a:r>
            <a:endParaRPr lang="en-US" sz="2000" spc="-15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4098" name="Picture 2" descr="C:\Users\vtit_thuypv4\Desktop\HIENPT9 SLIDE\index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1123950"/>
            <a:ext cx="3048000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2743</TotalTime>
  <Words>1040</Words>
  <Application>Microsoft Office PowerPoint</Application>
  <PresentationFormat>On-screen Show (16:9)</PresentationFormat>
  <Paragraphs>185</Paragraphs>
  <Slides>28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Office Theme</vt:lpstr>
      <vt:lpstr>PowerPoint Presentation</vt:lpstr>
      <vt:lpstr>Nội dung</vt:lpstr>
      <vt:lpstr> 1. QUY TRÌNH VIETTEL AGILE</vt:lpstr>
      <vt:lpstr>2. Các khái niệm Scrum</vt:lpstr>
      <vt:lpstr>2.1. Các vai trò trong Scrum</vt:lpstr>
      <vt:lpstr>Role – Product Owner</vt:lpstr>
      <vt:lpstr>Role – ScrumMaster</vt:lpstr>
      <vt:lpstr>Role - Scrum Team</vt:lpstr>
      <vt:lpstr>2.2. Các tài liệu quan trọng</vt:lpstr>
      <vt:lpstr>Product backlog</vt:lpstr>
      <vt:lpstr>Sprint backlog </vt:lpstr>
      <vt:lpstr>2.3. Các cuộc họp trong Scrum</vt:lpstr>
      <vt:lpstr>PowerPoint Presentation</vt:lpstr>
      <vt:lpstr>Sprint Planning(2)</vt:lpstr>
      <vt:lpstr>Sprint Planning(3) </vt:lpstr>
      <vt:lpstr>Daily meeting</vt:lpstr>
      <vt:lpstr>Product backlog grooming</vt:lpstr>
      <vt:lpstr>Sprint Review </vt:lpstr>
      <vt:lpstr>Sprint Retrospective </vt:lpstr>
      <vt:lpstr>Nội dung</vt:lpstr>
      <vt:lpstr>3.1.Sprint là …</vt:lpstr>
      <vt:lpstr>3.2.Sprint 0</vt:lpstr>
      <vt:lpstr>PowerPoint Presentation</vt:lpstr>
      <vt:lpstr>3.4. Một số kỹ thuật áp dụng</vt:lpstr>
      <vt:lpstr>4. Nghiệm thu sản phẩm 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Windows User</dc:creator>
  <cp:lastModifiedBy>hieuhx1</cp:lastModifiedBy>
  <cp:revision>249</cp:revision>
  <dcterms:created xsi:type="dcterms:W3CDTF">2013-07-16T09:41:47Z</dcterms:created>
  <dcterms:modified xsi:type="dcterms:W3CDTF">2015-03-05T11:17:11Z</dcterms:modified>
</cp:coreProperties>
</file>