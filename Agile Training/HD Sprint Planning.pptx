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  <p:sldMasterId id="2147483660" r:id="rId2"/>
  </p:sldMasterIdLst>
  <p:notesMasterIdLst>
    <p:notesMasterId r:id="rId29"/>
  </p:notesMasterIdLst>
  <p:sldIdLst>
    <p:sldId id="256" r:id="rId3"/>
    <p:sldId id="279" r:id="rId4"/>
    <p:sldId id="265" r:id="rId5"/>
    <p:sldId id="258" r:id="rId6"/>
    <p:sldId id="261" r:id="rId7"/>
    <p:sldId id="271" r:id="rId8"/>
    <p:sldId id="295" r:id="rId9"/>
    <p:sldId id="269" r:id="rId10"/>
    <p:sldId id="273" r:id="rId11"/>
    <p:sldId id="285" r:id="rId12"/>
    <p:sldId id="286" r:id="rId13"/>
    <p:sldId id="289" r:id="rId14"/>
    <p:sldId id="290" r:id="rId15"/>
    <p:sldId id="291" r:id="rId16"/>
    <p:sldId id="276" r:id="rId17"/>
    <p:sldId id="270" r:id="rId18"/>
    <p:sldId id="267" r:id="rId19"/>
    <p:sldId id="278" r:id="rId20"/>
    <p:sldId id="280" r:id="rId21"/>
    <p:sldId id="281" r:id="rId22"/>
    <p:sldId id="275" r:id="rId23"/>
    <p:sldId id="284" r:id="rId24"/>
    <p:sldId id="293" r:id="rId25"/>
    <p:sldId id="294" r:id="rId26"/>
    <p:sldId id="292" r:id="rId27"/>
    <p:sldId id="262" r:id="rId2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300" y="-55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40BC2-7363-4F67-823A-BCCE9C32D6F4}" type="datetimeFigureOut">
              <a:rPr lang="en-US" smtClean="0"/>
              <a:t>3/2/2015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0C78D-93D1-4E55-BBDF-B9E3A6FACA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77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993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905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550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397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088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69877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566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079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617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057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73BBD-E250-40AA-B886-7A735E148D04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69AEE-D211-4680-AD77-5F626AD4BF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73BBD-E250-40AA-B886-7A735E148D0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69AEE-D211-4680-AD77-5F626AD4BF9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68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1276350"/>
            <a:ext cx="8001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-15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HƯỚNG DẪN LẬP SPRINT PLANNING</a:t>
            </a:r>
            <a:endParaRPr lang="en-US" sz="3000" spc="-150" dirty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228600" y="28566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NỘI DUNG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971550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TỔNG QUAN VỀ SPRINT PLANNING MEETING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CÁCH THỰC HIỆN SPRINT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46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1200" y="2070616"/>
            <a:ext cx="2011680" cy="3657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Sprint Planning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981200" y="2800350"/>
            <a:ext cx="20116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Daily Scrum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981200" y="3524250"/>
            <a:ext cx="20116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Review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981200" y="4248150"/>
            <a:ext cx="2011680" cy="365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Retrospective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562600" y="3028950"/>
            <a:ext cx="2209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Product Backlog Grooming</a:t>
            </a:r>
            <a:endParaRPr lang="en-US" dirty="0"/>
          </a:p>
        </p:txBody>
      </p:sp>
      <p:cxnSp>
        <p:nvCxnSpPr>
          <p:cNvPr id="4" name="Straight Arrow Connector 3"/>
          <p:cNvCxnSpPr>
            <a:stCxn id="2" idx="2"/>
            <a:endCxn id="5" idx="0"/>
          </p:cNvCxnSpPr>
          <p:nvPr/>
        </p:nvCxnSpPr>
        <p:spPr>
          <a:xfrm>
            <a:off x="2987040" y="2436376"/>
            <a:ext cx="0" cy="3639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2"/>
            <a:endCxn id="7" idx="0"/>
          </p:cNvCxnSpPr>
          <p:nvPr/>
        </p:nvCxnSpPr>
        <p:spPr>
          <a:xfrm>
            <a:off x="2987040" y="3166110"/>
            <a:ext cx="0" cy="3581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2"/>
            <a:endCxn id="8" idx="0"/>
          </p:cNvCxnSpPr>
          <p:nvPr/>
        </p:nvCxnSpPr>
        <p:spPr>
          <a:xfrm>
            <a:off x="2987040" y="3890010"/>
            <a:ext cx="0" cy="3581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8" idx="1"/>
          </p:cNvCxnSpPr>
          <p:nvPr/>
        </p:nvCxnSpPr>
        <p:spPr>
          <a:xfrm rot="10800000">
            <a:off x="1219200" y="1657350"/>
            <a:ext cx="762000" cy="2773680"/>
          </a:xfrm>
          <a:prstGeom prst="bentConnector2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2" name="Straight Connector 15361"/>
          <p:cNvCxnSpPr/>
          <p:nvPr/>
        </p:nvCxnSpPr>
        <p:spPr>
          <a:xfrm flipH="1">
            <a:off x="1207770" y="1657350"/>
            <a:ext cx="177927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28600" y="28566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TỔNG QUAN VỀ SPRINT </a:t>
            </a:r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PLANNING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123950"/>
            <a:ext cx="433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Sprint Planning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cuộc</a:t>
            </a:r>
            <a:r>
              <a:rPr lang="en-US" dirty="0" smtClean="0"/>
              <a:t> </a:t>
            </a:r>
            <a:r>
              <a:rPr lang="en-US" dirty="0" err="1" smtClean="0"/>
              <a:t>họp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Agile</a:t>
            </a:r>
            <a:endParaRPr lang="en-US" dirty="0"/>
          </a:p>
        </p:txBody>
      </p:sp>
      <p:cxnSp>
        <p:nvCxnSpPr>
          <p:cNvPr id="42" name="Straight Arrow Connector 41"/>
          <p:cNvCxnSpPr>
            <a:endCxn id="2" idx="0"/>
          </p:cNvCxnSpPr>
          <p:nvPr/>
        </p:nvCxnSpPr>
        <p:spPr>
          <a:xfrm>
            <a:off x="2987040" y="1657350"/>
            <a:ext cx="0" cy="4132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04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TỔNG QUAN VỀ SPRINT PLANNING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" y="895914"/>
            <a:ext cx="7019925" cy="37578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TỔNG QUAN VỀ SPRINT PLANNING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8200" y="971550"/>
            <a:ext cx="79248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/>
              <a:t>Thành</a:t>
            </a:r>
            <a:r>
              <a:rPr lang="en-US" sz="2000" dirty="0" smtClean="0"/>
              <a:t> </a:t>
            </a:r>
            <a:r>
              <a:rPr lang="en-US" sz="2000" dirty="0" err="1" smtClean="0"/>
              <a:t>phần</a:t>
            </a:r>
            <a:endParaRPr lang="en-US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Scrum Master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Product Owner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Scrum Team</a:t>
            </a:r>
          </a:p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Stories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Sprint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Sprint Backlog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chia </a:t>
            </a:r>
            <a:r>
              <a:rPr lang="en-US" dirty="0" err="1" smtClean="0"/>
              <a:t>các</a:t>
            </a:r>
            <a:r>
              <a:rPr lang="en-US" dirty="0" smtClean="0"/>
              <a:t> Stories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Task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Demo,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mịn</a:t>
            </a:r>
            <a:r>
              <a:rPr lang="en-US" dirty="0" smtClean="0"/>
              <a:t> Product Backlog</a:t>
            </a:r>
          </a:p>
          <a:p>
            <a:pPr marL="0" lvl="1"/>
            <a:r>
              <a:rPr lang="en-US" dirty="0" err="1" smtClean="0"/>
              <a:t>Timebox</a:t>
            </a:r>
            <a:endParaRPr lang="en-US" dirty="0" smtClean="0"/>
          </a:p>
          <a:p>
            <a:pPr marL="742950" lvl="2" indent="-285750">
              <a:buFont typeface="Arial" panose="020B0604020202020204" pitchFamily="34" charset="0"/>
              <a:buChar char="•"/>
            </a:pPr>
            <a:r>
              <a:rPr lang="en-US" dirty="0" smtClean="0"/>
              <a:t>&lt; 2 *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tuần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Sprint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361950"/>
            <a:ext cx="678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TỔNG QUAN VỀ SPRINT PLANNING </a:t>
            </a:r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- SPRINT </a:t>
            </a:r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DURATION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47750"/>
            <a:ext cx="711517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3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CÁCH THỰC HIỆN SPRINT PLANNING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8200" y="971550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PHẦN 1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Sprint Backlog: </a:t>
            </a:r>
            <a:r>
              <a:rPr lang="en-US" dirty="0" err="1" smtClean="0"/>
              <a:t>Các</a:t>
            </a:r>
            <a:r>
              <a:rPr lang="en-US" dirty="0" smtClean="0"/>
              <a:t> story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,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endParaRPr lang="en-US" dirty="0" smtClean="0"/>
          </a:p>
          <a:p>
            <a:r>
              <a:rPr lang="en-US" dirty="0" smtClean="0"/>
              <a:t>PHẦN 2</a:t>
            </a:r>
            <a:endParaRPr lang="en-US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 smtClean="0"/>
              <a:t>Chia </a:t>
            </a:r>
            <a:r>
              <a:rPr lang="en-US" dirty="0" err="1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task, </a:t>
            </a:r>
            <a:r>
              <a:rPr lang="en-US" dirty="0" err="1" smtClean="0"/>
              <a:t>phân</a:t>
            </a:r>
            <a:r>
              <a:rPr lang="en-US" dirty="0" smtClean="0"/>
              <a:t>/</a:t>
            </a:r>
            <a:r>
              <a:rPr lang="en-US" dirty="0" err="1" smtClean="0"/>
              <a:t>nhận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4124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6553200" y="1200150"/>
            <a:ext cx="2209800" cy="2819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/>
          <p:cNvSpPr/>
          <p:nvPr/>
        </p:nvSpPr>
        <p:spPr>
          <a:xfrm>
            <a:off x="2209800" y="1200150"/>
            <a:ext cx="2209800" cy="3581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2438400" y="1276350"/>
            <a:ext cx="1752600" cy="1905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1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667000" y="1352550"/>
            <a:ext cx="1371600" cy="228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STORY 1</a:t>
            </a:r>
            <a:endParaRPr lang="en-US" sz="1200" dirty="0"/>
          </a:p>
        </p:txBody>
      </p:sp>
      <p:sp>
        <p:nvSpPr>
          <p:cNvPr id="38" name="TextBox 37"/>
          <p:cNvSpPr txBox="1"/>
          <p:nvPr/>
        </p:nvSpPr>
        <p:spPr>
          <a:xfrm>
            <a:off x="2133600" y="83081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PRODUCT BACKLOG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667000" y="1657350"/>
            <a:ext cx="1371600" cy="3164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STORY 2</a:t>
            </a:r>
            <a:endParaRPr lang="en-US" sz="1200" dirty="0"/>
          </a:p>
        </p:txBody>
      </p:sp>
      <p:sp>
        <p:nvSpPr>
          <p:cNvPr id="40" name="Rounded Rectangle 39"/>
          <p:cNvSpPr/>
          <p:nvPr/>
        </p:nvSpPr>
        <p:spPr>
          <a:xfrm>
            <a:off x="2667000" y="2038350"/>
            <a:ext cx="1371600" cy="5217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STORY 3</a:t>
            </a:r>
            <a:endParaRPr lang="en-US" sz="1200" dirty="0"/>
          </a:p>
        </p:txBody>
      </p:sp>
      <p:sp>
        <p:nvSpPr>
          <p:cNvPr id="41" name="Rounded Rectangle 40"/>
          <p:cNvSpPr/>
          <p:nvPr/>
        </p:nvSpPr>
        <p:spPr>
          <a:xfrm>
            <a:off x="2667000" y="2647950"/>
            <a:ext cx="1371600" cy="228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STORY 4</a:t>
            </a:r>
            <a:endParaRPr lang="en-US" sz="1200" dirty="0"/>
          </a:p>
        </p:txBody>
      </p:sp>
      <p:sp>
        <p:nvSpPr>
          <p:cNvPr id="42" name="Rounded Rectangle 41"/>
          <p:cNvSpPr/>
          <p:nvPr/>
        </p:nvSpPr>
        <p:spPr>
          <a:xfrm>
            <a:off x="2657475" y="2941082"/>
            <a:ext cx="1371600" cy="1640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STORY 5</a:t>
            </a:r>
            <a:endParaRPr lang="en-US" sz="1200" dirty="0"/>
          </a:p>
        </p:txBody>
      </p:sp>
      <p:sp>
        <p:nvSpPr>
          <p:cNvPr id="43" name="Rounded Rectangle 42"/>
          <p:cNvSpPr/>
          <p:nvPr/>
        </p:nvSpPr>
        <p:spPr>
          <a:xfrm>
            <a:off x="2657475" y="3269218"/>
            <a:ext cx="1371600" cy="4455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STORY 6</a:t>
            </a:r>
            <a:endParaRPr lang="en-US" sz="1200" dirty="0"/>
          </a:p>
        </p:txBody>
      </p:sp>
      <p:sp>
        <p:nvSpPr>
          <p:cNvPr id="44" name="Rounded Rectangle 43"/>
          <p:cNvSpPr/>
          <p:nvPr/>
        </p:nvSpPr>
        <p:spPr>
          <a:xfrm>
            <a:off x="2667000" y="3790950"/>
            <a:ext cx="1371600" cy="152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STORY 7</a:t>
            </a:r>
            <a:endParaRPr lang="en-US" sz="1200" dirty="0"/>
          </a:p>
        </p:txBody>
      </p:sp>
      <p:sp>
        <p:nvSpPr>
          <p:cNvPr id="45" name="Rounded Rectangle 44"/>
          <p:cNvSpPr/>
          <p:nvPr/>
        </p:nvSpPr>
        <p:spPr>
          <a:xfrm>
            <a:off x="2667000" y="4031218"/>
            <a:ext cx="1371600" cy="2931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STORY 8</a:t>
            </a:r>
            <a:endParaRPr lang="en-US" sz="1200" dirty="0"/>
          </a:p>
        </p:txBody>
      </p:sp>
      <p:sp>
        <p:nvSpPr>
          <p:cNvPr id="46" name="Rounded Rectangle 45"/>
          <p:cNvSpPr/>
          <p:nvPr/>
        </p:nvSpPr>
        <p:spPr>
          <a:xfrm>
            <a:off x="2667000" y="4400550"/>
            <a:ext cx="1371600" cy="228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STORY 9</a:t>
            </a:r>
            <a:endParaRPr lang="en-US" sz="1200" dirty="0"/>
          </a:p>
        </p:txBody>
      </p:sp>
      <p:sp>
        <p:nvSpPr>
          <p:cNvPr id="3" name="Right Arrow 2"/>
          <p:cNvSpPr/>
          <p:nvPr/>
        </p:nvSpPr>
        <p:spPr>
          <a:xfrm>
            <a:off x="4724400" y="2571750"/>
            <a:ext cx="1752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6781800" y="1352550"/>
            <a:ext cx="1752600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1</a:t>
            </a:r>
            <a:endParaRPr lang="en-US" sz="1600" dirty="0"/>
          </a:p>
        </p:txBody>
      </p:sp>
      <p:sp>
        <p:nvSpPr>
          <p:cNvPr id="53" name="Rounded Rectangle 52"/>
          <p:cNvSpPr/>
          <p:nvPr/>
        </p:nvSpPr>
        <p:spPr>
          <a:xfrm>
            <a:off x="6781800" y="18097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2</a:t>
            </a:r>
            <a:endParaRPr lang="en-US" sz="1600" dirty="0"/>
          </a:p>
        </p:txBody>
      </p:sp>
      <p:sp>
        <p:nvSpPr>
          <p:cNvPr id="54" name="Rounded Rectangle 53"/>
          <p:cNvSpPr/>
          <p:nvPr/>
        </p:nvSpPr>
        <p:spPr>
          <a:xfrm>
            <a:off x="6781800" y="2365860"/>
            <a:ext cx="1752600" cy="73929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3</a:t>
            </a:r>
            <a:endParaRPr lang="en-US" sz="1600" dirty="0"/>
          </a:p>
        </p:txBody>
      </p:sp>
      <p:sp>
        <p:nvSpPr>
          <p:cNvPr id="55" name="Rounded Rectangle 54"/>
          <p:cNvSpPr/>
          <p:nvPr/>
        </p:nvSpPr>
        <p:spPr>
          <a:xfrm>
            <a:off x="6781800" y="3181350"/>
            <a:ext cx="1752600" cy="304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4</a:t>
            </a:r>
            <a:endParaRPr lang="en-US" sz="1600" dirty="0"/>
          </a:p>
        </p:txBody>
      </p:sp>
      <p:sp>
        <p:nvSpPr>
          <p:cNvPr id="56" name="Rounded Rectangle 55"/>
          <p:cNvSpPr/>
          <p:nvPr/>
        </p:nvSpPr>
        <p:spPr>
          <a:xfrm>
            <a:off x="6781800" y="3661260"/>
            <a:ext cx="1752600" cy="2058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5</a:t>
            </a:r>
            <a:endParaRPr 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6477000" y="87263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SPRINT BACKLOG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200150"/>
            <a:ext cx="148590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0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1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0498"/>
            <a:ext cx="7100888" cy="377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85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1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62000" y="895350"/>
            <a:ext cx="7010400" cy="2442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quyết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bao</a:t>
            </a:r>
            <a:r>
              <a:rPr lang="en-US" sz="2000" dirty="0"/>
              <a:t> </a:t>
            </a:r>
            <a:r>
              <a:rPr lang="en-US" sz="2000" dirty="0" err="1"/>
              <a:t>nhiêu</a:t>
            </a:r>
            <a:r>
              <a:rPr lang="en-US" sz="2000" dirty="0"/>
              <a:t> story </a:t>
            </a:r>
            <a:r>
              <a:rPr lang="en-US" sz="2000" dirty="0" err="1"/>
              <a:t>đưa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Sprint.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Product Owner hay </a:t>
            </a:r>
            <a:r>
              <a:rPr lang="en-US" sz="2000" dirty="0" err="1"/>
              <a:t>bất</a:t>
            </a:r>
            <a:r>
              <a:rPr lang="en-US" sz="2000" dirty="0"/>
              <a:t> </a:t>
            </a:r>
            <a:r>
              <a:rPr lang="en-US" sz="2000" dirty="0" err="1"/>
              <a:t>kỳ</a:t>
            </a:r>
            <a:r>
              <a:rPr lang="en-US" sz="2000" dirty="0"/>
              <a:t> </a:t>
            </a:r>
            <a:r>
              <a:rPr lang="en-US" sz="2000" dirty="0" err="1"/>
              <a:t>ai</a:t>
            </a:r>
            <a:r>
              <a:rPr lang="en-US" sz="2000" dirty="0"/>
              <a:t> </a:t>
            </a:r>
            <a:r>
              <a:rPr lang="en-US" sz="2000" dirty="0" err="1"/>
              <a:t>khác</a:t>
            </a:r>
            <a:r>
              <a:rPr lang="en-US" sz="2000" dirty="0"/>
              <a:t> can </a:t>
            </a:r>
            <a:r>
              <a:rPr lang="en-US" sz="2000" dirty="0" err="1"/>
              <a:t>thiệp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quyết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này</a:t>
            </a:r>
            <a:r>
              <a:rPr lang="en-US" sz="2000" dirty="0"/>
              <a:t>. 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  <a:tab pos="457200" algn="l"/>
              </a:tabLst>
            </a:pPr>
            <a:r>
              <a:rPr lang="en-US" sz="2000" dirty="0" err="1" smtClean="0"/>
              <a:t>Làm</a:t>
            </a:r>
            <a:r>
              <a:rPr lang="en-US" sz="2000" dirty="0" smtClean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 </a:t>
            </a:r>
            <a:r>
              <a:rPr lang="en-US" sz="2000" dirty="0" err="1"/>
              <a:t>quyết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đưa</a:t>
            </a:r>
            <a:r>
              <a:rPr lang="en-US" sz="2000" dirty="0"/>
              <a:t> story </a:t>
            </a:r>
            <a:r>
              <a:rPr lang="en-US" sz="2000" dirty="0" err="1"/>
              <a:t>nào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Sprint? </a:t>
            </a:r>
            <a:endParaRPr lang="en-US" sz="2000" dirty="0" smtClean="0"/>
          </a:p>
          <a:p>
            <a:pPr marL="342900" indent="-342900" algn="just">
              <a:lnSpc>
                <a:spcPct val="115000"/>
              </a:lnSpc>
              <a:spcBef>
                <a:spcPts val="600"/>
              </a:spcBef>
              <a:buFont typeface="Symbol" panose="05050102010706020507" pitchFamily="18" charset="2"/>
              <a:buChar char=""/>
              <a:tabLst>
                <a:tab pos="228600" algn="l"/>
                <a:tab pos="457200" algn="l"/>
              </a:tabLst>
            </a:pPr>
            <a:r>
              <a:rPr lang="en-US" sz="2000" dirty="0"/>
              <a:t>Product Owner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đến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quyết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Nhóm</a:t>
            </a:r>
            <a:r>
              <a:rPr lang="en-US" sz="2000" dirty="0"/>
              <a:t>?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  <a:tab pos="4572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88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</a:t>
            </a:r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62000" y="971550"/>
            <a:ext cx="6096000" cy="260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</a:pPr>
            <a:r>
              <a:rPr lang="en-US" sz="2000" dirty="0" err="1" smtClean="0"/>
              <a:t>Xác</a:t>
            </a:r>
            <a:r>
              <a:rPr lang="en-US" sz="2000" dirty="0" smtClean="0"/>
              <a:t> </a:t>
            </a:r>
            <a:r>
              <a:rPr lang="en-US" sz="2000" dirty="0" err="1" smtClean="0"/>
              <a:t>định</a:t>
            </a:r>
            <a:r>
              <a:rPr lang="en-US" sz="2000" dirty="0" smtClean="0"/>
              <a:t> Sprint Backlog</a:t>
            </a:r>
            <a:endParaRPr lang="en-US" sz="2000" dirty="0"/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  <a:tab pos="457200" algn="l"/>
              </a:tabLst>
            </a:pPr>
            <a:r>
              <a:rPr lang="en-US" dirty="0" err="1" smtClean="0"/>
              <a:t>Kỹ</a:t>
            </a:r>
            <a:r>
              <a:rPr lang="en-US" dirty="0" smtClean="0"/>
              <a:t> </a:t>
            </a:r>
            <a:r>
              <a:rPr lang="en-US" dirty="0" err="1" smtClean="0"/>
              <a:t>thuật</a:t>
            </a:r>
            <a:r>
              <a:rPr lang="en-US" dirty="0" smtClean="0"/>
              <a:t> </a:t>
            </a: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giác</a:t>
            </a:r>
            <a:r>
              <a:rPr lang="en-US" dirty="0" smtClean="0"/>
              <a:t> </a:t>
            </a:r>
            <a:r>
              <a:rPr lang="en-US" b="1" dirty="0" smtClean="0"/>
              <a:t>(</a:t>
            </a:r>
            <a:r>
              <a:rPr lang="en-US" b="1" dirty="0"/>
              <a:t>Gut Feeling</a:t>
            </a:r>
            <a:r>
              <a:rPr lang="en-US" b="1" dirty="0" smtClean="0"/>
              <a:t>)</a:t>
            </a:r>
            <a:r>
              <a:rPr lang="en-US" dirty="0" smtClean="0"/>
              <a:t>: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story </a:t>
            </a:r>
            <a:r>
              <a:rPr lang="en-US" dirty="0" err="1"/>
              <a:t>trong</a:t>
            </a:r>
            <a:r>
              <a:rPr lang="en-US" dirty="0"/>
              <a:t> Product Backlog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Sprint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.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Gut Feel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hay </a:t>
            </a:r>
            <a:r>
              <a:rPr lang="en-US" dirty="0" err="1"/>
              <a:t>những</a:t>
            </a:r>
            <a:r>
              <a:rPr lang="en-US" dirty="0"/>
              <a:t> Sprint </a:t>
            </a:r>
            <a:r>
              <a:rPr lang="en-US" dirty="0" err="1" smtClean="0"/>
              <a:t>ngắn</a:t>
            </a:r>
            <a:r>
              <a:rPr lang="en-US" dirty="0" smtClean="0"/>
              <a:t>.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  <a:tab pos="457200" algn="l"/>
              </a:tabLst>
            </a:pPr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</a:t>
            </a:r>
            <a:r>
              <a:rPr lang="en-US" b="1" dirty="0" err="1"/>
              <a:t>tốc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(Velocity) </a:t>
            </a:r>
            <a:endParaRPr lang="en-US" dirty="0"/>
          </a:p>
          <a:p>
            <a:pPr marL="342900" marR="0" lvl="0" indent="-34290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  <a:tab pos="457200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54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361950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</a:t>
            </a:r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1 – KỸ THUẬT TÍNH TOÁN TỐC ĐỘ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7700" y="919698"/>
            <a:ext cx="609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tốc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ước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endParaRPr lang="en-US" sz="1600" dirty="0"/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7" y="1352550"/>
            <a:ext cx="4810125" cy="175196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685800" y="3257550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Sprint =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*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 smtClean="0"/>
              <a:t>trung</a:t>
            </a:r>
            <a:endParaRPr lang="en-US" dirty="0" smtClean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 smtClean="0"/>
              <a:t>nhóm</a:t>
            </a:r>
            <a:endParaRPr lang="en-US" dirty="0" smtClean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=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/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44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361950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</a:t>
            </a:r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1 – KỸ THUẬT TÍNH TOÁN TỐC ĐỘ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7700" y="919698"/>
            <a:ext cx="7658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Sprint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20 </a:t>
            </a:r>
            <a:r>
              <a:rPr lang="en-US" dirty="0" err="1" smtClean="0"/>
              <a:t>điểm</a:t>
            </a:r>
            <a:endParaRPr 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3955018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Story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do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19,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20 </a:t>
            </a:r>
            <a:r>
              <a:rPr lang="en-US" dirty="0" err="1"/>
              <a:t>điểm</a:t>
            </a:r>
            <a:r>
              <a:rPr lang="en-US" dirty="0"/>
              <a:t>.</a:t>
            </a:r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419225"/>
            <a:ext cx="2402205" cy="2371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111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361950"/>
            <a:ext cx="716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</a:t>
            </a:r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1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7700" y="919698"/>
            <a:ext cx="7658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Owner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story Sprint</a:t>
            </a:r>
            <a:endParaRPr lang="en-US" sz="1600" dirty="0"/>
          </a:p>
        </p:txBody>
      </p:sp>
      <p:pic>
        <p:nvPicPr>
          <p:cNvPr id="8" name="Picture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792" y="1289030"/>
            <a:ext cx="2367915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647700" y="3128494"/>
            <a:ext cx="76581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PO </a:t>
            </a:r>
            <a:r>
              <a:rPr lang="en-US" dirty="0" err="1" smtClean="0"/>
              <a:t>muốn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Story D </a:t>
            </a:r>
            <a:r>
              <a:rPr lang="en-US" dirty="0" err="1" smtClean="0"/>
              <a:t>vào</a:t>
            </a:r>
            <a:r>
              <a:rPr lang="en-US" dirty="0"/>
              <a:t>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err="1" smtClean="0">
                <a:sym typeface="Wingdings" panose="05000000000000000000" pitchFamily="2" charset="2"/>
              </a:rPr>
              <a:t>có</a:t>
            </a:r>
            <a:r>
              <a:rPr lang="en-US" dirty="0" smtClean="0">
                <a:sym typeface="Wingdings" panose="05000000000000000000" pitchFamily="2" charset="2"/>
              </a:rPr>
              <a:t> 3 </a:t>
            </a:r>
            <a:r>
              <a:rPr lang="en-US" dirty="0" err="1" smtClean="0">
                <a:sym typeface="Wingdings" panose="05000000000000000000" pitchFamily="2" charset="2"/>
              </a:rPr>
              <a:t>lựa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chọn</a:t>
            </a:r>
            <a:endParaRPr lang="en-US" dirty="0" smtClean="0"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 err="1"/>
              <a:t>Ư</a:t>
            </a:r>
            <a:r>
              <a:rPr lang="en-US" sz="1600" dirty="0" err="1" smtClean="0"/>
              <a:t>u</a:t>
            </a:r>
            <a:r>
              <a:rPr lang="en-US" sz="1600" dirty="0" smtClean="0"/>
              <a:t> </a:t>
            </a:r>
            <a:r>
              <a:rPr lang="en-US" sz="1600" dirty="0" err="1"/>
              <a:t>tiên</a:t>
            </a:r>
            <a:r>
              <a:rPr lang="en-US" sz="1600" dirty="0"/>
              <a:t> </a:t>
            </a:r>
            <a:r>
              <a:rPr lang="en-US" sz="1600" dirty="0" err="1"/>
              <a:t>hóa</a:t>
            </a:r>
            <a:r>
              <a:rPr lang="en-US" sz="1600" dirty="0"/>
              <a:t> </a:t>
            </a:r>
            <a:r>
              <a:rPr lang="en-US" sz="1600" dirty="0" err="1"/>
              <a:t>lại</a:t>
            </a:r>
            <a:r>
              <a:rPr lang="en-US" sz="1600" dirty="0"/>
              <a:t> Product </a:t>
            </a:r>
            <a:r>
              <a:rPr lang="en-US" sz="1600" dirty="0" smtClean="0"/>
              <a:t>Backlog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 err="1" smtClean="0"/>
              <a:t>Thay</a:t>
            </a:r>
            <a:r>
              <a:rPr lang="en-US" sz="1600" dirty="0" smtClean="0"/>
              <a:t> </a:t>
            </a:r>
            <a:r>
              <a:rPr lang="en-US" sz="1600" dirty="0" err="1"/>
              <a:t>đổi</a:t>
            </a:r>
            <a:r>
              <a:rPr lang="en-US" sz="1600" dirty="0"/>
              <a:t> </a:t>
            </a:r>
            <a:r>
              <a:rPr lang="en-US" sz="1600" dirty="0" err="1"/>
              <a:t>phạm</a:t>
            </a:r>
            <a:r>
              <a:rPr lang="en-US" sz="1600" dirty="0"/>
              <a:t> </a:t>
            </a:r>
            <a:r>
              <a:rPr lang="en-US" sz="1600" dirty="0" smtClean="0"/>
              <a:t>vi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 smtClean="0"/>
              <a:t>Chia </a:t>
            </a:r>
            <a:r>
              <a:rPr lang="en-US" sz="1600" dirty="0" err="1"/>
              <a:t>nhỏ</a:t>
            </a:r>
            <a:r>
              <a:rPr lang="en-US" sz="1600" dirty="0"/>
              <a:t> story</a:t>
            </a:r>
          </a:p>
        </p:txBody>
      </p:sp>
    </p:spTree>
    <p:extLst>
      <p:ext uri="{BB962C8B-B14F-4D97-AF65-F5344CB8AC3E}">
        <p14:creationId xmlns:p14="http://schemas.microsoft.com/office/powerpoint/2010/main" val="36343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1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895350"/>
            <a:ext cx="5543550" cy="3674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5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990600" y="1200150"/>
            <a:ext cx="2209800" cy="2819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96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2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3276600" y="2495550"/>
            <a:ext cx="1752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1219200" y="13525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1</a:t>
            </a:r>
            <a:endParaRPr lang="en-US" sz="1600" dirty="0"/>
          </a:p>
        </p:txBody>
      </p:sp>
      <p:sp>
        <p:nvSpPr>
          <p:cNvPr id="53" name="Rounded Rectangle 52"/>
          <p:cNvSpPr/>
          <p:nvPr/>
        </p:nvSpPr>
        <p:spPr>
          <a:xfrm>
            <a:off x="1219200" y="18859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2</a:t>
            </a:r>
            <a:endParaRPr lang="en-US" sz="1600" dirty="0"/>
          </a:p>
        </p:txBody>
      </p:sp>
      <p:sp>
        <p:nvSpPr>
          <p:cNvPr id="54" name="Rounded Rectangle 53"/>
          <p:cNvSpPr/>
          <p:nvPr/>
        </p:nvSpPr>
        <p:spPr>
          <a:xfrm>
            <a:off x="1219200" y="24193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3</a:t>
            </a:r>
            <a:endParaRPr lang="en-US" sz="1600" dirty="0"/>
          </a:p>
        </p:txBody>
      </p:sp>
      <p:sp>
        <p:nvSpPr>
          <p:cNvPr id="55" name="Rounded Rectangle 54"/>
          <p:cNvSpPr/>
          <p:nvPr/>
        </p:nvSpPr>
        <p:spPr>
          <a:xfrm>
            <a:off x="1219200" y="29527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4</a:t>
            </a:r>
            <a:endParaRPr lang="en-US" sz="1600" dirty="0"/>
          </a:p>
        </p:txBody>
      </p:sp>
      <p:sp>
        <p:nvSpPr>
          <p:cNvPr id="56" name="Rounded Rectangle 55"/>
          <p:cNvSpPr/>
          <p:nvPr/>
        </p:nvSpPr>
        <p:spPr>
          <a:xfrm>
            <a:off x="1219200" y="34861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5</a:t>
            </a:r>
            <a:endParaRPr lang="en-US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914400" y="87263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  </a:t>
            </a:r>
            <a:r>
              <a:rPr lang="en-US" b="1" dirty="0" smtClean="0">
                <a:solidFill>
                  <a:schemeClr val="accent5">
                    <a:lumMod val="75000"/>
                  </a:schemeClr>
                </a:solidFill>
              </a:rPr>
              <a:t>SPRINT BACKLOG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" name="Snip Single Corner Rectangle 25"/>
          <p:cNvSpPr/>
          <p:nvPr/>
        </p:nvSpPr>
        <p:spPr>
          <a:xfrm>
            <a:off x="5257800" y="13525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7" name="Snip Single Corner Rectangle 26"/>
          <p:cNvSpPr/>
          <p:nvPr/>
        </p:nvSpPr>
        <p:spPr>
          <a:xfrm>
            <a:off x="6172200" y="13525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8" name="Snip Single Corner Rectangle 27"/>
          <p:cNvSpPr/>
          <p:nvPr/>
        </p:nvSpPr>
        <p:spPr>
          <a:xfrm>
            <a:off x="7086600" y="13525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9" name="Snip Single Corner Rectangle 28"/>
          <p:cNvSpPr/>
          <p:nvPr/>
        </p:nvSpPr>
        <p:spPr>
          <a:xfrm>
            <a:off x="5257800" y="18859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0" name="Snip Single Corner Rectangle 29"/>
          <p:cNvSpPr/>
          <p:nvPr/>
        </p:nvSpPr>
        <p:spPr>
          <a:xfrm>
            <a:off x="6172200" y="18859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1" name="Snip Single Corner Rectangle 30"/>
          <p:cNvSpPr/>
          <p:nvPr/>
        </p:nvSpPr>
        <p:spPr>
          <a:xfrm>
            <a:off x="7086600" y="18859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2" name="Snip Single Corner Rectangle 31"/>
          <p:cNvSpPr/>
          <p:nvPr/>
        </p:nvSpPr>
        <p:spPr>
          <a:xfrm>
            <a:off x="5257800" y="24193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3" name="Snip Single Corner Rectangle 32"/>
          <p:cNvSpPr/>
          <p:nvPr/>
        </p:nvSpPr>
        <p:spPr>
          <a:xfrm>
            <a:off x="6172200" y="24193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4" name="Snip Single Corner Rectangle 33"/>
          <p:cNvSpPr/>
          <p:nvPr/>
        </p:nvSpPr>
        <p:spPr>
          <a:xfrm>
            <a:off x="7086600" y="24193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5" name="Snip Single Corner Rectangle 34"/>
          <p:cNvSpPr/>
          <p:nvPr/>
        </p:nvSpPr>
        <p:spPr>
          <a:xfrm>
            <a:off x="5257800" y="29527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6" name="Snip Single Corner Rectangle 35"/>
          <p:cNvSpPr/>
          <p:nvPr/>
        </p:nvSpPr>
        <p:spPr>
          <a:xfrm>
            <a:off x="6172200" y="29527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49" name="Snip Single Corner Rectangle 48"/>
          <p:cNvSpPr/>
          <p:nvPr/>
        </p:nvSpPr>
        <p:spPr>
          <a:xfrm>
            <a:off x="7086600" y="29527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51" name="Snip Single Corner Rectangle 50"/>
          <p:cNvSpPr/>
          <p:nvPr/>
        </p:nvSpPr>
        <p:spPr>
          <a:xfrm>
            <a:off x="5257800" y="34861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59" name="Snip Single Corner Rectangle 58"/>
          <p:cNvSpPr/>
          <p:nvPr/>
        </p:nvSpPr>
        <p:spPr>
          <a:xfrm>
            <a:off x="6172200" y="34861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60" name="Snip Single Corner Rectangle 59"/>
          <p:cNvSpPr/>
          <p:nvPr/>
        </p:nvSpPr>
        <p:spPr>
          <a:xfrm>
            <a:off x="7086600" y="34861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99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096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2 </a:t>
            </a:r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- TASK </a:t>
            </a:r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BOARD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047750"/>
            <a:ext cx="8077200" cy="3505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047750"/>
            <a:ext cx="220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1"/>
                </a:solidFill>
              </a:rPr>
              <a:t>COMMITTED</a:t>
            </a:r>
          </a:p>
          <a:p>
            <a:pPr algn="ctr"/>
            <a:r>
              <a:rPr lang="en-US" sz="2400" b="1" dirty="0" smtClean="0">
                <a:solidFill>
                  <a:schemeClr val="accent1"/>
                </a:solidFill>
              </a:rPr>
              <a:t>BACKLOG ITEM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18859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1</a:t>
            </a:r>
            <a:endParaRPr lang="en-US"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914400" y="24193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2</a:t>
            </a:r>
            <a:endParaRPr lang="en-US"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914400" y="29527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3</a:t>
            </a:r>
            <a:endParaRPr lang="en-US" sz="1600" dirty="0"/>
          </a:p>
        </p:txBody>
      </p:sp>
      <p:sp>
        <p:nvSpPr>
          <p:cNvPr id="12" name="Rounded Rectangle 11"/>
          <p:cNvSpPr/>
          <p:nvPr/>
        </p:nvSpPr>
        <p:spPr>
          <a:xfrm>
            <a:off x="914400" y="34861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4</a:t>
            </a:r>
            <a:endParaRPr lang="en-US" sz="1600" dirty="0"/>
          </a:p>
        </p:txBody>
      </p:sp>
      <p:sp>
        <p:nvSpPr>
          <p:cNvPr id="13" name="Rounded Rectangle 12"/>
          <p:cNvSpPr/>
          <p:nvPr/>
        </p:nvSpPr>
        <p:spPr>
          <a:xfrm>
            <a:off x="914400" y="4019550"/>
            <a:ext cx="1752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STORY 5</a:t>
            </a:r>
            <a:endParaRPr lang="en-US" sz="1600" dirty="0"/>
          </a:p>
        </p:txBody>
      </p:sp>
      <p:sp>
        <p:nvSpPr>
          <p:cNvPr id="15" name="Snip Single Corner Rectangle 14"/>
          <p:cNvSpPr/>
          <p:nvPr/>
        </p:nvSpPr>
        <p:spPr>
          <a:xfrm>
            <a:off x="3124200" y="18859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17" name="Snip Single Corner Rectangle 16"/>
          <p:cNvSpPr/>
          <p:nvPr/>
        </p:nvSpPr>
        <p:spPr>
          <a:xfrm>
            <a:off x="4038600" y="18859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18" name="Snip Single Corner Rectangle 17"/>
          <p:cNvSpPr/>
          <p:nvPr/>
        </p:nvSpPr>
        <p:spPr>
          <a:xfrm>
            <a:off x="4953000" y="18859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19" name="Snip Single Corner Rectangle 18"/>
          <p:cNvSpPr/>
          <p:nvPr/>
        </p:nvSpPr>
        <p:spPr>
          <a:xfrm>
            <a:off x="3124200" y="24193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0" name="Snip Single Corner Rectangle 19"/>
          <p:cNvSpPr/>
          <p:nvPr/>
        </p:nvSpPr>
        <p:spPr>
          <a:xfrm>
            <a:off x="4038600" y="24193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1" name="Snip Single Corner Rectangle 20"/>
          <p:cNvSpPr/>
          <p:nvPr/>
        </p:nvSpPr>
        <p:spPr>
          <a:xfrm>
            <a:off x="4953000" y="24193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2" name="Snip Single Corner Rectangle 21"/>
          <p:cNvSpPr/>
          <p:nvPr/>
        </p:nvSpPr>
        <p:spPr>
          <a:xfrm>
            <a:off x="3124200" y="29527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3" name="Snip Single Corner Rectangle 22"/>
          <p:cNvSpPr/>
          <p:nvPr/>
        </p:nvSpPr>
        <p:spPr>
          <a:xfrm>
            <a:off x="4038600" y="29527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4" name="Snip Single Corner Rectangle 23"/>
          <p:cNvSpPr/>
          <p:nvPr/>
        </p:nvSpPr>
        <p:spPr>
          <a:xfrm>
            <a:off x="4953000" y="29527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5" name="Snip Single Corner Rectangle 24"/>
          <p:cNvSpPr/>
          <p:nvPr/>
        </p:nvSpPr>
        <p:spPr>
          <a:xfrm>
            <a:off x="3124200" y="34861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6" name="Snip Single Corner Rectangle 25"/>
          <p:cNvSpPr/>
          <p:nvPr/>
        </p:nvSpPr>
        <p:spPr>
          <a:xfrm>
            <a:off x="4038600" y="34861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7" name="Snip Single Corner Rectangle 26"/>
          <p:cNvSpPr/>
          <p:nvPr/>
        </p:nvSpPr>
        <p:spPr>
          <a:xfrm>
            <a:off x="4953000" y="34861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8" name="Snip Single Corner Rectangle 27"/>
          <p:cNvSpPr/>
          <p:nvPr/>
        </p:nvSpPr>
        <p:spPr>
          <a:xfrm>
            <a:off x="3124200" y="40195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29" name="Snip Single Corner Rectangle 28"/>
          <p:cNvSpPr/>
          <p:nvPr/>
        </p:nvSpPr>
        <p:spPr>
          <a:xfrm>
            <a:off x="4038600" y="40195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0" name="Snip Single Corner Rectangle 29"/>
          <p:cNvSpPr/>
          <p:nvPr/>
        </p:nvSpPr>
        <p:spPr>
          <a:xfrm>
            <a:off x="4953000" y="4019550"/>
            <a:ext cx="762000" cy="381000"/>
          </a:xfrm>
          <a:prstGeom prst="snip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Tasks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886075" y="1424285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NOT STARTED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62600" y="1424285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C000"/>
                </a:solidFill>
              </a:rPr>
              <a:t>IN PROGRESS</a:t>
            </a:r>
            <a:endParaRPr lang="en-US" sz="2400" b="1" dirty="0">
              <a:solidFill>
                <a:srgbClr val="FFC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67600" y="1428750"/>
            <a:ext cx="157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92D050"/>
                </a:solidFill>
              </a:rPr>
              <a:t>DONE</a:t>
            </a:r>
            <a:endParaRPr lang="en-US" sz="24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27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2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" y="819150"/>
            <a:ext cx="6500813" cy="377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1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2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895350"/>
            <a:ext cx="6872288" cy="376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01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2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6150"/>
            <a:ext cx="60198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1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SPRINT PLANNING PART 2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" y="904194"/>
            <a:ext cx="6729413" cy="375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17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MỘT SỐ CHÚ Ý</a:t>
            </a:r>
            <a:endParaRPr lang="en-US" sz="2000" spc="-150" dirty="0">
              <a:solidFill>
                <a:schemeClr val="accent5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971550"/>
            <a:ext cx="7924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Story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ràng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Sprint Backlog.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hiểu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chung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ràng</a:t>
            </a:r>
            <a:r>
              <a:rPr lang="en-US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-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smtClean="0"/>
              <a:t>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,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ai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smtClean="0"/>
              <a:t>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40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solidFill>
                  <a:srgbClr val="4BACC6">
                    <a:lumMod val="75000"/>
                  </a:srgbClr>
                </a:solidFill>
                <a:latin typeface="Arial" pitchFamily="34" charset="0"/>
                <a:cs typeface="Arial" pitchFamily="34" charset="0"/>
              </a:rPr>
              <a:t>CÁCH LÀM THỰC TẾ ĐANG ÁP DỤNG</a:t>
            </a:r>
            <a:endParaRPr lang="en-US" sz="2000" spc="-150" dirty="0">
              <a:solidFill>
                <a:srgbClr val="4BACC6">
                  <a:lumMod val="75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971550"/>
            <a:ext cx="7924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Chia </a:t>
            </a:r>
            <a:r>
              <a:rPr lang="en-US" dirty="0" err="1" smtClean="0">
                <a:solidFill>
                  <a:prstClr val="black"/>
                </a:solidFill>
              </a:rPr>
              <a:t>nhỏ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các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chức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năng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lớn</a:t>
            </a:r>
            <a:r>
              <a:rPr lang="en-US" dirty="0" smtClean="0">
                <a:solidFill>
                  <a:prstClr val="black"/>
                </a:solidFill>
              </a:rPr>
              <a:t> (epic) </a:t>
            </a:r>
            <a:r>
              <a:rPr lang="en-US" dirty="0" err="1" smtClean="0">
                <a:solidFill>
                  <a:prstClr val="black"/>
                </a:solidFill>
              </a:rPr>
              <a:t>thành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các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chứ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năng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nhỏ</a:t>
            </a:r>
            <a:r>
              <a:rPr lang="en-US" dirty="0" smtClean="0">
                <a:solidFill>
                  <a:prstClr val="black"/>
                </a:solidFill>
              </a:rPr>
              <a:t> (story), </a:t>
            </a:r>
            <a:r>
              <a:rPr lang="en-US" dirty="0" err="1" smtClean="0">
                <a:solidFill>
                  <a:prstClr val="black"/>
                </a:solidFill>
              </a:rPr>
              <a:t>làm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rõ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giải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pháp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cho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các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chức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năng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sắp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thực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hiện</a:t>
            </a:r>
            <a:r>
              <a:rPr lang="en-US" dirty="0" smtClean="0">
                <a:solidFill>
                  <a:prstClr val="black"/>
                </a:solidFill>
              </a:rPr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>
                <a:solidFill>
                  <a:prstClr val="black"/>
                </a:solidFill>
              </a:rPr>
              <a:t>Tính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toán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số</a:t>
            </a:r>
            <a:r>
              <a:rPr lang="en-US" dirty="0" smtClean="0">
                <a:solidFill>
                  <a:prstClr val="black"/>
                </a:solidFill>
              </a:rPr>
              <a:t> MD </a:t>
            </a:r>
            <a:r>
              <a:rPr lang="en-US" dirty="0" err="1" smtClean="0">
                <a:solidFill>
                  <a:prstClr val="black"/>
                </a:solidFill>
              </a:rPr>
              <a:t>của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các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thành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viên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 Ra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tổng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nỗ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lực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của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dự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án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 (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kiểm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thử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,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phát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triển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,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giải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sym typeface="Wingdings" pitchFamily="2" charset="2"/>
              </a:rPr>
              <a:t>pháp</a:t>
            </a:r>
            <a:r>
              <a:rPr lang="en-US" dirty="0" smtClean="0">
                <a:solidFill>
                  <a:prstClr val="black"/>
                </a:solidFill>
                <a:sym typeface="Wingdings" pitchFamily="2" charset="2"/>
              </a:rPr>
              <a:t>).</a:t>
            </a: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Chia User Story </a:t>
            </a:r>
            <a:r>
              <a:rPr lang="en-US" dirty="0" err="1" smtClean="0">
                <a:solidFill>
                  <a:prstClr val="black"/>
                </a:solidFill>
              </a:rPr>
              <a:t>thành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các</a:t>
            </a:r>
            <a:r>
              <a:rPr lang="en-US" dirty="0" smtClean="0">
                <a:solidFill>
                  <a:prstClr val="black"/>
                </a:solidFill>
              </a:rPr>
              <a:t> task </a:t>
            </a:r>
            <a:r>
              <a:rPr lang="en-US" dirty="0" err="1" smtClean="0">
                <a:solidFill>
                  <a:prstClr val="black"/>
                </a:solidFill>
              </a:rPr>
              <a:t>để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ước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lượng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nỗ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lực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cho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từng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smtClean="0">
                <a:solidFill>
                  <a:prstClr val="black"/>
                </a:solidFill>
              </a:rPr>
              <a:t>Stories.</a:t>
            </a:r>
            <a:endParaRPr lang="en-US" dirty="0" smtClean="0">
              <a:solidFill>
                <a:prstClr val="black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 smtClean="0">
                <a:solidFill>
                  <a:prstClr val="black"/>
                </a:solidFill>
              </a:rPr>
              <a:t>Phân</a:t>
            </a:r>
            <a:r>
              <a:rPr lang="en-US" dirty="0" smtClean="0">
                <a:solidFill>
                  <a:prstClr val="black"/>
                </a:solidFill>
              </a:rPr>
              <a:t>/</a:t>
            </a:r>
            <a:r>
              <a:rPr lang="en-US" dirty="0" err="1" smtClean="0">
                <a:solidFill>
                  <a:prstClr val="black"/>
                </a:solidFill>
              </a:rPr>
              <a:t>nhận</a:t>
            </a:r>
            <a:r>
              <a:rPr lang="en-US" dirty="0" smtClean="0">
                <a:solidFill>
                  <a:prstClr val="black"/>
                </a:solidFill>
              </a:rPr>
              <a:t> task </a:t>
            </a:r>
            <a:r>
              <a:rPr lang="en-US" dirty="0" err="1" smtClean="0">
                <a:solidFill>
                  <a:prstClr val="black"/>
                </a:solidFill>
              </a:rPr>
              <a:t>trên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từng</a:t>
            </a:r>
            <a:r>
              <a:rPr lang="en-US" dirty="0" smtClean="0">
                <a:solidFill>
                  <a:prstClr val="black"/>
                </a:solidFill>
              </a:rPr>
              <a:t> User Story </a:t>
            </a:r>
            <a:r>
              <a:rPr lang="en-US" dirty="0" err="1" smtClean="0">
                <a:solidFill>
                  <a:prstClr val="black"/>
                </a:solidFill>
              </a:rPr>
              <a:t>của</a:t>
            </a:r>
            <a:r>
              <a:rPr lang="en-US" dirty="0" smtClean="0">
                <a:solidFill>
                  <a:prstClr val="black"/>
                </a:solidFill>
              </a:rPr>
              <a:t> Product Backlog </a:t>
            </a:r>
            <a:r>
              <a:rPr lang="en-US" dirty="0" err="1" smtClean="0">
                <a:solidFill>
                  <a:prstClr val="black"/>
                </a:solidFill>
              </a:rPr>
              <a:t>theo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thứ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tự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ưu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tiên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cho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tới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khi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hết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nỗ</a:t>
            </a: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 err="1" smtClean="0">
                <a:solidFill>
                  <a:prstClr val="black"/>
                </a:solidFill>
              </a:rPr>
              <a:t>lực</a:t>
            </a:r>
            <a:r>
              <a:rPr lang="en-US" dirty="0" smtClean="0">
                <a:solidFill>
                  <a:prstClr val="black"/>
                </a:solidFill>
              </a:rPr>
              <a:t>.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350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38200" y="361950"/>
            <a:ext cx="61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spc="-150" dirty="0" smtClean="0">
                <a:solidFill>
                  <a:srgbClr val="4BACC6">
                    <a:lumMod val="75000"/>
                  </a:srgbClr>
                </a:solidFill>
                <a:latin typeface="Arial" pitchFamily="34" charset="0"/>
                <a:cs typeface="Arial" pitchFamily="34" charset="0"/>
              </a:rPr>
              <a:t>CÁCH LÀM THỰC TẾ ĐANG ÁP DỤNG</a:t>
            </a:r>
            <a:endParaRPr lang="en-US" sz="2000" spc="-150" dirty="0">
              <a:solidFill>
                <a:srgbClr val="4BACC6">
                  <a:lumMod val="75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465461"/>
              </p:ext>
            </p:extLst>
          </p:nvPr>
        </p:nvGraphicFramePr>
        <p:xfrm>
          <a:off x="457200" y="980445"/>
          <a:ext cx="8382000" cy="3413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419519"/>
                <a:gridCol w="594765"/>
                <a:gridCol w="414716"/>
                <a:gridCol w="714124"/>
                <a:gridCol w="679731"/>
                <a:gridCol w="815945"/>
                <a:gridCol w="457200"/>
                <a:gridCol w="381000"/>
                <a:gridCol w="304800"/>
                <a:gridCol w="381000"/>
                <a:gridCol w="762000"/>
              </a:tblGrid>
              <a:tr h="18563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+mn-lt"/>
                        </a:rPr>
                        <a:t>STT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effectLst/>
                          <a:latin typeface="+mn-lt"/>
                        </a:rPr>
                        <a:t>Tên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vi-VN" sz="1400" b="1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Độ ưu tiên</a:t>
                      </a:r>
                      <a:endParaRPr lang="vi-V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Điểm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vi-VN" sz="1400" b="1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Người thực hiện</a:t>
                      </a:r>
                      <a:endParaRPr lang="vi-V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effectLst/>
                          <a:latin typeface="Calibri" pitchFamily="34" charset="0"/>
                          <a:cs typeface="Calibri" pitchFamily="34" charset="0"/>
                        </a:rPr>
                        <a:t>Nỗ</a:t>
                      </a:r>
                      <a:r>
                        <a:rPr lang="en-US" sz="1400" b="1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  <a:latin typeface="Calibri" pitchFamily="34" charset="0"/>
                          <a:cs typeface="Calibri" pitchFamily="34" charset="0"/>
                        </a:rPr>
                        <a:t>lực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Deadline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</a:tr>
              <a:tr h="1856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GP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PT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KT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Tổng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GP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PT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KT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126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latin typeface="+mn-lt"/>
                        </a:rPr>
                        <a:t>1</a:t>
                      </a:r>
                      <a:endParaRPr lang="en-US" sz="1400" b="0" dirty="0"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400" b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Cập nhật trường thông tin, thay đổi màn hình hiển thị chi tiết KH360</a:t>
                      </a:r>
                      <a:endParaRPr lang="vi-V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ThuyPV4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DucLN1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AnhNTK17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7.25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0.25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02/03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371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400" b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Cập nhật trường thông tin, thay đổi màn hình hiển thị chi tiết KHĐM</a:t>
                      </a:r>
                      <a:endParaRPr lang="vi-VN" sz="14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ThuyPV4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DucLN1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AnhNTK17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5.25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0.25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06/03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3888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400" b="0" u="none" strike="noStrike">
                          <a:effectLst/>
                          <a:latin typeface="Calibri" pitchFamily="34" charset="0"/>
                          <a:cs typeface="Calibri" pitchFamily="34" charset="0"/>
                        </a:rPr>
                        <a:t>Phân loại khách hàng tiềm năng</a:t>
                      </a:r>
                      <a:endParaRPr lang="vi-VN" sz="1400" b="0" i="0" u="none" strike="noStrike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ThuyPV4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DucLN1</a:t>
                      </a:r>
                      <a:br>
                        <a:rPr lang="en-US" sz="1400" b="0" u="none" strike="noStrike" dirty="0">
                          <a:effectLst/>
                          <a:latin typeface="+mn-lt"/>
                        </a:rPr>
                      </a:b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DucNV18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LoanNN1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11/03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3712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400" b="0" u="none" strike="noStrike" dirty="0">
                          <a:effectLst/>
                          <a:latin typeface="Calibri" pitchFamily="34" charset="0"/>
                          <a:cs typeface="Calibri" pitchFamily="34" charset="0"/>
                        </a:rPr>
                        <a:t>Bổ sung chức năng map hợp đồng với chiến dịch</a:t>
                      </a:r>
                      <a:endParaRPr lang="vi-V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ThuyPV4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DucNV18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AnhNTK17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05/03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326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Chỉnh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sửa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lại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template </a:t>
                      </a:r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báo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cáo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PL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ThuyPV4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DucNV18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LoanNN1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1.75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0.25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0.5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06/03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  <a:tr h="2508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Báo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cáo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phát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triển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khách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hàng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sz="1400" b="0" u="none" strike="noStrike" dirty="0" err="1">
                          <a:effectLst/>
                          <a:latin typeface="+mn-lt"/>
                        </a:rPr>
                        <a:t>theo</a:t>
                      </a:r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 CN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ThuyPV4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DucNV18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AnhNTK17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3.25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0.25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u="none" strike="noStrike" dirty="0">
                          <a:effectLst/>
                          <a:latin typeface="+mn-lt"/>
                        </a:rPr>
                        <a:t>27/02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175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1752600" y="1428750"/>
            <a:ext cx="5105400" cy="2362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500" b="1" kern="10" smtClean="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/>
              </a:rPr>
              <a:t>Q &amp; 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42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879</Words>
  <Application>Microsoft Office PowerPoint</Application>
  <PresentationFormat>On-screen Show (16:9)</PresentationFormat>
  <Paragraphs>220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thuypv4</cp:lastModifiedBy>
  <cp:revision>185</cp:revision>
  <dcterms:created xsi:type="dcterms:W3CDTF">2013-07-16T09:41:47Z</dcterms:created>
  <dcterms:modified xsi:type="dcterms:W3CDTF">2015-03-02T09:22:04Z</dcterms:modified>
</cp:coreProperties>
</file>