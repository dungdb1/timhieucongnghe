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344" r:id="rId2"/>
    <p:sldId id="269" r:id="rId3"/>
    <p:sldId id="270" r:id="rId4"/>
    <p:sldId id="365" r:id="rId5"/>
    <p:sldId id="337" r:id="rId6"/>
    <p:sldId id="319" r:id="rId7"/>
    <p:sldId id="366" r:id="rId8"/>
    <p:sldId id="346" r:id="rId9"/>
    <p:sldId id="358" r:id="rId10"/>
    <p:sldId id="345" r:id="rId11"/>
    <p:sldId id="356" r:id="rId12"/>
    <p:sldId id="325" r:id="rId13"/>
    <p:sldId id="360" r:id="rId14"/>
    <p:sldId id="289" r:id="rId15"/>
    <p:sldId id="271" r:id="rId16"/>
    <p:sldId id="297" r:id="rId17"/>
    <p:sldId id="299" r:id="rId18"/>
    <p:sldId id="300" r:id="rId19"/>
    <p:sldId id="302" r:id="rId20"/>
    <p:sldId id="307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FFCC"/>
    <a:srgbClr val="CCECFF"/>
    <a:srgbClr val="FF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323" autoAdjust="0"/>
  </p:normalViewPr>
  <p:slideViewPr>
    <p:cSldViewPr>
      <p:cViewPr>
        <p:scale>
          <a:sx n="70" d="100"/>
          <a:sy n="70" d="100"/>
        </p:scale>
        <p:origin x="-136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75" units="cm"/>
          <inkml:channel name="Y" type="integer" max="7256" units="cm"/>
          <inkml:channel name="F" type="integer" max="255" units="dev"/>
        </inkml:traceFormat>
        <inkml:channelProperties>
          <inkml:channelProperty channel="X" name="resolution" value="393.67676" units="1/cm"/>
          <inkml:channelProperty channel="Y" name="resolution" value="393.66321" units="1/cm"/>
          <inkml:channelProperty channel="F" name="resolution" value="INF" units="1/dev"/>
        </inkml:channelProperties>
      </inkml:inkSource>
      <inkml:timestamp xml:id="ts0" timeString="2007-09-24T21:50:28.406"/>
    </inkml:context>
    <inkml:brush xml:id="br0">
      <inkml:brushProperty name="width" value="0.07938" units="cm"/>
      <inkml:brushProperty name="height" value="0.07938" units="cm"/>
      <inkml:brushProperty name="fitToCurve" value="1"/>
    </inkml:brush>
  </inkml:definitions>
  <inkml:trace contextRef="#ctx0" brushRef="#br0">210 129 53,'0'9'34,"-14"0"-2,5-5-7,9 9-4,-18-17-6,14 13-4,-9-14-2,8 10-2,-13-14-1,9 9-1,0-13 0,-4 4-2,0-4 0,-1 0-1,1 0 0,8-1 0,-3-3 0,8-1-1,4 1 0,5 8 0,4 0-1,5-4 1,0 13-1,4 0 0,1 9 1,-6 4-1,-8 9 0,0 13 1,-9-4-1,0 0 1,-13-5-1,-5 13 1,0-12-1,-4-1 1,-5-8 0,0-5 0,5-13 0,9 0 0,-1-13 0,5-5 0,5-8-1,8-1 1,5 1-1,5 0 0,8 4 0,-9 0 0,10 9 0,-5 4 0,-1 4 0,-3 10 0,-5-1 0,-9 9 0,4 1 1,-8 3-1,-5 1-1,-5-5 0,14-4-2,-13-1-1,13 6-4,-9-28-13,9 14-22,13 0 0,-4 0 0,14 0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75" units="cm"/>
          <inkml:channel name="Y" type="integer" max="7256" units="cm"/>
          <inkml:channel name="F" type="integer" max="255" units="dev"/>
        </inkml:traceFormat>
        <inkml:channelProperties>
          <inkml:channelProperty channel="X" name="resolution" value="393.67676" units="1/cm"/>
          <inkml:channelProperty channel="Y" name="resolution" value="393.66321" units="1/cm"/>
          <inkml:channelProperty channel="F" name="resolution" value="INF" units="1/dev"/>
        </inkml:channelProperties>
      </inkml:inkSource>
      <inkml:timestamp xml:id="ts0" timeString="2007-09-24T21:50:29.281"/>
    </inkml:context>
    <inkml:brush xml:id="br0">
      <inkml:brushProperty name="width" value="0.07938" units="cm"/>
      <inkml:brushProperty name="height" value="0.07938" units="cm"/>
      <inkml:brushProperty name="fitToCurve" value="1"/>
    </inkml:brush>
  </inkml:definitions>
  <inkml:trace contextRef="#ctx0" brushRef="#br0">164 165 59,'-14'-4'36,"5"-5"0,9 13-8,-14-22-5,14 23-6,-23-23-5,23 9-3,-13-14-2,4 10-1,4-10-1,0 10-2,-8-5-1,13 9 0,0-5-1,0 10-1,13 4 0,-3 9 0,12 4 1,-8 1-1,4-1 0,1 5 0,-10 5 1,0 4-2,-9-5 2,-9 1-1,0-1 1,-10-4 0,-4 0 0,-8-4 0,8-10 0,0-4 0,5-13 0,-1-1-1,19-13 0,9 0 0,5-9 0,18 5 0,-4-1 0,8 10 0,-4 4 0,0 9 0,-14 13 0,-4 5 0,-10 9 0,-8 14 0,-14-1 0,-1 5 0,-3-9 0,-6 5 0,5-5 0,1-14-1,8 1-1,0-19-3,14 5-2,-9-22-12,9 8-25,14 5 1,4-18 0,0 9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75" units="cm"/>
          <inkml:channel name="Y" type="integer" max="7256" units="cm"/>
          <inkml:channel name="F" type="integer" max="255" units="dev"/>
        </inkml:traceFormat>
        <inkml:channelProperties>
          <inkml:channelProperty channel="X" name="resolution" value="393.67676" units="1/cm"/>
          <inkml:channelProperty channel="Y" name="resolution" value="393.66321" units="1/cm"/>
          <inkml:channelProperty channel="F" name="resolution" value="INF" units="1/dev"/>
        </inkml:channelProperties>
      </inkml:inkSource>
      <inkml:timestamp xml:id="ts0" timeString="2007-09-24T21:50:30.203"/>
    </inkml:context>
    <inkml:brush xml:id="br0">
      <inkml:brushProperty name="width" value="0.07938" units="cm"/>
      <inkml:brushProperty name="height" value="0.07938" units="cm"/>
      <inkml:brushProperty name="fitToCurve" value="1"/>
    </inkml:brush>
  </inkml:definitions>
  <inkml:trace contextRef="#ctx0" brushRef="#br0">84 94 46,'0'9'38,"-13"0"1,8-4 0,-4 8-12,-9-22-10,18 23-6,-9-23-4,5 4-3,4-8 0,0-5-3,9 0 1,0 0-2,4 0 1,1 0 0,8 5-1,-8 8 1,4 5-1,-14 9 0,10 0 1,-10 9-1,-8 0 1,-1 0 0,-4 0 0,-4 0 0,-5 0 1,0-5-1,0-8 1,0-1 0,0-8-1,9-1 1,-5-8-1,9-1-1,5-4 1,10 0-1,-6 9 0,10 0 0,8 9 0,-4 5 0,-4 4 0,4 4 0,-9 10 0,0-5 0,0-5 0,-9 5 0,0-5 0,-5-8 0,-4 4 0,5-9-2,-5 0-1,0-5-1,4 10-6,-8-19-22,8 6-12,1-6 1,-1-4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75" units="cm"/>
          <inkml:channel name="Y" type="integer" max="7256" units="cm"/>
          <inkml:channel name="F" type="integer" max="255" units="dev"/>
        </inkml:traceFormat>
        <inkml:channelProperties>
          <inkml:channelProperty channel="X" name="resolution" value="393.67676" units="1/cm"/>
          <inkml:channelProperty channel="Y" name="resolution" value="393.66321" units="1/cm"/>
          <inkml:channelProperty channel="F" name="resolution" value="INF" units="1/dev"/>
        </inkml:channelProperties>
      </inkml:inkSource>
      <inkml:timestamp xml:id="ts0" timeString="2007-09-24T21:51:11.625"/>
    </inkml:context>
    <inkml:brush xml:id="br0">
      <inkml:brushProperty name="width" value="0.07938" units="cm"/>
      <inkml:brushProperty name="height" value="0.07938" units="cm"/>
      <inkml:brushProperty name="fitToCurve" value="1"/>
    </inkml:brush>
  </inkml:definitions>
  <inkml:trace contextRef="#ctx0" brushRef="#br0">139 838 68,'-14'18'36,"-4"0"-4,-4-14-8,17 14-5,-17-18-5,22 18-4,-14-18-2,10 0-2,0 0-1,4 9-1,-5-9-1,5 0 0,0 0-1,0 0 0,0 0 0,5 0-1,-5 0 1,8-9 0,1 9-1,5-9 1,8 0 0,10-4-1,8-14 1,14 5 0,4-10-1,10-4 0,8-9-1,5 1 0,4-10 0,1 5 0,-1-5 0,0 5 0,-4-5 0,0 0 0,0 5 0,-5-5 0,-4 5 0,0 4 0,-5 9 0,-9 5 0,-8 4 0,-1 4 0,-4 10 0,-23-1 0,1 10 0,-5-1 0,0 1 0,-14-5 0,1 9 0,-1 0 0,-4 0 0,0 0 0,0 0 0,0 0 0,0 0 0,-4 0 0,4 0 0,-5 0 0,1 9 0,-5-5 0,-5 1 0,1 4 0,-10 4 0,-8 5 0,0 9 0,-14 13 0,-5 10 0,-13 8 0,-4 14 0,-14 8 0,-8 14 0,-6 5 0,-4 0 0,-4 4 0,0 0 0,9-14 0,8-3 0,14-15 0,14-8 0,9-18 0,22-9 0,9-14 0,13-13 0,5-9 0,9-4 0,5-10 0,-5 10 0,4-5-1,1 0-5,-10-9-5,14 18-20,-9-9-13,-4 0 1,-1 0 0</inkml:trace>
  <inkml:trace contextRef="#ctx0" brushRef="#br0" timeOffset="1109">125 923 78,'-4'0'28,"-1"-9"-3,5 9-3,-9-9-5,14 14-3,-14-14-4,9 13-1,-5-13-2,1 18-2,-1-18-1,1 18 0,-1-9-1,1 0-1,-1 9 0,1 0 0,-5 0-1,0 0 1,0 9-1,0 0 0,0-5 0,0 10 0,5 8 0,-5-4 0,9 4 0,0 1 0,4 4 0,5 4-1,5-9 1,3 5 0,6-9-1,4 4 1,4-13 0,1-4-1,4-1 1,0-8 0,-9-5-1,4-5 0,-9 1 1,1-1-1,-10 1-1,-4-5-1,0 4 0,-9-4-3,9 5-2,-13-14-10,8 9-26,1 0 1,-1 0-1,-4-4 2</inkml:trace>
  <inkml:trace contextRef="#ctx0" brushRef="#br0" timeOffset="2500">233 1053 76,'-4'-9'32,"-1"5"-8,10 4-5,-10-9-5,10 18-5,-10-9-2,5 9-2,0 4-1,5 14-1,-1 0-2,5-5 0,0 5 0,0 9-1,4-9 1,1-5-1,-5-8 1,4-1 0,-8-13 0,4-4 0,-5-10 0,1 1 0,-1-5 0,1-9 0,-5 0 0,0 5 0,0-1-1,0 5 0,0 0 1,0 5-1,0 0 0,0 8 0,0-4 0,0 5 0,0 4 0,0 0 0,0 0 0,0 0 0,0 4 0,0 5 0,4 5 0,-4-1 1,5 0-1,-5 5 1,4-4-1,1-1 0,-1 1 0,1-10 0,-1-4 0,5-4 0,0-10 1,0-4-1,5-4 0,-5-5 1,4 0-1,1 0 0,-5 0 0,0 5 0,0 4 0,-1 9 0,-3 5 0,-5 8 1,0 1-1,0 8 0,0 0-1,0 1 1,0-1 0,0 1 0,0-5 1,4-5-1,1-8 0,-1-1 0,1-4 0,4-4 0,0-1 0,0-4 0,0 1 0,0 3 0,0 5 0,-5 0 0,5 0 0,-4 9 0,-1 0 0,1-4-1,4 4 1,0-5 0,4 1 0,1-1 0,-1 1 1,-4-1-1,0 1 0,0-1 1,-4 5-1,-1-4 0,-4 4-1,0-5 0,5 5-1,-5-4-3,9 4-4,-14-14-5,18-3-21,-4 17-3,0-14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75" units="cm"/>
          <inkml:channel name="Y" type="integer" max="7256" units="cm"/>
          <inkml:channel name="F" type="integer" max="255" units="dev"/>
        </inkml:traceFormat>
        <inkml:channelProperties>
          <inkml:channelProperty channel="X" name="resolution" value="393.67676" units="1/cm"/>
          <inkml:channelProperty channel="Y" name="resolution" value="393.66321" units="1/cm"/>
          <inkml:channelProperty channel="F" name="resolution" value="INF" units="1/dev"/>
        </inkml:channelProperties>
      </inkml:inkSource>
      <inkml:timestamp xml:id="ts0" timeString="2007-09-24T21:51:26.812"/>
    </inkml:context>
    <inkml:brush xml:id="br0">
      <inkml:brushProperty name="width" value="0.07938" units="cm"/>
      <inkml:brushProperty name="height" value="0.07938" units="cm"/>
      <inkml:brushProperty name="fitToCurve" value="1"/>
    </inkml:brush>
  </inkml:definitions>
  <inkml:trace contextRef="#ctx0" brushRef="#br0">34 326 79,'-4'-5'35,"4"10"2,0-5-15,-14-5-6,23 10-7,-18-5-3,9 0-2,0-5-1,0 5 0,0-4-2,0-1 1,9 1-2,-9 0 1,5-1-1,-5 1 1,4 4-1,1 0 1,-5 4 0,0 5-1,0 0 1,0 4 0,0 0 0,0 0-1,0 1 1,0-1 0,-9-4 0,4 0 0,-4-4 0,9-5 1,-13 0-1,13-9 1,-5 0-1,5-5 0,0 1 0,5-5 0,-5 1-1,9 3 0,-5 6 0,10-1 1,-5 4-1,0 5 1,0 5-1,-5 4 1,5-1 0,-4 6-1,-5 3 0,0 1 0,-5-5 1,-4 5-1,5 0 0,-14-4 1,13-5-1,-13 4 0,18-13 1,-13-13 0,13 4-1,-5-9 1,10-5-1,-5 1 0,9-4 0,-5 3 1,10 10-1,-5 4 0,0 9 0,0 5 0,-5 8 1,10 0-1,-10 9 0,-4-4 0,5 0 1,-5-5-1,0 1 0,-5-5 1,1-5-1,-10-4 1,10-9-1,-14 5 1,13-10-1,-4 1 0,0-1 0,9 1-1,0-1 1,0 2 0,9 3-1,-4 4 1,4 5 0,4 0 0,-4 0 0,-9 5 0,14 4 0,-10-9 0,-4 9 1,5-9-1,-10 3 0,5-3 0,-4 0 1,4 0-1,-5-3 0,-4 3 1,9-5-1,0 1 0,-4 4 0,4 0 0,-5 4 0,1-4 0,4 5-1,0-5 0,0 3-3,-9-11-5,18-1-34,-5 0 0,1-8 0,8-10 0</inkml:trace>
  <inkml:trace contextRef="#ctx0" brushRef="#br0" timeOffset="1469">915 17 63,'5'13'26,"-10"0"-1,5 1-4,0 4-2,-9-14-4,14 14-1,-19-18-3,14 14-2,-13-14-1,13 4-2,-14-4 0,10 0-2,-11-9 0,11 5-1,-5-5-2,4-5 1,1 1-2,4-1 1,4 1-1,-4-1 0,9 6 0,-4-1 0,5 4 0,-1 1 0,4 4 0,-4 4 0,5 1 1,-5-1-1,-5 5 0,5 0 1,-13 4-1,-1 1 0,-4 4 1,-4 0-1,-5 0 0,0 0 1,-1-5-1,1 1 1,0-14 0,9 0 0,-5-14 0,10-4 0,-1-4 0,5 4-1,0-9 1,5 9-1,-1 4 1,1 1-1,4 9 0,-5 8 1,5 9-1,-4 1 1,-1-1-1,1 10 1,-1-5-1,-4-5 1,0 5-1,-4-4 0,-1-10 0,-4 1 0,0-5 0,5-5-1,-1 5-2,-4-13-3,14 13-11,-5-9-27,4-5 1,5 5 0,0-4 1</inkml:trace>
  <inkml:trace contextRef="#ctx0" brushRef="#br0" timeOffset="2688">281 1185 80,'-9'0'38,"9"9"0,-13-5-6,8-4-19,10 9-4,-10-9-3,10 9-2,-5-9 0,9 5 0,-9-5 0,9 4 0,-5 1 0,5-1-1,-4 1 0,13 4-1,0-5 0,-1 10 0,1-10-1,9 5 0,0 0-1,0 0 1,5 0-1,-1-4 0,5 4 0,-9-5 0,13 1 0,-8 3 0,-1-3 0,14-1 0,-18-4 0,18 0 0,-9-4 0,5-1 0,0 1 0,-1-5 0,-9 0 0,1 5 0,4-5 0,-5 0 0,-4 0 0,4 0 0,-4 0 0,5-5 0,-5-4 0,9-4 0,0-1 0,-9 1 0,4 0 0,-4-1 0,0-4 0,-5 5 0,-4-1 0,5 1 0,-5-4 0,0-1 0,4-4 0,0-1 0,1-3 0,-1-6 0,1 5 0,-1-9 0,1 1 0,-5 3 0,-9 5 0,0 5 0,-5 4 0,-4 0 0,0 9 0,-4 0 0,-5 0 0,0 9 0,0-4 0,4 4 0,1 4 0,-1 1 0,1 4 0,-1 4 0,1 5 0,4 0 0,-5 5 0,5-1 0,-4 10 0,-1-1 0,5 1 0,-4 4 0,-1 4 0,-4 0 0,0 1 0,0-1 0,0 9 0,0-13 0,-4 14 0,4-10 0,-9 0 0,4 1 0,1-1 0,-5 1 0,5-6 0,-5 0 0,4-3 0,1-5 0,-5 4 0,0-8 0,0 4 0,0-5 0,-5 1 0,1-5 0,0 4 0,-5-4 0,4 4 0,-4-8 0,5 8 0,-1-4 0,1 0 0,-1-4 0,1 4 0,0-5 0,8 1 0,-8 4 0,-1-5 0,10 1 0,-14-5 0,9 4 0,-5-4 0,-3 0 0,3 0 0,-8 0 0,3 0 0,-8 5 0,4 4 0,5-5 0,-4 5 0,-5-4 0,14-1 0,-5 5 0,4-9 0,1 0 0,4-4 0,0-1 0,4 1 0,-3-5 0,8 0 0,-5 4 0,1 1 0,13-1 0,-5 5 0,1-4 0,13 8-17,-9-8-29,9 4 2,-5-5-1,10-4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39D0C-6906-4167-83DC-452015C872C8}" type="datetimeFigureOut">
              <a:rPr lang="en-US" smtClean="0"/>
              <a:pPr/>
              <a:t>3/5/2015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65675-88A1-424B-B5A2-72B77F72BF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6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oftware_development_methodologie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Timeboxing" TargetMode="External"/><Relationship Id="rId5" Type="http://schemas.openxmlformats.org/officeDocument/2006/relationships/hyperlink" Target="http://en.wikipedia.org/wiki/Cross-functional_team" TargetMode="External"/><Relationship Id="rId4" Type="http://schemas.openxmlformats.org/officeDocument/2006/relationships/hyperlink" Target="http://en.wikipedia.org/wiki/Iterative_and_incremental_development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BCA27E-74A6-4E6C-8013-A539B9DE84A7}" type="slidenum">
              <a:rPr lang="en-US"/>
              <a:pPr/>
              <a:t>2</a:t>
            </a:fld>
            <a:endParaRPr 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dirty="0" smtClean="0"/>
              <a:t>Quay </a:t>
            </a:r>
            <a:r>
              <a:rPr lang="en-US" dirty="0" err="1" smtClean="0"/>
              <a:t>trở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phương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pháp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sản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xuất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mềm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chúng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tại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Trên</a:t>
            </a:r>
            <a:r>
              <a:rPr lang="en-US" baseline="0" dirty="0" smtClean="0"/>
              <a:t> slide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nhìn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thấy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lịch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phương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pháp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phát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triển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mềm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waterfall, v-model, </a:t>
            </a:r>
            <a:r>
              <a:rPr lang="en-US" baseline="0" dirty="0" err="1" smtClean="0"/>
              <a:t>sprial</a:t>
            </a:r>
            <a:r>
              <a:rPr lang="en-US" baseline="0" dirty="0" smtClean="0"/>
              <a:t>… rad, up, Agile… </a:t>
            </a:r>
            <a:r>
              <a:rPr lang="en-US" baseline="0" dirty="0" err="1" smtClean="0"/>
              <a:t>Chúng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đang</a:t>
            </a:r>
            <a:r>
              <a:rPr lang="en-US" baseline="0" dirty="0" smtClean="0"/>
              <a:t> ở </a:t>
            </a:r>
            <a:r>
              <a:rPr lang="en-US" baseline="0" dirty="0" err="1" smtClean="0"/>
              <a:t>năm</a:t>
            </a:r>
            <a:r>
              <a:rPr lang="en-US" baseline="0" dirty="0" smtClean="0"/>
              <a:t> 2014..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phương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pháp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chúng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đang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Waterfall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năm</a:t>
            </a:r>
            <a:r>
              <a:rPr lang="en-US" baseline="0" dirty="0" smtClean="0"/>
              <a:t> 1970?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vậy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còn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phù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hợp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không</a:t>
            </a:r>
            <a:r>
              <a:rPr lang="en-US" baseline="0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077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Look</a:t>
            </a:r>
            <a:r>
              <a:rPr lang="en-US" baseline="0" dirty="0" smtClean="0"/>
              <a:t> at </a:t>
            </a:r>
            <a:r>
              <a:rPr lang="en-US" baseline="0" dirty="0" err="1" smtClean="0"/>
              <a:t>nghiên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cứu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Standish Group </a:t>
            </a:r>
            <a:r>
              <a:rPr lang="en-US" baseline="0" dirty="0" err="1" smtClean="0"/>
              <a:t>năm</a:t>
            </a:r>
            <a:r>
              <a:rPr lang="en-US" baseline="0" dirty="0" smtClean="0"/>
              <a:t> 2012, con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kê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thấy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vWaterfall</a:t>
            </a:r>
            <a:r>
              <a:rPr lang="en-US" baseline="0" dirty="0" smtClean="0"/>
              <a:t> hay </a:t>
            </a:r>
            <a:r>
              <a:rPr lang="en-US" baseline="0" dirty="0" err="1" smtClean="0"/>
              <a:t>traiditional</a:t>
            </a:r>
            <a:r>
              <a:rPr lang="en-US" baseline="0" dirty="0" smtClean="0"/>
              <a:t> method </a:t>
            </a:r>
            <a:r>
              <a:rPr lang="en-US" baseline="0" dirty="0" err="1" smtClean="0"/>
              <a:t>mang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quả</a:t>
            </a:r>
            <a:r>
              <a:rPr lang="en-US" baseline="0" dirty="0" smtClean="0"/>
              <a:t>: 29%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fail,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14%. </a:t>
            </a:r>
            <a:r>
              <a:rPr lang="en-US" baseline="0" dirty="0" err="1" smtClean="0"/>
              <a:t>Thế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còn</a:t>
            </a:r>
            <a:r>
              <a:rPr lang="en-US" baseline="0" dirty="0" smtClean="0"/>
              <a:t> Agile, </a:t>
            </a:r>
            <a:r>
              <a:rPr lang="en-US" baseline="0" dirty="0" err="1" smtClean="0"/>
              <a:t>tỷ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lệ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tốt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hẳn</a:t>
            </a:r>
            <a:r>
              <a:rPr lang="en-US" baseline="0" dirty="0" smtClean="0"/>
              <a:t>: Fail </a:t>
            </a:r>
            <a:r>
              <a:rPr lang="en-US" baseline="0" dirty="0" err="1" smtClean="0"/>
              <a:t>chiếm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tỷ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lệ</a:t>
            </a:r>
            <a:r>
              <a:rPr lang="en-US" baseline="0" dirty="0" smtClean="0"/>
              <a:t> 9% (</a:t>
            </a:r>
            <a:r>
              <a:rPr lang="en-US" baseline="0" dirty="0" err="1" smtClean="0"/>
              <a:t>thấp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29%) 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traditional method. </a:t>
            </a:r>
            <a:r>
              <a:rPr lang="en-US" baseline="0" dirty="0" err="1" smtClean="0"/>
              <a:t>Gần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nửa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tổng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42% </a:t>
            </a:r>
            <a:r>
              <a:rPr lang="en-US" baseline="0" dirty="0" err="1" smtClean="0"/>
              <a:t>áp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dụng</a:t>
            </a:r>
            <a:r>
              <a:rPr lang="en-US" baseline="0" dirty="0" smtClean="0"/>
              <a:t> Agile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. =&gt;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con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này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hơn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lúc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hết</a:t>
            </a:r>
            <a:r>
              <a:rPr lang="en-US" baseline="0" dirty="0" smtClean="0"/>
              <a:t>… </a:t>
            </a:r>
            <a:r>
              <a:rPr lang="en-US" baseline="0" dirty="0" err="1" smtClean="0"/>
              <a:t>chúng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thay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đổi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Sau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đây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tôi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trình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bày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thế</a:t>
            </a:r>
            <a:r>
              <a:rPr lang="en-US" baseline="0" dirty="0" smtClean="0"/>
              <a:t> Agile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gì</a:t>
            </a:r>
            <a:r>
              <a:rPr lang="en-US" baseline="0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65675-88A1-424B-B5A2-72B77F72BF5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32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65675-88A1-424B-B5A2-72B77F72BF5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5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0B8AE3-6476-49F5-8F23-B0FE126ECDEE}" type="slidenum">
              <a:rPr lang="en-US"/>
              <a:pPr/>
              <a:t>5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11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09568-26F4-4A35-9595-2638DB6F7BB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68816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 software development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group of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oftware development methodologies"/>
              </a:rPr>
              <a:t>software development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oftware development methodologies"/>
              </a:rPr>
              <a:t>methods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Iterative and incremental development"/>
              </a:rPr>
              <a:t>iterative and incremental development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where requirements and solutions evolve through collaboration between self-organizing,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ross-functional team"/>
              </a:rPr>
              <a:t>cross-functional teams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promotes adaptive planning, evolutionary development and delivery, a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Timeboxing"/>
              </a:rPr>
              <a:t>time-boxed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iterative approach, and encourages rapid and flexible response to change. It is a conceptual framework that promotes foreseen tight interactions throughout the development cycle.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09568-26F4-4A35-9595-2638DB6F7BB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4814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55000" lnSpcReduction="20000"/>
          </a:bodyPr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2001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ngôn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giống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Viettel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vi-V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 tốt hơn bằng cách thực hiện nó và giúp đỡ người khác thực hiện.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vi-V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ngôn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Agile: </a:t>
            </a:r>
          </a:p>
          <a:p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test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start-up,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chóng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taskboard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sticky notes.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Viettel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vọng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đoàn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Ở ý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tưởng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nâng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lãnh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tôn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thân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tầng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review,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sign off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failed. 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Waterfall. Theo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interview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ĐTYC, PTYC.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customer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SRS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bẵng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ở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test. 6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document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:D,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chẳng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giờ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nhìn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chắc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chắn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mắn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deliver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ôi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tôi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Agile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chóng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get feedback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rework. KH evolve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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nhầm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thương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thảo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khẳng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nhầm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contract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informal.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thỏa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deliver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khăn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contract.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Agile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châm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thỏa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nỗ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hoạch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KHCT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Gantt chart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rồi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failed.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Big design upfront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tĩnh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nỗ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task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nghệ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yếu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nhắc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 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niệm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niệm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đích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tỉ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mỉ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khăn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phức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Task A done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Task B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Task C (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Agile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niệm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burn-down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tồn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ra.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nhìn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xấu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đích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Agile Manifesto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deliver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cạnh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:D.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Waterfall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documentation,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chắc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communicate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6EA0DD-72CD-46D9-ACF0-F027190D747B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78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Incremental Releases Users &amp; Stakeholders Will Love</a:t>
            </a:r>
          </a:p>
        </p:txBody>
      </p:sp>
      <p:sp>
        <p:nvSpPr>
          <p:cNvPr id="890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Jeff Patton, jpatton@acm.org</a:t>
            </a:r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2E2EA0-41FF-4247-A7EA-7DB8AFEA26E0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890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Agile </a:t>
            </a:r>
            <a:r>
              <a:rPr lang="en-US" dirty="0" err="1" smtClean="0"/>
              <a:t>đơn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giản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Snowman =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một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tuyết</a:t>
            </a:r>
            <a:r>
              <a:rPr lang="en-US" baseline="0" dirty="0" smtClean="0"/>
              <a:t>. Agile </a:t>
            </a:r>
            <a:r>
              <a:rPr lang="en-US" baseline="0" dirty="0" err="1" smtClean="0"/>
              <a:t>đơn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giản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chia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một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thứ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gọi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product backlog?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những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ưu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trước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chúng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một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khoảng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gian</a:t>
            </a:r>
            <a:r>
              <a:rPr lang="en-US" baseline="0" dirty="0" smtClean="0"/>
              <a:t> 2-4 </a:t>
            </a:r>
            <a:r>
              <a:rPr lang="en-US" baseline="0" dirty="0" err="1" smtClean="0"/>
              <a:t>tuần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2-4 </a:t>
            </a:r>
            <a:r>
              <a:rPr lang="en-US" baseline="0" dirty="0" err="1" smtClean="0"/>
              <a:t>tuần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gọi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sprint backlog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khoảng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gian</a:t>
            </a:r>
            <a:r>
              <a:rPr lang="en-US" baseline="0" dirty="0" smtClean="0"/>
              <a:t> 2-4 </a:t>
            </a:r>
            <a:r>
              <a:rPr lang="en-US" baseline="0" dirty="0" err="1" smtClean="0"/>
              <a:t>tuần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gọi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1 sprint. </a:t>
            </a:r>
            <a:r>
              <a:rPr lang="en-US" baseline="0" dirty="0" err="1" smtClean="0"/>
              <a:t>Cứ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sau</a:t>
            </a:r>
            <a:r>
              <a:rPr lang="en-US" baseline="0" dirty="0" smtClean="0"/>
              <a:t> 1 sprint -&gt; </a:t>
            </a:r>
            <a:r>
              <a:rPr lang="en-US" baseline="0" dirty="0" err="1" smtClean="0"/>
              <a:t>chúng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một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sản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phẩm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nhỏ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chạy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deliver </a:t>
            </a:r>
            <a:r>
              <a:rPr lang="en-US" baseline="0" dirty="0" err="1" smtClean="0"/>
              <a:t>cho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Dựa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feedback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sprint </a:t>
            </a:r>
            <a:r>
              <a:rPr lang="en-US" baseline="0" dirty="0" err="1" smtClean="0"/>
              <a:t>tiếp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liên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tục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vậy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Tại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snowman, </a:t>
            </a:r>
            <a:r>
              <a:rPr lang="en-US" baseline="0" dirty="0" err="1" smtClean="0"/>
              <a:t>vì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từng</a:t>
            </a:r>
            <a:r>
              <a:rPr lang="en-US" baseline="0" dirty="0" smtClean="0"/>
              <a:t> sprint </a:t>
            </a:r>
            <a:r>
              <a:rPr lang="en-US" baseline="0" dirty="0" err="1" smtClean="0"/>
              <a:t>đội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tiến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hành</a:t>
            </a:r>
            <a:r>
              <a:rPr lang="en-US" baseline="0" dirty="0" smtClean="0"/>
              <a:t> daily meeting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kiểm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soát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… </a:t>
            </a:r>
            <a:r>
              <a:rPr lang="en-US" baseline="0" dirty="0" err="1" smtClean="0"/>
              <a:t>Cứ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vậy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hoàn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vậy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tóm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Mô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hình</a:t>
            </a:r>
            <a:r>
              <a:rPr lang="en-US" baseline="0" dirty="0" smtClean="0"/>
              <a:t> Agile Scrum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snowman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3 </a:t>
            </a:r>
            <a:r>
              <a:rPr lang="en-US" baseline="0" dirty="0" err="1" smtClean="0"/>
              <a:t>đặc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trung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cơ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bản</a:t>
            </a:r>
            <a:r>
              <a:rPr lang="en-US" baseline="0" dirty="0" smtClean="0"/>
              <a:t>: incremental, low process,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user driven… </a:t>
            </a:r>
            <a:r>
              <a:rPr lang="en-US" baseline="0" dirty="0" err="1" smtClean="0"/>
              <a:t>Sau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đây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tôi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lượt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niệm</a:t>
            </a:r>
            <a:endParaRPr lang="en-US" baseline="0" dirty="0" smtClean="0"/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24534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User-driven: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trao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khách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hàng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truyền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chúng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kế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quãng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6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tháng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deliver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khách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hàng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of date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quay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thật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tốn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phí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cận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Agile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Cứ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2-4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tuần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chúng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demo working product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khách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hàng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Demo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khách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hàng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hiểu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sản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phẩm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documents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dầy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cộp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họ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phản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hồi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sản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phẩm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 software – working software will be more useful and welcome than just presenting documents to clients in meetings.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collaboration – requirements cannot be fully collected at the beginning of the software development cycle, therefore continuous customer or stakeholder involvement is very important.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C27DFA-787A-49E4-A058-6C369F6A91FB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04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Low</a:t>
            </a:r>
            <a:r>
              <a:rPr lang="en-US" baseline="0" dirty="0" smtClean="0"/>
              <a:t> process – </a:t>
            </a:r>
            <a:r>
              <a:rPr lang="en-US" baseline="0" dirty="0" err="1" smtClean="0"/>
              <a:t>điều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này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chắc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developers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… </a:t>
            </a:r>
            <a:r>
              <a:rPr lang="en-US" baseline="0" dirty="0" err="1" smtClean="0"/>
              <a:t>đó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Light documentation – </a:t>
            </a:r>
            <a:r>
              <a:rPr lang="en-US" baseline="0" dirty="0" err="1" smtClean="0"/>
              <a:t>tối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thiểu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hóa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những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tài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liệu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thiết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sefl</a:t>
            </a:r>
            <a:r>
              <a:rPr lang="en-US" baseline="0" dirty="0" smtClean="0"/>
              <a:t>-organizing, </a:t>
            </a:r>
            <a:r>
              <a:rPr lang="en-US" baseline="0" dirty="0" err="1" smtClean="0"/>
              <a:t>nơi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mà</a:t>
            </a:r>
            <a:r>
              <a:rPr lang="en-US" baseline="0" dirty="0" smtClean="0"/>
              <a:t> k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Leader, </a:t>
            </a:r>
            <a:r>
              <a:rPr lang="en-US" baseline="0" dirty="0" err="1" smtClean="0"/>
              <a:t>chỉ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giống</a:t>
            </a:r>
            <a:r>
              <a:rPr lang="en-US" baseline="0" dirty="0" smtClean="0"/>
              <a:t> leader </a:t>
            </a:r>
            <a:r>
              <a:rPr lang="en-US" baseline="0" dirty="0" err="1" smtClean="0"/>
              <a:t>nhưng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nhiệm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vụ</a:t>
            </a:r>
            <a:r>
              <a:rPr lang="en-US" baseline="0" dirty="0" smtClean="0"/>
              <a:t> coaching – </a:t>
            </a:r>
            <a:r>
              <a:rPr lang="en-US" baseline="0" dirty="0" err="1" smtClean="0"/>
              <a:t>tức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hướng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dẫn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đội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đạt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mục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tiêu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đề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ra.</a:t>
            </a:r>
            <a:r>
              <a:rPr lang="en-US" baseline="0" dirty="0" smtClean="0"/>
              <a:t> Pair programing –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tương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tiếp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giữa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 code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 test,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quyết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đề</a:t>
            </a:r>
            <a:r>
              <a:rPr lang="en-US" baseline="0" dirty="0" smtClean="0"/>
              <a:t>…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agile – </a:t>
            </a:r>
            <a:r>
              <a:rPr lang="en-US" baseline="0" dirty="0" err="1" smtClean="0"/>
              <a:t>chỉ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niệm</a:t>
            </a:r>
            <a:r>
              <a:rPr lang="en-US" baseline="0" dirty="0" smtClean="0"/>
              <a:t> “</a:t>
            </a:r>
            <a:r>
              <a:rPr lang="en-US" baseline="0" dirty="0" err="1" smtClean="0"/>
              <a:t>nhận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”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“</a:t>
            </a:r>
            <a:r>
              <a:rPr lang="en-US" baseline="0" dirty="0" err="1" smtClean="0"/>
              <a:t>cộng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lực</a:t>
            </a:r>
            <a:r>
              <a:rPr lang="en-US" baseline="0" dirty="0" smtClean="0"/>
              <a:t>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65675-88A1-424B-B5A2-72B77F72BF5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32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Look</a:t>
            </a:r>
            <a:r>
              <a:rPr lang="en-US" baseline="0" dirty="0" smtClean="0"/>
              <a:t> at 1 agile team: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bao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gồm</a:t>
            </a:r>
            <a:r>
              <a:rPr lang="en-US" baseline="0" dirty="0" smtClean="0"/>
              <a:t> 3 </a:t>
            </a:r>
            <a:r>
              <a:rPr lang="en-US" baseline="0" dirty="0" err="1" smtClean="0"/>
              <a:t>thành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: 1) </a:t>
            </a:r>
            <a:r>
              <a:rPr lang="en-US" baseline="0" dirty="0" err="1" smtClean="0"/>
              <a:t>scrumMaster</a:t>
            </a:r>
            <a:r>
              <a:rPr lang="en-US" baseline="0" dirty="0" smtClean="0"/>
              <a:t> –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HLV, </a:t>
            </a:r>
            <a:r>
              <a:rPr lang="en-US" baseline="0" dirty="0" err="1" smtClean="0"/>
              <a:t>nhạc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trưởng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hướng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dẫn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đội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keep on track.</a:t>
            </a:r>
          </a:p>
          <a:p>
            <a:r>
              <a:rPr lang="en-US" baseline="0" dirty="0" smtClean="0"/>
              <a:t>Customer Team – </a:t>
            </a:r>
            <a:r>
              <a:rPr lang="en-US" baseline="0" dirty="0" err="1" smtClean="0"/>
              <a:t>đại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chính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product owner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quyết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định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tính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năng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sản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phẩm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gì</a:t>
            </a:r>
            <a:r>
              <a:rPr lang="en-US" baseline="0" dirty="0" smtClean="0"/>
              <a:t>?</a:t>
            </a:r>
          </a:p>
          <a:p>
            <a:r>
              <a:rPr lang="en-US" baseline="0" dirty="0" err="1" smtClean="0"/>
              <a:t>Thứ</a:t>
            </a:r>
            <a:r>
              <a:rPr lang="en-US" baseline="0" dirty="0" smtClean="0"/>
              <a:t> 3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ScrumMaster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đây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1 cross-functional team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trò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dev</a:t>
            </a:r>
            <a:r>
              <a:rPr lang="en-US" baseline="0" dirty="0" smtClean="0"/>
              <a:t>, test, admin, Architect…</a:t>
            </a:r>
          </a:p>
          <a:p>
            <a:r>
              <a:rPr lang="en-US" baseline="0" dirty="0" err="1" smtClean="0"/>
              <a:t>Tất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họ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nhau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65675-88A1-424B-B5A2-72B77F72BF5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72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Incremental Releases Users &amp; Stakeholders Will Love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Jeff Patton, jpatton@acm.org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84F9CD-E990-43E5-8708-CBEA5F5CFF21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Next,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đề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còn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keep tracking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thế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nào</a:t>
            </a:r>
            <a:r>
              <a:rPr lang="en-US" baseline="0" dirty="0" smtClean="0"/>
              <a:t>? 1 </a:t>
            </a:r>
            <a:r>
              <a:rPr lang="en-US" baseline="0" dirty="0" err="1" smtClean="0"/>
              <a:t>khái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niệm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burndowchart</a:t>
            </a:r>
            <a:r>
              <a:rPr lang="en-US" baseline="0" dirty="0" smtClean="0"/>
              <a:t> – ta k </a:t>
            </a:r>
            <a:r>
              <a:rPr lang="en-US" baseline="0" dirty="0" err="1" smtClean="0"/>
              <a:t>đếm</a:t>
            </a:r>
            <a:r>
              <a:rPr lang="en-US" baseline="0" dirty="0" smtClean="0"/>
              <a:t> how many works was done – ta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hỏi</a:t>
            </a:r>
            <a:r>
              <a:rPr lang="en-US" baseline="0" dirty="0" smtClean="0"/>
              <a:t> how many are left = </a:t>
            </a:r>
            <a:r>
              <a:rPr lang="en-US" baseline="0" dirty="0" err="1" smtClean="0"/>
              <a:t>sau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mỗi</a:t>
            </a:r>
            <a:r>
              <a:rPr lang="en-US" baseline="0" dirty="0" smtClean="0"/>
              <a:t> sprint </a:t>
            </a:r>
            <a:r>
              <a:rPr lang="en-US" baseline="0" dirty="0" err="1" smtClean="0"/>
              <a:t>hỏi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còn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bao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nhiêu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thưc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đây</a:t>
            </a:r>
            <a:r>
              <a:rPr lang="en-US" baseline="0" dirty="0" smtClean="0"/>
              <a:t>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3686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Incremental Releases Users &amp; Stakeholders Will Love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Jeff Patton, jpatton@acm.org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9F5F4D-B5CA-405E-9CC4-7B6A395F4706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768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trên</a:t>
            </a:r>
            <a:r>
              <a:rPr lang="en-US" baseline="0" dirty="0" smtClean="0"/>
              <a:t> slide sprint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1 doing fine.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8625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Incremental Releases Users &amp; Stakeholders Will Love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Jeff Patton, jpatton@acm.org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AD774A-F167-4091-8135-9EA98A20D828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 smtClean="0"/>
              <a:t>Tuy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tế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xảy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thế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này</a:t>
            </a:r>
            <a:r>
              <a:rPr lang="en-US" baseline="0" dirty="0" smtClean="0"/>
              <a:t>?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màu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doing fine,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màu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tế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vậy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tình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huống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này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một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đề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xảy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, 2 user stories </a:t>
            </a:r>
            <a:r>
              <a:rPr lang="en-US" baseline="0" dirty="0" err="1" smtClean="0"/>
              <a:t>đã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add </a:t>
            </a:r>
            <a:r>
              <a:rPr lang="en-US" baseline="0" dirty="0" err="1" smtClean="0"/>
              <a:t>thêm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lý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vậy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biểu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đồ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burndown</a:t>
            </a:r>
            <a:r>
              <a:rPr lang="en-US" baseline="0" dirty="0" smtClean="0"/>
              <a:t> chart, </a:t>
            </a:r>
            <a:r>
              <a:rPr lang="en-US" baseline="0" dirty="0" err="1" smtClean="0"/>
              <a:t>chúng</a:t>
            </a:r>
            <a:r>
              <a:rPr lang="en-US" baseline="0" dirty="0" smtClean="0"/>
              <a:t> ta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nhìn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về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… </a:t>
            </a:r>
            <a:r>
              <a:rPr lang="en-US" baseline="0" dirty="0" err="1" smtClean="0"/>
              <a:t>đó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chính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tính</a:t>
            </a:r>
            <a:r>
              <a:rPr lang="en-US" baseline="0" dirty="0" smtClean="0"/>
              <a:t> visible…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5319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65675-88A1-424B-B5A2-72B77F72BF5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69E4-C4CD-4333-97D0-B6E6636FFBE4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024E-DEA7-4BA8-BA6F-A86BD0AAC9CD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E1CC6-370F-4169-8F39-D2CDCED492B8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D1565-8C3B-4BA3-8ADB-658124042B1A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1FC91-33B8-47A5-99D3-3AE598496F8D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0F6E-1227-4447-B730-942F798B8E05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A69F-7FC4-4DFA-952B-AC6DB7135671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4024-B276-49D9-9260-C5D4C17BE313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11F7E-4D19-42DB-8263-3E88078740BC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348E-2268-432D-A64C-A7B37A7A2B66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66C4-9800-4A40-B9DA-A8F5EACA4715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24E10-B26F-400A-B8B2-C40F046012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B2DF3-FD5A-425A-97A4-9F2ADA98AF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49F17-EE23-41C7-BA1F-5BF8028E043B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43FA7-F921-4B25-86AF-39EC3110342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10" Type="http://schemas.openxmlformats.org/officeDocument/2006/relationships/image" Target="../media/image14.jpg"/><Relationship Id="rId4" Type="http://schemas.openxmlformats.org/officeDocument/2006/relationships/image" Target="../media/image8.jpg"/><Relationship Id="rId9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customXml" Target="../ink/ink5.xml"/><Relationship Id="rId3" Type="http://schemas.openxmlformats.org/officeDocument/2006/relationships/image" Target="../media/image22.png"/><Relationship Id="rId7" Type="http://schemas.openxmlformats.org/officeDocument/2006/relationships/customXml" Target="../ink/ink2.xml"/><Relationship Id="rId12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6.emf"/><Relationship Id="rId4" Type="http://schemas.openxmlformats.org/officeDocument/2006/relationships/image" Target="../media/image23.wmf"/><Relationship Id="rId9" Type="http://schemas.openxmlformats.org/officeDocument/2006/relationships/customXml" Target="../ink/ink3.xml"/><Relationship Id="rId1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10011"/>
            <a:ext cx="9144000" cy="68780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447800"/>
            <a:ext cx="8382000" cy="1524001"/>
          </a:xfrm>
        </p:spPr>
        <p:txBody>
          <a:bodyPr>
            <a:noAutofit/>
          </a:bodyPr>
          <a:lstStyle/>
          <a:p>
            <a:r>
              <a:rPr lang="en-US" sz="3600" dirty="0" smtClean="0"/>
              <a:t>THAY ĐỔI PHƯƠNG PHÁP PHÁT TRIỂN PHẦN MỀM BẰNG PHƯƠNG PHÁP </a:t>
            </a:r>
            <a:br>
              <a:rPr lang="en-US" sz="3600" dirty="0" smtClean="0"/>
            </a:br>
            <a:r>
              <a:rPr lang="en-US" sz="3600" dirty="0" smtClean="0"/>
              <a:t>AGILE - SCRUM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762000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Agile_Team</a:t>
            </a:r>
            <a:r>
              <a:rPr lang="en-US" dirty="0" smtClean="0">
                <a:solidFill>
                  <a:schemeClr val="tx1"/>
                </a:solidFill>
              </a:rPr>
              <a:t> – VTICT</a:t>
            </a:r>
          </a:p>
        </p:txBody>
      </p:sp>
    </p:spTree>
    <p:extLst>
      <p:ext uri="{BB962C8B-B14F-4D97-AF65-F5344CB8AC3E}">
        <p14:creationId xmlns:p14="http://schemas.microsoft.com/office/powerpoint/2010/main" val="71323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F4D8F-93D2-43DA-A7F1-21397428F13E}" type="slidenum">
              <a:rPr lang="en-US" altLang="en-US"/>
              <a:pPr/>
              <a:t>2</a:t>
            </a:fld>
            <a:endParaRPr lang="en-US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5650" y="5470843"/>
            <a:ext cx="8388350" cy="45719"/>
            <a:chOff x="476" y="3430"/>
            <a:chExt cx="4989" cy="45"/>
          </a:xfrm>
        </p:grpSpPr>
        <p:sp>
          <p:nvSpPr>
            <p:cNvPr id="87043" name="Rectangle 3"/>
            <p:cNvSpPr>
              <a:spLocks noChangeArrowheads="1"/>
            </p:cNvSpPr>
            <p:nvPr/>
          </p:nvSpPr>
          <p:spPr bwMode="auto">
            <a:xfrm>
              <a:off x="476" y="3430"/>
              <a:ext cx="4853" cy="45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shade val="44314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44" name="Line 4"/>
            <p:cNvSpPr>
              <a:spLocks noChangeShapeType="1"/>
            </p:cNvSpPr>
            <p:nvPr/>
          </p:nvSpPr>
          <p:spPr bwMode="auto">
            <a:xfrm>
              <a:off x="5329" y="3455"/>
              <a:ext cx="136" cy="0"/>
            </a:xfrm>
            <a:prstGeom prst="line">
              <a:avLst/>
            </a:prstGeom>
            <a:noFill/>
            <a:ln w="762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045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686800" cy="1020762"/>
          </a:xfrm>
        </p:spPr>
        <p:txBody>
          <a:bodyPr>
            <a:normAutofit fontScale="90000"/>
          </a:bodyPr>
          <a:lstStyle/>
          <a:p>
            <a:r>
              <a:rPr lang="en-GB" sz="3600" dirty="0" smtClean="0"/>
              <a:t>History of Software Development Methodologies</a:t>
            </a:r>
            <a:endParaRPr lang="en-GB" sz="3600" dirty="0"/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88900" y="3505200"/>
            <a:ext cx="1892300" cy="119697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/>
            <a:r>
              <a:rPr lang="en-GB" sz="1200" b="1" dirty="0"/>
              <a:t>WATERFALL  (Royce)</a:t>
            </a:r>
          </a:p>
          <a:p>
            <a:pPr eaLnBrk="0" hangingPunct="0"/>
            <a:endParaRPr lang="en-GB" sz="1200" b="1" dirty="0"/>
          </a:p>
          <a:p>
            <a:pPr eaLnBrk="0" hangingPunct="0"/>
            <a:r>
              <a:rPr lang="en-GB" sz="1200" b="1" dirty="0"/>
              <a:t>Requirements, design</a:t>
            </a:r>
          </a:p>
          <a:p>
            <a:pPr eaLnBrk="0" hangingPunct="0"/>
            <a:r>
              <a:rPr lang="en-GB" sz="1200" b="1" dirty="0"/>
              <a:t>implementation, verification &amp; maintenance</a:t>
            </a:r>
          </a:p>
        </p:txBody>
      </p:sp>
      <p:sp>
        <p:nvSpPr>
          <p:cNvPr id="87047" name="Line 7"/>
          <p:cNvSpPr>
            <a:spLocks noChangeShapeType="1"/>
          </p:cNvSpPr>
          <p:nvPr/>
        </p:nvSpPr>
        <p:spPr bwMode="auto">
          <a:xfrm flipV="1">
            <a:off x="1358900" y="4724400"/>
            <a:ext cx="0" cy="649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048" name="Oval 8"/>
          <p:cNvSpPr>
            <a:spLocks noChangeArrowheads="1"/>
          </p:cNvSpPr>
          <p:nvPr/>
        </p:nvSpPr>
        <p:spPr bwMode="auto">
          <a:xfrm>
            <a:off x="3159125" y="540385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9" name="Text Box 9"/>
          <p:cNvSpPr txBox="1">
            <a:spLocks noChangeArrowheads="1"/>
          </p:cNvSpPr>
          <p:nvPr/>
        </p:nvSpPr>
        <p:spPr bwMode="auto">
          <a:xfrm>
            <a:off x="127000" y="5668962"/>
            <a:ext cx="86360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1200" b="1" dirty="0"/>
              <a:t>1960</a:t>
            </a:r>
          </a:p>
        </p:txBody>
      </p:sp>
      <p:sp>
        <p:nvSpPr>
          <p:cNvPr id="87050" name="Oval 10"/>
          <p:cNvSpPr>
            <a:spLocks noChangeArrowheads="1"/>
          </p:cNvSpPr>
          <p:nvPr/>
        </p:nvSpPr>
        <p:spPr bwMode="auto">
          <a:xfrm>
            <a:off x="1287463" y="540385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1" name="Oval 11"/>
          <p:cNvSpPr>
            <a:spLocks noChangeArrowheads="1"/>
          </p:cNvSpPr>
          <p:nvPr/>
        </p:nvSpPr>
        <p:spPr bwMode="auto">
          <a:xfrm>
            <a:off x="4167188" y="540385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2" name="Oval 12"/>
          <p:cNvSpPr>
            <a:spLocks noChangeArrowheads="1"/>
          </p:cNvSpPr>
          <p:nvPr/>
        </p:nvSpPr>
        <p:spPr bwMode="auto">
          <a:xfrm>
            <a:off x="5246688" y="540385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4071938" y="5661025"/>
            <a:ext cx="500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200" b="1" dirty="0" smtClean="0"/>
              <a:t>1985</a:t>
            </a:r>
            <a:endParaRPr lang="en-GB" sz="1200" b="1" dirty="0"/>
          </a:p>
        </p:txBody>
      </p:sp>
      <p:sp>
        <p:nvSpPr>
          <p:cNvPr id="87054" name="Oval 14"/>
          <p:cNvSpPr>
            <a:spLocks noChangeArrowheads="1"/>
          </p:cNvSpPr>
          <p:nvPr/>
        </p:nvSpPr>
        <p:spPr bwMode="auto">
          <a:xfrm>
            <a:off x="6110288" y="540385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5" name="Text Box 15"/>
          <p:cNvSpPr txBox="1">
            <a:spLocks noChangeArrowheads="1"/>
          </p:cNvSpPr>
          <p:nvPr/>
        </p:nvSpPr>
        <p:spPr bwMode="auto">
          <a:xfrm>
            <a:off x="5029200" y="5661025"/>
            <a:ext cx="60959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200" b="1" dirty="0" smtClean="0"/>
              <a:t>1991</a:t>
            </a:r>
            <a:endParaRPr lang="en-GB" sz="1200" b="1" dirty="0"/>
          </a:p>
        </p:txBody>
      </p:sp>
      <p:sp>
        <p:nvSpPr>
          <p:cNvPr id="87056" name="Oval 16"/>
          <p:cNvSpPr>
            <a:spLocks noChangeArrowheads="1"/>
          </p:cNvSpPr>
          <p:nvPr/>
        </p:nvSpPr>
        <p:spPr bwMode="auto">
          <a:xfrm>
            <a:off x="6326188" y="540385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8" name="Text Box 18"/>
          <p:cNvSpPr txBox="1">
            <a:spLocks noChangeArrowheads="1"/>
          </p:cNvSpPr>
          <p:nvPr/>
        </p:nvSpPr>
        <p:spPr bwMode="auto">
          <a:xfrm>
            <a:off x="2943225" y="5661025"/>
            <a:ext cx="64770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1200" b="1"/>
              <a:t>1980</a:t>
            </a:r>
          </a:p>
        </p:txBody>
      </p:sp>
      <p:sp>
        <p:nvSpPr>
          <p:cNvPr id="87059" name="Text Box 19"/>
          <p:cNvSpPr txBox="1">
            <a:spLocks noChangeArrowheads="1"/>
          </p:cNvSpPr>
          <p:nvPr/>
        </p:nvSpPr>
        <p:spPr bwMode="auto">
          <a:xfrm>
            <a:off x="1055688" y="5661025"/>
            <a:ext cx="86360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1200" b="1"/>
              <a:t>1970</a:t>
            </a:r>
          </a:p>
        </p:txBody>
      </p:sp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1798638" y="3716338"/>
            <a:ext cx="1728787" cy="1014412"/>
          </a:xfrm>
          <a:prstGeom prst="rect">
            <a:avLst/>
          </a:prstGeom>
          <a:solidFill>
            <a:srgbClr val="FFFF99"/>
          </a:solidFill>
          <a:ln w="9525" cap="rnd" algn="ctr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1200" b="1" dirty="0"/>
              <a:t>V-MODEL  (Anon)</a:t>
            </a:r>
          </a:p>
          <a:p>
            <a:pPr eaLnBrk="0" hangingPunct="0"/>
            <a:endParaRPr lang="en-GB" sz="1200" b="1" dirty="0"/>
          </a:p>
          <a:p>
            <a:pPr eaLnBrk="0" hangingPunct="0"/>
            <a:r>
              <a:rPr lang="en-GB" sz="1200" b="1" dirty="0"/>
              <a:t>Aligns testing to</a:t>
            </a:r>
          </a:p>
          <a:p>
            <a:pPr eaLnBrk="0" hangingPunct="0"/>
            <a:r>
              <a:rPr lang="en-GB" sz="1200" b="1" dirty="0"/>
              <a:t>Waterfall development</a:t>
            </a:r>
          </a:p>
        </p:txBody>
      </p:sp>
      <p:sp>
        <p:nvSpPr>
          <p:cNvPr id="87061" name="Line 21"/>
          <p:cNvSpPr>
            <a:spLocks noChangeShapeType="1"/>
          </p:cNvSpPr>
          <p:nvPr/>
        </p:nvSpPr>
        <p:spPr bwMode="auto">
          <a:xfrm flipV="1">
            <a:off x="3230563" y="4724400"/>
            <a:ext cx="0" cy="649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062" name="Line 22"/>
          <p:cNvSpPr>
            <a:spLocks noChangeShapeType="1"/>
          </p:cNvSpPr>
          <p:nvPr/>
        </p:nvSpPr>
        <p:spPr bwMode="auto">
          <a:xfrm flipV="1">
            <a:off x="5319713" y="3508375"/>
            <a:ext cx="0" cy="1865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063" name="Text Box 23"/>
          <p:cNvSpPr txBox="1">
            <a:spLocks noChangeArrowheads="1"/>
          </p:cNvSpPr>
          <p:nvPr/>
        </p:nvSpPr>
        <p:spPr bwMode="auto">
          <a:xfrm>
            <a:off x="2511425" y="3316288"/>
            <a:ext cx="1728788" cy="831850"/>
          </a:xfrm>
          <a:prstGeom prst="rect">
            <a:avLst/>
          </a:prstGeom>
          <a:solidFill>
            <a:srgbClr val="FFFF99"/>
          </a:solidFill>
          <a:ln w="9525" cap="rnd" algn="ctr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1200" b="1"/>
              <a:t>SPIRAL MODEL </a:t>
            </a:r>
          </a:p>
          <a:p>
            <a:pPr eaLnBrk="0" hangingPunct="0"/>
            <a:r>
              <a:rPr lang="en-GB" sz="1200" b="1"/>
              <a:t>(Barry Boehm)</a:t>
            </a:r>
          </a:p>
          <a:p>
            <a:pPr eaLnBrk="0" hangingPunct="0"/>
            <a:endParaRPr lang="en-GB" sz="1200" b="1"/>
          </a:p>
          <a:p>
            <a:pPr eaLnBrk="0" hangingPunct="0"/>
            <a:r>
              <a:rPr lang="en-GB" sz="1200" b="1"/>
              <a:t>Iterative</a:t>
            </a:r>
          </a:p>
        </p:txBody>
      </p:sp>
      <p:sp>
        <p:nvSpPr>
          <p:cNvPr id="87064" name="Text Box 24"/>
          <p:cNvSpPr txBox="1">
            <a:spLocks noChangeArrowheads="1"/>
          </p:cNvSpPr>
          <p:nvPr/>
        </p:nvSpPr>
        <p:spPr bwMode="auto">
          <a:xfrm>
            <a:off x="3575050" y="2349500"/>
            <a:ext cx="1728788" cy="1196975"/>
          </a:xfrm>
          <a:prstGeom prst="rect">
            <a:avLst/>
          </a:prstGeom>
          <a:solidFill>
            <a:srgbClr val="FFFF99"/>
          </a:solidFill>
          <a:ln w="9525" cap="rnd" algn="ctr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1200" b="1"/>
              <a:t>RAD</a:t>
            </a:r>
          </a:p>
          <a:p>
            <a:pPr eaLnBrk="0" hangingPunct="0"/>
            <a:r>
              <a:rPr lang="en-GB" sz="1200" b="1"/>
              <a:t>(James Martin)</a:t>
            </a:r>
          </a:p>
          <a:p>
            <a:pPr eaLnBrk="0" hangingPunct="0"/>
            <a:endParaRPr lang="en-GB" sz="1200" b="1"/>
          </a:p>
          <a:p>
            <a:pPr eaLnBrk="0" hangingPunct="0"/>
            <a:r>
              <a:rPr lang="en-GB" sz="1200" b="1"/>
              <a:t>Prototyping, iterative, time-boxed, user driven</a:t>
            </a:r>
          </a:p>
        </p:txBody>
      </p:sp>
      <p:sp>
        <p:nvSpPr>
          <p:cNvPr id="87065" name="Line 25"/>
          <p:cNvSpPr>
            <a:spLocks noChangeShapeType="1"/>
          </p:cNvSpPr>
          <p:nvPr/>
        </p:nvSpPr>
        <p:spPr bwMode="auto">
          <a:xfrm flipV="1">
            <a:off x="4238625" y="4146550"/>
            <a:ext cx="0" cy="1227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066" name="Text Box 26"/>
          <p:cNvSpPr txBox="1">
            <a:spLocks noChangeArrowheads="1"/>
          </p:cNvSpPr>
          <p:nvPr/>
        </p:nvSpPr>
        <p:spPr bwMode="auto">
          <a:xfrm>
            <a:off x="4454525" y="1989138"/>
            <a:ext cx="1728788" cy="1014412"/>
          </a:xfrm>
          <a:prstGeom prst="rect">
            <a:avLst/>
          </a:prstGeom>
          <a:solidFill>
            <a:srgbClr val="FFFF99"/>
          </a:solidFill>
          <a:ln w="9525" cap="rnd" algn="ctr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GB" sz="1200" b="1"/>
              <a:t>RUP (Rational)</a:t>
            </a:r>
          </a:p>
          <a:p>
            <a:pPr eaLnBrk="0" hangingPunct="0"/>
            <a:endParaRPr lang="en-GB" sz="1200" b="1"/>
          </a:p>
          <a:p>
            <a:pPr eaLnBrk="0" hangingPunct="0"/>
            <a:r>
              <a:rPr lang="en-GB" sz="1200" b="1"/>
              <a:t>Object oriented, iterative, time-boxed, user driven</a:t>
            </a:r>
          </a:p>
        </p:txBody>
      </p:sp>
      <p:sp>
        <p:nvSpPr>
          <p:cNvPr id="87067" name="Text Box 27"/>
          <p:cNvSpPr txBox="1">
            <a:spLocks noChangeArrowheads="1"/>
          </p:cNvSpPr>
          <p:nvPr/>
        </p:nvSpPr>
        <p:spPr bwMode="auto">
          <a:xfrm>
            <a:off x="4672013" y="1484313"/>
            <a:ext cx="1728787" cy="101441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/>
            <a:r>
              <a:rPr lang="en-GB" sz="1200" b="1" dirty="0"/>
              <a:t>AGILE e.g. XP</a:t>
            </a:r>
          </a:p>
          <a:p>
            <a:pPr eaLnBrk="0" hangingPunct="0"/>
            <a:r>
              <a:rPr lang="en-US" sz="1200" b="1" dirty="0"/>
              <a:t>(Kent Beck)</a:t>
            </a:r>
            <a:endParaRPr lang="en-GB" sz="1200" b="1" dirty="0"/>
          </a:p>
          <a:p>
            <a:pPr eaLnBrk="0" hangingPunct="0"/>
            <a:endParaRPr lang="en-GB" sz="1200" b="1" dirty="0"/>
          </a:p>
          <a:p>
            <a:pPr eaLnBrk="0" hangingPunct="0"/>
            <a:r>
              <a:rPr lang="en-GB" sz="1200" b="1" dirty="0"/>
              <a:t>Incremental, user driven, low process</a:t>
            </a:r>
          </a:p>
        </p:txBody>
      </p:sp>
      <p:sp>
        <p:nvSpPr>
          <p:cNvPr id="87068" name="Text Box 28"/>
          <p:cNvSpPr txBox="1">
            <a:spLocks noChangeArrowheads="1"/>
          </p:cNvSpPr>
          <p:nvPr/>
        </p:nvSpPr>
        <p:spPr bwMode="auto">
          <a:xfrm>
            <a:off x="5715000" y="5661025"/>
            <a:ext cx="63500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200" b="1" dirty="0" smtClean="0"/>
              <a:t>1998</a:t>
            </a:r>
            <a:endParaRPr lang="en-GB" sz="1200" b="1" dirty="0"/>
          </a:p>
        </p:txBody>
      </p:sp>
      <p:sp>
        <p:nvSpPr>
          <p:cNvPr id="87069" name="Text Box 29"/>
          <p:cNvSpPr txBox="1">
            <a:spLocks noChangeArrowheads="1"/>
          </p:cNvSpPr>
          <p:nvPr/>
        </p:nvSpPr>
        <p:spPr bwMode="auto">
          <a:xfrm>
            <a:off x="6238875" y="5661025"/>
            <a:ext cx="619125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200" b="1" dirty="0" smtClean="0"/>
              <a:t>1999</a:t>
            </a:r>
            <a:endParaRPr lang="en-GB" sz="1200" b="1" dirty="0"/>
          </a:p>
        </p:txBody>
      </p:sp>
      <p:sp>
        <p:nvSpPr>
          <p:cNvPr id="87070" name="Line 30"/>
          <p:cNvSpPr>
            <a:spLocks noChangeShapeType="1"/>
          </p:cNvSpPr>
          <p:nvPr/>
        </p:nvSpPr>
        <p:spPr bwMode="auto">
          <a:xfrm flipV="1">
            <a:off x="6183313" y="2997200"/>
            <a:ext cx="0" cy="2376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071" name="Line 31"/>
          <p:cNvSpPr>
            <a:spLocks noChangeShapeType="1"/>
          </p:cNvSpPr>
          <p:nvPr/>
        </p:nvSpPr>
        <p:spPr bwMode="auto">
          <a:xfrm flipV="1">
            <a:off x="6399213" y="2492375"/>
            <a:ext cx="0" cy="2881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072" name="Text Box 32"/>
          <p:cNvSpPr txBox="1">
            <a:spLocks noChangeArrowheads="1"/>
          </p:cNvSpPr>
          <p:nvPr/>
        </p:nvSpPr>
        <p:spPr bwMode="auto">
          <a:xfrm>
            <a:off x="717550" y="4449762"/>
            <a:ext cx="1081088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/>
            <a:r>
              <a:rPr lang="en-GB" sz="1200" b="1" dirty="0"/>
              <a:t>Waterfall</a:t>
            </a:r>
          </a:p>
        </p:txBody>
      </p:sp>
      <p:sp>
        <p:nvSpPr>
          <p:cNvPr id="87073" name="Text Box 33"/>
          <p:cNvSpPr txBox="1">
            <a:spLocks noChangeArrowheads="1"/>
          </p:cNvSpPr>
          <p:nvPr/>
        </p:nvSpPr>
        <p:spPr bwMode="auto">
          <a:xfrm>
            <a:off x="2222500" y="4508500"/>
            <a:ext cx="1081088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/>
            <a:r>
              <a:rPr lang="en-GB" sz="1200" b="1"/>
              <a:t>V-Model</a:t>
            </a:r>
          </a:p>
        </p:txBody>
      </p:sp>
      <p:sp>
        <p:nvSpPr>
          <p:cNvPr id="87074" name="Text Box 34"/>
          <p:cNvSpPr txBox="1">
            <a:spLocks noChangeArrowheads="1"/>
          </p:cNvSpPr>
          <p:nvPr/>
        </p:nvSpPr>
        <p:spPr bwMode="auto">
          <a:xfrm>
            <a:off x="3087688" y="3933825"/>
            <a:ext cx="1223962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/>
            <a:r>
              <a:rPr lang="en-GB" sz="1200" b="1"/>
              <a:t>Spiral Model</a:t>
            </a:r>
          </a:p>
        </p:txBody>
      </p:sp>
      <p:sp>
        <p:nvSpPr>
          <p:cNvPr id="87075" name="Text Box 35"/>
          <p:cNvSpPr txBox="1">
            <a:spLocks noChangeArrowheads="1"/>
          </p:cNvSpPr>
          <p:nvPr/>
        </p:nvSpPr>
        <p:spPr bwMode="auto">
          <a:xfrm>
            <a:off x="4887913" y="3284538"/>
            <a:ext cx="574675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/>
            <a:r>
              <a:rPr lang="en-GB" sz="1200" b="1"/>
              <a:t>RAD</a:t>
            </a:r>
          </a:p>
        </p:txBody>
      </p:sp>
      <p:sp>
        <p:nvSpPr>
          <p:cNvPr id="87076" name="Text Box 36"/>
          <p:cNvSpPr txBox="1">
            <a:spLocks noChangeArrowheads="1"/>
          </p:cNvSpPr>
          <p:nvPr/>
        </p:nvSpPr>
        <p:spPr bwMode="auto">
          <a:xfrm>
            <a:off x="5680075" y="2852738"/>
            <a:ext cx="574675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/>
            <a:r>
              <a:rPr lang="en-GB" sz="1200" b="1"/>
              <a:t>RUP</a:t>
            </a:r>
          </a:p>
        </p:txBody>
      </p:sp>
      <p:sp>
        <p:nvSpPr>
          <p:cNvPr id="38" name="Oval 16"/>
          <p:cNvSpPr>
            <a:spLocks noChangeArrowheads="1"/>
          </p:cNvSpPr>
          <p:nvPr/>
        </p:nvSpPr>
        <p:spPr bwMode="auto">
          <a:xfrm>
            <a:off x="8466138" y="5410200"/>
            <a:ext cx="144462" cy="144463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64145" y="5638800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2014</a:t>
            </a:r>
            <a:endParaRPr lang="en-US" sz="12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7162800" y="22098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30 </a:t>
            </a:r>
            <a:r>
              <a:rPr lang="en-US" b="1" dirty="0" err="1" smtClean="0"/>
              <a:t>năm</a:t>
            </a:r>
            <a:r>
              <a:rPr lang="en-US" b="1" dirty="0" smtClean="0"/>
              <a:t> </a:t>
            </a:r>
            <a:r>
              <a:rPr lang="en-US" b="1" dirty="0" err="1" smtClean="0"/>
              <a:t>vẫn</a:t>
            </a:r>
            <a:r>
              <a:rPr lang="en-US" b="1" dirty="0" smtClean="0"/>
              <a:t> </a:t>
            </a:r>
            <a:r>
              <a:rPr lang="en-US" b="1" dirty="0" err="1" smtClean="0"/>
              <a:t>chạy</a:t>
            </a:r>
            <a:r>
              <a:rPr lang="en-US" b="1" dirty="0" smtClean="0"/>
              <a:t> </a:t>
            </a:r>
            <a:r>
              <a:rPr lang="en-US" b="1" dirty="0" err="1" smtClean="0"/>
              <a:t>tốt</a:t>
            </a:r>
            <a:r>
              <a:rPr lang="en-US" b="1" dirty="0" smtClean="0"/>
              <a:t>?</a:t>
            </a:r>
            <a:endParaRPr lang="en-US" b="1" dirty="0"/>
          </a:p>
        </p:txBody>
      </p:sp>
      <p:pic>
        <p:nvPicPr>
          <p:cNvPr id="4098" name="Picture 2" descr="C:\Users\sofpast\Desktop\royalty-free-confused-clipart-illustration-21519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2895600"/>
            <a:ext cx="2394857" cy="2514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600" y="503238"/>
            <a:ext cx="3124200" cy="1143000"/>
          </a:xfrm>
        </p:spPr>
        <p:txBody>
          <a:bodyPr>
            <a:noAutofit/>
          </a:bodyPr>
          <a:lstStyle/>
          <a:p>
            <a:pPr algn="l"/>
            <a:r>
              <a:rPr lang="en-US" sz="3600" b="1" i="1" dirty="0" smtClean="0"/>
              <a:t>TIME TO </a:t>
            </a:r>
            <a:endParaRPr lang="en-US" sz="3600" b="1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024E-DEA7-4BA8-BA6F-A86BD0AAC9CD}" type="datetime1">
              <a:rPr lang="en-US" smtClean="0"/>
              <a:pPr/>
              <a:t>3/5/2015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C:\Users\sofpast\Desktop\agile-waterfall-success-failure-rat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586" y="2667000"/>
            <a:ext cx="6263014" cy="3048000"/>
          </a:xfrm>
          <a:prstGeom prst="rect">
            <a:avLst/>
          </a:prstGeom>
          <a:noFill/>
        </p:spPr>
      </p:pic>
      <p:pic>
        <p:nvPicPr>
          <p:cNvPr id="3075" name="Picture 3" descr="C:\Users\sofpast\Desktop\change-m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91400" y="420158"/>
            <a:ext cx="1509183" cy="1256242"/>
          </a:xfrm>
          <a:prstGeom prst="rect">
            <a:avLst/>
          </a:prstGeom>
          <a:noFill/>
        </p:spPr>
      </p:pic>
      <p:pic>
        <p:nvPicPr>
          <p:cNvPr id="3076" name="Picture 4" descr="C:\Users\sofpast\Desktop\clipart_of_13165_sm_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99986" y="990600"/>
            <a:ext cx="1600200" cy="1959429"/>
          </a:xfrm>
          <a:prstGeom prst="rect">
            <a:avLst/>
          </a:prstGeom>
          <a:noFill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52586" y="1905000"/>
            <a:ext cx="647700" cy="772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Companies using Agile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01798"/>
            <a:ext cx="1447249" cy="1218016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936" y="2301798"/>
            <a:ext cx="2610033" cy="12180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4535301"/>
            <a:ext cx="1532089" cy="9528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519" y="4388466"/>
            <a:ext cx="2695523" cy="13210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010" y="2145271"/>
            <a:ext cx="1505256" cy="123077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705" y="1690688"/>
            <a:ext cx="1435894" cy="167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907" y="4448876"/>
            <a:ext cx="2238832" cy="112553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739" y="4477552"/>
            <a:ext cx="1958860" cy="104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9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241BB-9C39-4579-B23A-F942895FD35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Agile Misconceptions?</a:t>
            </a:r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18487" cy="1638300"/>
          </a:xfrm>
        </p:spPr>
        <p:txBody>
          <a:bodyPr/>
          <a:lstStyle/>
          <a:p>
            <a:r>
              <a:rPr lang="en-GB" sz="2400"/>
              <a:t>Agile means:  </a:t>
            </a:r>
            <a:r>
              <a:rPr lang="en-GB" sz="1800"/>
              <a:t>“letting the programming team do whatever they need to with no project management, and no architecture, allowing a solution to emerge, the programmers will do all the testing necessary with Unit Tests…” </a:t>
            </a:r>
            <a:endParaRPr lang="en-GB"/>
          </a:p>
        </p:txBody>
      </p:sp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636838"/>
            <a:ext cx="5715000" cy="201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2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4724400"/>
            <a:ext cx="5410200" cy="193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215" name="Picture 7" descr="j040128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24400"/>
            <a:ext cx="251460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2535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385763"/>
            <a:ext cx="8963025" cy="608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35696" y="5241974"/>
            <a:ext cx="27583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LeftDown"/>
              <a:lightRig rig="threePt" dir="t"/>
            </a:scene3d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Different</a:t>
            </a:r>
            <a:endParaRPr lang="en-US" sz="54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05804" y="5013176"/>
            <a:ext cx="37685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RightUp"/>
              <a:lightRig rig="threePt" dir="t"/>
            </a:scene3d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Perspectives</a:t>
            </a:r>
            <a:endParaRPr lang="en-US" sz="54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124200" y="6572250"/>
            <a:ext cx="2895600" cy="123111"/>
          </a:xfrm>
        </p:spPr>
        <p:txBody>
          <a:bodyPr/>
          <a:lstStyle/>
          <a:p>
            <a:pPr algn="ctr"/>
            <a:r>
              <a:rPr lang="en-US" dirty="0" smtClean="0"/>
              <a:t>Copyright © 2010 </a:t>
            </a:r>
            <a:r>
              <a:rPr lang="en-US" dirty="0" err="1" smtClean="0"/>
              <a:t>AgileInnovation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28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40" y="163552"/>
            <a:ext cx="8654355" cy="6314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36190" y="203895"/>
            <a:ext cx="8229600" cy="859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Bauhaus 93" pitchFamily="82" charset="0"/>
              </a:rPr>
              <a:t>What is agile?</a:t>
            </a:r>
            <a:endParaRPr lang="en-IE" i="1" dirty="0">
              <a:solidFill>
                <a:schemeClr val="accent1">
                  <a:lumMod val="75000"/>
                </a:schemeClr>
              </a:solidFill>
              <a:latin typeface="Bauhaus 93" pitchFamily="82" charset="0"/>
            </a:endParaRPr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124200" y="6572250"/>
            <a:ext cx="2895600" cy="123111"/>
          </a:xfrm>
        </p:spPr>
        <p:txBody>
          <a:bodyPr/>
          <a:lstStyle/>
          <a:p>
            <a:pPr algn="ctr"/>
            <a:r>
              <a:rPr lang="en-US" dirty="0" smtClean="0"/>
              <a:t>Copyright © 2010 </a:t>
            </a:r>
            <a:r>
              <a:rPr lang="en-US" dirty="0" err="1" smtClean="0"/>
              <a:t>AgileInnovation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752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 smtClean="0"/>
              <a:t>Agile Methods – Putting the Manifesto to work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899879"/>
            <a:ext cx="8001000" cy="1101725"/>
          </a:xfrm>
          <a:noFill/>
        </p:spPr>
        <p:txBody>
          <a:bodyPr rIns="0"/>
          <a:lstStyle/>
          <a:p>
            <a:pPr marL="347663" indent="-347663" eaLnBrk="1" hangingPunct="1">
              <a:lnSpc>
                <a:spcPct val="90000"/>
              </a:lnSpc>
            </a:pPr>
            <a:r>
              <a:rPr lang="en-US" sz="2800" dirty="0" smtClean="0"/>
              <a:t>‘</a:t>
            </a:r>
            <a:r>
              <a:rPr lang="en-US" sz="2400" dirty="0" smtClean="0"/>
              <a:t>Adaptable’ development approach</a:t>
            </a:r>
          </a:p>
          <a:p>
            <a:pPr marL="347663" indent="-347663" eaLnBrk="1" hangingPunct="1">
              <a:lnSpc>
                <a:spcPct val="90000"/>
              </a:lnSpc>
            </a:pPr>
            <a:r>
              <a:rPr lang="en-US" sz="2400" dirty="0" smtClean="0"/>
              <a:t>‘Human-centric’ thinking for creating business value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982663" y="5791200"/>
            <a:ext cx="686593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000" dirty="0"/>
              <a:t>Agile Manifesto. (2001). </a:t>
            </a:r>
            <a:r>
              <a:rPr lang="en-US" sz="1000" i="1" dirty="0"/>
              <a:t>Manifesto for agile software development</a:t>
            </a:r>
            <a:r>
              <a:rPr lang="en-US" sz="1000" dirty="0"/>
              <a:t>. Retrieved September 3, 2008, from http://www.agilemanifesto.org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9600" y="1524000"/>
            <a:ext cx="7907337" cy="3248025"/>
            <a:chOff x="550863" y="1295400"/>
            <a:chExt cx="7907337" cy="3248025"/>
          </a:xfrm>
        </p:grpSpPr>
        <p:grpSp>
          <p:nvGrpSpPr>
            <p:cNvPr id="2" name="Group 86"/>
            <p:cNvGrpSpPr>
              <a:grpSpLocks/>
            </p:cNvGrpSpPr>
            <p:nvPr/>
          </p:nvGrpSpPr>
          <p:grpSpPr bwMode="auto">
            <a:xfrm>
              <a:off x="2590800" y="3391692"/>
              <a:ext cx="863600" cy="493712"/>
              <a:chOff x="1484" y="1919"/>
              <a:chExt cx="544" cy="311"/>
            </a:xfrm>
          </p:grpSpPr>
          <p:sp>
            <p:nvSpPr>
              <p:cNvPr id="31828" name="Freeform 8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9" name="Freeform 9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0" name="Rectangle 10"/>
              <p:cNvSpPr>
                <a:spLocks noChangeArrowheads="1"/>
              </p:cNvSpPr>
              <p:nvPr/>
            </p:nvSpPr>
            <p:spPr bwMode="auto">
              <a:xfrm>
                <a:off x="1572" y="2016"/>
                <a:ext cx="300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FFFFFF"/>
                    </a:solidFill>
                    <a:latin typeface="Arial Black" pitchFamily="34" charset="0"/>
                  </a:rPr>
                  <a:t>Realized</a:t>
                </a:r>
                <a:endParaRPr lang="en-US" sz="800" dirty="0"/>
              </a:p>
            </p:txBody>
          </p:sp>
          <p:sp>
            <p:nvSpPr>
              <p:cNvPr id="31831" name="Rectangle 11"/>
              <p:cNvSpPr>
                <a:spLocks noChangeArrowheads="1"/>
              </p:cNvSpPr>
              <p:nvPr/>
            </p:nvSpPr>
            <p:spPr bwMode="auto">
              <a:xfrm>
                <a:off x="1632" y="2062"/>
                <a:ext cx="106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>
                    <a:solidFill>
                      <a:srgbClr val="FFFFFF"/>
                    </a:solidFill>
                    <a:latin typeface="Arial Black" pitchFamily="34" charset="0"/>
                  </a:rPr>
                  <a:t> </a:t>
                </a:r>
                <a:r>
                  <a:rPr lang="en-US" sz="800">
                    <a:solidFill>
                      <a:srgbClr val="FFFFFF"/>
                    </a:solidFill>
                    <a:latin typeface="Arial Black" pitchFamily="34" charset="0"/>
                  </a:rPr>
                  <a:t>as</a:t>
                </a:r>
                <a:endParaRPr lang="en-US" sz="800"/>
              </a:p>
            </p:txBody>
          </p:sp>
        </p:grpSp>
        <p:sp>
          <p:nvSpPr>
            <p:cNvPr id="31766" name="Freeform 12"/>
            <p:cNvSpPr>
              <a:spLocks/>
            </p:cNvSpPr>
            <p:nvPr/>
          </p:nvSpPr>
          <p:spPr bwMode="auto">
            <a:xfrm>
              <a:off x="550863" y="3389313"/>
              <a:ext cx="1939925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192 h 768"/>
                <a:gd name="T18" fmla="*/ 0 w 3072"/>
                <a:gd name="T19" fmla="*/ 576 h 768"/>
                <a:gd name="T20" fmla="*/ 192 w 3072"/>
                <a:gd name="T21" fmla="*/ 768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72"/>
                <a:gd name="T34" fmla="*/ 0 h 768"/>
                <a:gd name="T35" fmla="*/ 3072 w 3072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Rectangle 13"/>
            <p:cNvSpPr>
              <a:spLocks noChangeArrowheads="1"/>
            </p:cNvSpPr>
            <p:nvPr/>
          </p:nvSpPr>
          <p:spPr bwMode="auto">
            <a:xfrm>
              <a:off x="1025525" y="3452019"/>
              <a:ext cx="86995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  <a:latin typeface="Arial Black" pitchFamily="34" charset="0"/>
                </a:rPr>
                <a:t>Customer</a:t>
              </a:r>
              <a:endParaRPr lang="en-US" dirty="0"/>
            </a:p>
          </p:txBody>
        </p:sp>
        <p:sp>
          <p:nvSpPr>
            <p:cNvPr id="31768" name="Rectangle 14"/>
            <p:cNvSpPr>
              <a:spLocks noChangeArrowheads="1"/>
            </p:cNvSpPr>
            <p:nvPr/>
          </p:nvSpPr>
          <p:spPr bwMode="auto">
            <a:xfrm>
              <a:off x="933451" y="3617913"/>
              <a:ext cx="1208088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  <a:latin typeface="Arial Black" pitchFamily="34" charset="0"/>
                </a:rPr>
                <a:t>Collaboration</a:t>
              </a:r>
              <a:endParaRPr lang="en-US" dirty="0"/>
            </a:p>
          </p:txBody>
        </p:sp>
        <p:sp>
          <p:nvSpPr>
            <p:cNvPr id="31769" name="Freeform 15"/>
            <p:cNvSpPr>
              <a:spLocks/>
            </p:cNvSpPr>
            <p:nvPr/>
          </p:nvSpPr>
          <p:spPr bwMode="auto">
            <a:xfrm>
              <a:off x="550863" y="2057400"/>
              <a:ext cx="1973263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2880 w 3072"/>
                <a:gd name="T13" fmla="*/ 0 h 768"/>
                <a:gd name="T14" fmla="*/ 192 w 3072"/>
                <a:gd name="T15" fmla="*/ 0 h 768"/>
                <a:gd name="T16" fmla="*/ 0 w 3072"/>
                <a:gd name="T17" fmla="*/ 192 h 768"/>
                <a:gd name="T18" fmla="*/ 0 w 3072"/>
                <a:gd name="T19" fmla="*/ 192 h 768"/>
                <a:gd name="T20" fmla="*/ 0 w 3072"/>
                <a:gd name="T21" fmla="*/ 576 h 768"/>
                <a:gd name="T22" fmla="*/ 192 w 3072"/>
                <a:gd name="T23" fmla="*/ 768 h 7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72"/>
                <a:gd name="T37" fmla="*/ 0 h 768"/>
                <a:gd name="T38" fmla="*/ 3072 w 3072"/>
                <a:gd name="T39" fmla="*/ 768 h 76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Rectangle 16"/>
            <p:cNvSpPr>
              <a:spLocks noChangeArrowheads="1"/>
            </p:cNvSpPr>
            <p:nvPr/>
          </p:nvSpPr>
          <p:spPr bwMode="auto">
            <a:xfrm>
              <a:off x="944563" y="2079625"/>
              <a:ext cx="1036638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Individuals </a:t>
              </a:r>
              <a:endParaRPr lang="en-US"/>
            </a:p>
          </p:txBody>
        </p:sp>
        <p:sp>
          <p:nvSpPr>
            <p:cNvPr id="31771" name="Rectangle 17"/>
            <p:cNvSpPr>
              <a:spLocks noChangeArrowheads="1"/>
            </p:cNvSpPr>
            <p:nvPr/>
          </p:nvSpPr>
          <p:spPr bwMode="auto">
            <a:xfrm>
              <a:off x="1982788" y="2079625"/>
              <a:ext cx="14605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&amp;</a:t>
              </a:r>
              <a:endParaRPr lang="en-US"/>
            </a:p>
          </p:txBody>
        </p:sp>
        <p:sp>
          <p:nvSpPr>
            <p:cNvPr id="31772" name="Rectangle 18"/>
            <p:cNvSpPr>
              <a:spLocks noChangeArrowheads="1"/>
            </p:cNvSpPr>
            <p:nvPr/>
          </p:nvSpPr>
          <p:spPr bwMode="auto">
            <a:xfrm>
              <a:off x="985838" y="2286000"/>
              <a:ext cx="1096963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Interactions</a:t>
              </a:r>
              <a:endParaRPr lang="en-US"/>
            </a:p>
          </p:txBody>
        </p:sp>
        <p:sp>
          <p:nvSpPr>
            <p:cNvPr id="31773" name="Freeform 19"/>
            <p:cNvSpPr>
              <a:spLocks/>
            </p:cNvSpPr>
            <p:nvPr/>
          </p:nvSpPr>
          <p:spPr bwMode="auto">
            <a:xfrm>
              <a:off x="550863" y="2735263"/>
              <a:ext cx="1973263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192 h 768"/>
                <a:gd name="T18" fmla="*/ 0 w 3072"/>
                <a:gd name="T19" fmla="*/ 576 h 768"/>
                <a:gd name="T20" fmla="*/ 192 w 3072"/>
                <a:gd name="T21" fmla="*/ 768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72"/>
                <a:gd name="T34" fmla="*/ 0 h 768"/>
                <a:gd name="T35" fmla="*/ 3072 w 3072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Rectangle 20"/>
            <p:cNvSpPr>
              <a:spLocks noChangeArrowheads="1"/>
            </p:cNvSpPr>
            <p:nvPr/>
          </p:nvSpPr>
          <p:spPr bwMode="auto">
            <a:xfrm>
              <a:off x="1169988" y="2757488"/>
              <a:ext cx="731838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Working</a:t>
              </a:r>
              <a:endParaRPr lang="en-US"/>
            </a:p>
          </p:txBody>
        </p:sp>
        <p:sp>
          <p:nvSpPr>
            <p:cNvPr id="31775" name="Rectangle 21"/>
            <p:cNvSpPr>
              <a:spLocks noChangeArrowheads="1"/>
            </p:cNvSpPr>
            <p:nvPr/>
          </p:nvSpPr>
          <p:spPr bwMode="auto">
            <a:xfrm>
              <a:off x="1128713" y="2963863"/>
              <a:ext cx="81280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Software</a:t>
              </a:r>
              <a:endParaRPr lang="en-US"/>
            </a:p>
          </p:txBody>
        </p:sp>
        <p:sp>
          <p:nvSpPr>
            <p:cNvPr id="31776" name="Freeform 22"/>
            <p:cNvSpPr>
              <a:spLocks/>
            </p:cNvSpPr>
            <p:nvPr/>
          </p:nvSpPr>
          <p:spPr bwMode="auto">
            <a:xfrm>
              <a:off x="550863" y="4051300"/>
              <a:ext cx="1973263" cy="492125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192 h 768"/>
                <a:gd name="T18" fmla="*/ 0 w 3072"/>
                <a:gd name="T19" fmla="*/ 576 h 768"/>
                <a:gd name="T20" fmla="*/ 192 w 3072"/>
                <a:gd name="T21" fmla="*/ 768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72"/>
                <a:gd name="T34" fmla="*/ 0 h 768"/>
                <a:gd name="T35" fmla="*/ 3072 w 3072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Rectangle 23"/>
            <p:cNvSpPr>
              <a:spLocks noChangeArrowheads="1"/>
            </p:cNvSpPr>
            <p:nvPr/>
          </p:nvSpPr>
          <p:spPr bwMode="auto">
            <a:xfrm>
              <a:off x="1033463" y="4071937"/>
              <a:ext cx="1052513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Responding</a:t>
              </a:r>
              <a:endParaRPr lang="en-US"/>
            </a:p>
          </p:txBody>
        </p:sp>
        <p:sp>
          <p:nvSpPr>
            <p:cNvPr id="31778" name="Rectangle 24"/>
            <p:cNvSpPr>
              <a:spLocks noChangeArrowheads="1"/>
            </p:cNvSpPr>
            <p:nvPr/>
          </p:nvSpPr>
          <p:spPr bwMode="auto">
            <a:xfrm>
              <a:off x="1095375" y="4278312"/>
              <a:ext cx="91440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to Change</a:t>
              </a:r>
              <a:endParaRPr lang="en-US"/>
            </a:p>
          </p:txBody>
        </p:sp>
        <p:sp>
          <p:nvSpPr>
            <p:cNvPr id="31779" name="Freeform 25"/>
            <p:cNvSpPr>
              <a:spLocks/>
            </p:cNvSpPr>
            <p:nvPr/>
          </p:nvSpPr>
          <p:spPr bwMode="auto">
            <a:xfrm>
              <a:off x="3509963" y="3428204"/>
              <a:ext cx="1971675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192 h 768"/>
                <a:gd name="T18" fmla="*/ 0 w 3072"/>
                <a:gd name="T19" fmla="*/ 576 h 768"/>
                <a:gd name="T20" fmla="*/ 192 w 3072"/>
                <a:gd name="T21" fmla="*/ 768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72"/>
                <a:gd name="T34" fmla="*/ 0 h 768"/>
                <a:gd name="T35" fmla="*/ 3072 w 3072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Rectangle 26"/>
            <p:cNvSpPr>
              <a:spLocks noChangeArrowheads="1"/>
            </p:cNvSpPr>
            <p:nvPr/>
          </p:nvSpPr>
          <p:spPr bwMode="auto">
            <a:xfrm>
              <a:off x="4048920" y="3409153"/>
              <a:ext cx="979488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solidFill>
                    <a:srgbClr val="FF0000"/>
                  </a:solidFill>
                  <a:latin typeface="Franklin Gothic Heavy" pitchFamily="34" charset="0"/>
                </a:rPr>
                <a:t>Customer</a:t>
              </a:r>
              <a:endParaRPr lang="en-US" dirty="0"/>
            </a:p>
          </p:txBody>
        </p:sp>
        <p:sp>
          <p:nvSpPr>
            <p:cNvPr id="31781" name="Rectangle 27"/>
            <p:cNvSpPr>
              <a:spLocks noChangeArrowheads="1"/>
            </p:cNvSpPr>
            <p:nvPr/>
          </p:nvSpPr>
          <p:spPr bwMode="auto">
            <a:xfrm>
              <a:off x="3999327" y="3614736"/>
              <a:ext cx="1127125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solidFill>
                    <a:srgbClr val="FF0000"/>
                  </a:solidFill>
                  <a:latin typeface="Franklin Gothic Heavy" pitchFamily="34" charset="0"/>
                </a:rPr>
                <a:t>Interaction</a:t>
              </a:r>
              <a:endParaRPr lang="en-US" dirty="0"/>
            </a:p>
          </p:txBody>
        </p:sp>
        <p:sp>
          <p:nvSpPr>
            <p:cNvPr id="31782" name="Freeform 28"/>
            <p:cNvSpPr>
              <a:spLocks/>
            </p:cNvSpPr>
            <p:nvPr/>
          </p:nvSpPr>
          <p:spPr bwMode="auto">
            <a:xfrm>
              <a:off x="3509963" y="2057400"/>
              <a:ext cx="1971675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2880 w 3072"/>
                <a:gd name="T13" fmla="*/ 0 h 768"/>
                <a:gd name="T14" fmla="*/ 192 w 3072"/>
                <a:gd name="T15" fmla="*/ 0 h 768"/>
                <a:gd name="T16" fmla="*/ 0 w 3072"/>
                <a:gd name="T17" fmla="*/ 192 h 768"/>
                <a:gd name="T18" fmla="*/ 0 w 3072"/>
                <a:gd name="T19" fmla="*/ 576 h 768"/>
                <a:gd name="T20" fmla="*/ 192 w 3072"/>
                <a:gd name="T21" fmla="*/ 768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72"/>
                <a:gd name="T34" fmla="*/ 0 h 768"/>
                <a:gd name="T35" fmla="*/ 3072 w 3072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3" name="Rectangle 29"/>
            <p:cNvSpPr>
              <a:spLocks noChangeArrowheads="1"/>
            </p:cNvSpPr>
            <p:nvPr/>
          </p:nvSpPr>
          <p:spPr bwMode="auto">
            <a:xfrm>
              <a:off x="3563938" y="2060575"/>
              <a:ext cx="460375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FF0000"/>
                  </a:solidFill>
                  <a:latin typeface="Franklin Gothic Heavy" pitchFamily="34" charset="0"/>
                </a:rPr>
                <a:t>High</a:t>
              </a:r>
              <a:endParaRPr lang="en-US"/>
            </a:p>
          </p:txBody>
        </p:sp>
        <p:sp>
          <p:nvSpPr>
            <p:cNvPr id="31784" name="Rectangle 30"/>
            <p:cNvSpPr>
              <a:spLocks noChangeArrowheads="1"/>
            </p:cNvSpPr>
            <p:nvPr/>
          </p:nvSpPr>
          <p:spPr bwMode="auto">
            <a:xfrm>
              <a:off x="4025901" y="2060575"/>
              <a:ext cx="58738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FF0000"/>
                  </a:solidFill>
                  <a:latin typeface="Franklin Gothic Heavy" pitchFamily="34" charset="0"/>
                </a:rPr>
                <a:t>-</a:t>
              </a:r>
              <a:endParaRPr lang="en-US"/>
            </a:p>
          </p:txBody>
        </p:sp>
        <p:sp>
          <p:nvSpPr>
            <p:cNvPr id="31785" name="Rectangle 31"/>
            <p:cNvSpPr>
              <a:spLocks noChangeArrowheads="1"/>
            </p:cNvSpPr>
            <p:nvPr/>
          </p:nvSpPr>
          <p:spPr bwMode="auto">
            <a:xfrm>
              <a:off x="4087813" y="2060575"/>
              <a:ext cx="1374775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FF0000"/>
                  </a:solidFill>
                  <a:latin typeface="Franklin Gothic Heavy" pitchFamily="34" charset="0"/>
                </a:rPr>
                <a:t>Performance </a:t>
              </a:r>
              <a:endParaRPr lang="en-US"/>
            </a:p>
          </p:txBody>
        </p:sp>
        <p:sp>
          <p:nvSpPr>
            <p:cNvPr id="31786" name="Rectangle 32"/>
            <p:cNvSpPr>
              <a:spLocks noChangeArrowheads="1"/>
            </p:cNvSpPr>
            <p:nvPr/>
          </p:nvSpPr>
          <p:spPr bwMode="auto">
            <a:xfrm>
              <a:off x="4160838" y="2286000"/>
              <a:ext cx="654050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solidFill>
                    <a:srgbClr val="FF0000"/>
                  </a:solidFill>
                  <a:latin typeface="Franklin Gothic Heavy" pitchFamily="34" charset="0"/>
                </a:rPr>
                <a:t>Teams</a:t>
              </a:r>
              <a:endParaRPr lang="en-US" dirty="0"/>
            </a:p>
          </p:txBody>
        </p:sp>
        <p:sp>
          <p:nvSpPr>
            <p:cNvPr id="31787" name="Freeform 33"/>
            <p:cNvSpPr>
              <a:spLocks/>
            </p:cNvSpPr>
            <p:nvPr/>
          </p:nvSpPr>
          <p:spPr bwMode="auto">
            <a:xfrm>
              <a:off x="3509963" y="2735263"/>
              <a:ext cx="1971675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576 h 768"/>
                <a:gd name="T18" fmla="*/ 192 w 3072"/>
                <a:gd name="T19" fmla="*/ 768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72"/>
                <a:gd name="T31" fmla="*/ 0 h 768"/>
                <a:gd name="T32" fmla="*/ 3072 w 3072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8" name="Rectangle 34"/>
            <p:cNvSpPr>
              <a:spLocks noChangeArrowheads="1"/>
            </p:cNvSpPr>
            <p:nvPr/>
          </p:nvSpPr>
          <p:spPr bwMode="auto">
            <a:xfrm>
              <a:off x="4057651" y="2738438"/>
              <a:ext cx="868363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FF0000"/>
                  </a:solidFill>
                  <a:latin typeface="Franklin Gothic Heavy" pitchFamily="34" charset="0"/>
                </a:rPr>
                <a:t>Iterative</a:t>
              </a:r>
              <a:endParaRPr lang="en-US"/>
            </a:p>
          </p:txBody>
        </p:sp>
        <p:sp>
          <p:nvSpPr>
            <p:cNvPr id="31789" name="Rectangle 35"/>
            <p:cNvSpPr>
              <a:spLocks noChangeArrowheads="1"/>
            </p:cNvSpPr>
            <p:nvPr/>
          </p:nvSpPr>
          <p:spPr bwMode="auto">
            <a:xfrm>
              <a:off x="3811588" y="2963863"/>
              <a:ext cx="1347788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FF0000"/>
                  </a:solidFill>
                  <a:latin typeface="Franklin Gothic Heavy" pitchFamily="34" charset="0"/>
                </a:rPr>
                <a:t>Development</a:t>
              </a:r>
              <a:endParaRPr lang="en-US"/>
            </a:p>
          </p:txBody>
        </p:sp>
        <p:sp>
          <p:nvSpPr>
            <p:cNvPr id="31790" name="Freeform 36"/>
            <p:cNvSpPr>
              <a:spLocks/>
            </p:cNvSpPr>
            <p:nvPr/>
          </p:nvSpPr>
          <p:spPr bwMode="auto">
            <a:xfrm>
              <a:off x="3527425" y="4051300"/>
              <a:ext cx="1971675" cy="492125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576 h 768"/>
                <a:gd name="T18" fmla="*/ 192 w 3072"/>
                <a:gd name="T19" fmla="*/ 768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72"/>
                <a:gd name="T31" fmla="*/ 0 h 768"/>
                <a:gd name="T32" fmla="*/ 3072 w 3072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91" name="Rectangle 37"/>
            <p:cNvSpPr>
              <a:spLocks noChangeArrowheads="1"/>
            </p:cNvSpPr>
            <p:nvPr/>
          </p:nvSpPr>
          <p:spPr bwMode="auto">
            <a:xfrm>
              <a:off x="3889375" y="4052887"/>
              <a:ext cx="1236663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FF0000"/>
                  </a:solidFill>
                  <a:latin typeface="Franklin Gothic Heavy" pitchFamily="34" charset="0"/>
                </a:rPr>
                <a:t>Adaptability</a:t>
              </a:r>
              <a:endParaRPr lang="en-US"/>
            </a:p>
          </p:txBody>
        </p:sp>
        <p:sp>
          <p:nvSpPr>
            <p:cNvPr id="31792" name="Rectangle 38"/>
            <p:cNvSpPr>
              <a:spLocks noChangeArrowheads="1"/>
            </p:cNvSpPr>
            <p:nvPr/>
          </p:nvSpPr>
          <p:spPr bwMode="auto">
            <a:xfrm>
              <a:off x="3868738" y="4278312"/>
              <a:ext cx="1265238" cy="258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FF0000"/>
                  </a:solidFill>
                  <a:latin typeface="Franklin Gothic Heavy" pitchFamily="34" charset="0"/>
                </a:rPr>
                <a:t>or Flexibility</a:t>
              </a:r>
              <a:endParaRPr lang="en-US"/>
            </a:p>
          </p:txBody>
        </p:sp>
        <p:sp>
          <p:nvSpPr>
            <p:cNvPr id="31793" name="Freeform 39"/>
            <p:cNvSpPr>
              <a:spLocks/>
            </p:cNvSpPr>
            <p:nvPr/>
          </p:nvSpPr>
          <p:spPr bwMode="auto">
            <a:xfrm>
              <a:off x="6469063" y="3421059"/>
              <a:ext cx="1971675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192 h 768"/>
                <a:gd name="T18" fmla="*/ 0 w 3072"/>
                <a:gd name="T19" fmla="*/ 576 h 768"/>
                <a:gd name="T20" fmla="*/ 192 w 3072"/>
                <a:gd name="T21" fmla="*/ 768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72"/>
                <a:gd name="T34" fmla="*/ 0 h 768"/>
                <a:gd name="T35" fmla="*/ 3072 w 3072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94" name="Rectangle 40"/>
            <p:cNvSpPr>
              <a:spLocks noChangeArrowheads="1"/>
            </p:cNvSpPr>
            <p:nvPr/>
          </p:nvSpPr>
          <p:spPr bwMode="auto">
            <a:xfrm>
              <a:off x="7033421" y="3429000"/>
              <a:ext cx="785813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  <a:latin typeface="Arial Black" pitchFamily="34" charset="0"/>
                </a:rPr>
                <a:t>Contract</a:t>
              </a:r>
              <a:endParaRPr lang="en-US" dirty="0"/>
            </a:p>
          </p:txBody>
        </p:sp>
        <p:sp>
          <p:nvSpPr>
            <p:cNvPr id="31795" name="Rectangle 41"/>
            <p:cNvSpPr>
              <a:spLocks noChangeArrowheads="1"/>
            </p:cNvSpPr>
            <p:nvPr/>
          </p:nvSpPr>
          <p:spPr bwMode="auto">
            <a:xfrm>
              <a:off x="6934200" y="3647281"/>
              <a:ext cx="1052513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  <a:latin typeface="Arial Black" pitchFamily="34" charset="0"/>
                </a:rPr>
                <a:t>Negotiation</a:t>
              </a:r>
              <a:endParaRPr lang="en-US" dirty="0"/>
            </a:p>
          </p:txBody>
        </p:sp>
        <p:sp>
          <p:nvSpPr>
            <p:cNvPr id="31796" name="Freeform 42"/>
            <p:cNvSpPr>
              <a:spLocks/>
            </p:cNvSpPr>
            <p:nvPr/>
          </p:nvSpPr>
          <p:spPr bwMode="auto">
            <a:xfrm>
              <a:off x="6469063" y="2057400"/>
              <a:ext cx="1971675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2880 w 3072"/>
                <a:gd name="T13" fmla="*/ 0 h 768"/>
                <a:gd name="T14" fmla="*/ 192 w 3072"/>
                <a:gd name="T15" fmla="*/ 0 h 768"/>
                <a:gd name="T16" fmla="*/ 0 w 3072"/>
                <a:gd name="T17" fmla="*/ 192 h 768"/>
                <a:gd name="T18" fmla="*/ 0 w 3072"/>
                <a:gd name="T19" fmla="*/ 576 h 768"/>
                <a:gd name="T20" fmla="*/ 192 w 3072"/>
                <a:gd name="T21" fmla="*/ 768 h 7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72"/>
                <a:gd name="T34" fmla="*/ 0 h 768"/>
                <a:gd name="T35" fmla="*/ 3072 w 3072"/>
                <a:gd name="T36" fmla="*/ 768 h 7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97" name="Rectangle 43"/>
            <p:cNvSpPr>
              <a:spLocks noChangeArrowheads="1"/>
            </p:cNvSpPr>
            <p:nvPr/>
          </p:nvSpPr>
          <p:spPr bwMode="auto">
            <a:xfrm>
              <a:off x="6985001" y="2079625"/>
              <a:ext cx="935038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Processes</a:t>
              </a:r>
              <a:endParaRPr lang="en-US"/>
            </a:p>
          </p:txBody>
        </p:sp>
        <p:sp>
          <p:nvSpPr>
            <p:cNvPr id="31798" name="Rectangle 44"/>
            <p:cNvSpPr>
              <a:spLocks noChangeArrowheads="1"/>
            </p:cNvSpPr>
            <p:nvPr/>
          </p:nvSpPr>
          <p:spPr bwMode="auto">
            <a:xfrm>
              <a:off x="7108826" y="2286000"/>
              <a:ext cx="201613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&amp; </a:t>
              </a:r>
              <a:endParaRPr lang="en-US"/>
            </a:p>
          </p:txBody>
        </p:sp>
        <p:sp>
          <p:nvSpPr>
            <p:cNvPr id="31799" name="Rectangle 45"/>
            <p:cNvSpPr>
              <a:spLocks noChangeArrowheads="1"/>
            </p:cNvSpPr>
            <p:nvPr/>
          </p:nvSpPr>
          <p:spPr bwMode="auto">
            <a:xfrm>
              <a:off x="7304088" y="2286000"/>
              <a:ext cx="49530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Tools</a:t>
              </a:r>
              <a:endParaRPr lang="en-US"/>
            </a:p>
          </p:txBody>
        </p:sp>
        <p:sp>
          <p:nvSpPr>
            <p:cNvPr id="31800" name="Freeform 46"/>
            <p:cNvSpPr>
              <a:spLocks/>
            </p:cNvSpPr>
            <p:nvPr/>
          </p:nvSpPr>
          <p:spPr bwMode="auto">
            <a:xfrm>
              <a:off x="6469063" y="2735263"/>
              <a:ext cx="1971675" cy="493713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576 h 768"/>
                <a:gd name="T18" fmla="*/ 192 w 3072"/>
                <a:gd name="T19" fmla="*/ 768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72"/>
                <a:gd name="T31" fmla="*/ 0 h 768"/>
                <a:gd name="T32" fmla="*/ 3072 w 3072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01" name="Rectangle 47"/>
            <p:cNvSpPr>
              <a:spLocks noChangeArrowheads="1"/>
            </p:cNvSpPr>
            <p:nvPr/>
          </p:nvSpPr>
          <p:spPr bwMode="auto">
            <a:xfrm>
              <a:off x="6759576" y="2757488"/>
              <a:ext cx="1392238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Comprehensive</a:t>
              </a:r>
              <a:endParaRPr lang="en-US"/>
            </a:p>
          </p:txBody>
        </p:sp>
        <p:sp>
          <p:nvSpPr>
            <p:cNvPr id="31802" name="Rectangle 48"/>
            <p:cNvSpPr>
              <a:spLocks noChangeArrowheads="1"/>
            </p:cNvSpPr>
            <p:nvPr/>
          </p:nvSpPr>
          <p:spPr bwMode="auto">
            <a:xfrm>
              <a:off x="6769101" y="2963863"/>
              <a:ext cx="137160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Documentation</a:t>
              </a:r>
              <a:endParaRPr lang="en-US"/>
            </a:p>
          </p:txBody>
        </p:sp>
        <p:sp>
          <p:nvSpPr>
            <p:cNvPr id="31803" name="Freeform 49"/>
            <p:cNvSpPr>
              <a:spLocks/>
            </p:cNvSpPr>
            <p:nvPr/>
          </p:nvSpPr>
          <p:spPr bwMode="auto">
            <a:xfrm>
              <a:off x="6486525" y="4051300"/>
              <a:ext cx="1971675" cy="492125"/>
            </a:xfrm>
            <a:custGeom>
              <a:avLst/>
              <a:gdLst>
                <a:gd name="T0" fmla="*/ 192 w 3072"/>
                <a:gd name="T1" fmla="*/ 768 h 768"/>
                <a:gd name="T2" fmla="*/ 2880 w 3072"/>
                <a:gd name="T3" fmla="*/ 768 h 768"/>
                <a:gd name="T4" fmla="*/ 3072 w 3072"/>
                <a:gd name="T5" fmla="*/ 576 h 768"/>
                <a:gd name="T6" fmla="*/ 3072 w 3072"/>
                <a:gd name="T7" fmla="*/ 576 h 768"/>
                <a:gd name="T8" fmla="*/ 3072 w 3072"/>
                <a:gd name="T9" fmla="*/ 192 h 768"/>
                <a:gd name="T10" fmla="*/ 2880 w 3072"/>
                <a:gd name="T11" fmla="*/ 0 h 768"/>
                <a:gd name="T12" fmla="*/ 192 w 3072"/>
                <a:gd name="T13" fmla="*/ 0 h 768"/>
                <a:gd name="T14" fmla="*/ 0 w 3072"/>
                <a:gd name="T15" fmla="*/ 192 h 768"/>
                <a:gd name="T16" fmla="*/ 0 w 3072"/>
                <a:gd name="T17" fmla="*/ 576 h 768"/>
                <a:gd name="T18" fmla="*/ 192 w 3072"/>
                <a:gd name="T19" fmla="*/ 768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72"/>
                <a:gd name="T31" fmla="*/ 0 h 768"/>
                <a:gd name="T32" fmla="*/ 3072 w 3072"/>
                <a:gd name="T33" fmla="*/ 768 h 7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72" h="768">
                  <a:moveTo>
                    <a:pt x="192" y="768"/>
                  </a:moveTo>
                  <a:lnTo>
                    <a:pt x="2880" y="768"/>
                  </a:lnTo>
                  <a:cubicBezTo>
                    <a:pt x="2986" y="768"/>
                    <a:pt x="3072" y="682"/>
                    <a:pt x="3072" y="576"/>
                  </a:cubicBezTo>
                  <a:cubicBezTo>
                    <a:pt x="3072" y="576"/>
                    <a:pt x="3072" y="576"/>
                    <a:pt x="3072" y="576"/>
                  </a:cubicBezTo>
                  <a:lnTo>
                    <a:pt x="3072" y="192"/>
                  </a:lnTo>
                  <a:cubicBezTo>
                    <a:pt x="3072" y="86"/>
                    <a:pt x="2986" y="0"/>
                    <a:pt x="2880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04" name="Rectangle 50"/>
            <p:cNvSpPr>
              <a:spLocks noChangeArrowheads="1"/>
            </p:cNvSpPr>
            <p:nvPr/>
          </p:nvSpPr>
          <p:spPr bwMode="auto">
            <a:xfrm>
              <a:off x="7034213" y="4071937"/>
              <a:ext cx="86995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Following</a:t>
              </a:r>
              <a:endParaRPr lang="en-US"/>
            </a:p>
          </p:txBody>
        </p:sp>
        <p:sp>
          <p:nvSpPr>
            <p:cNvPr id="31805" name="Rectangle 51"/>
            <p:cNvSpPr>
              <a:spLocks noChangeArrowheads="1"/>
            </p:cNvSpPr>
            <p:nvPr/>
          </p:nvSpPr>
          <p:spPr bwMode="auto">
            <a:xfrm>
              <a:off x="7197725" y="4278312"/>
              <a:ext cx="558800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 Black" pitchFamily="34" charset="0"/>
                </a:rPr>
                <a:t>a Plan</a:t>
              </a:r>
              <a:endParaRPr lang="en-US"/>
            </a:p>
          </p:txBody>
        </p:sp>
        <p:sp>
          <p:nvSpPr>
            <p:cNvPr id="31806" name="Rectangle 52"/>
            <p:cNvSpPr>
              <a:spLocks noChangeArrowheads="1"/>
            </p:cNvSpPr>
            <p:nvPr/>
          </p:nvSpPr>
          <p:spPr bwMode="auto">
            <a:xfrm>
              <a:off x="704851" y="1295400"/>
              <a:ext cx="11811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80"/>
                  </a:solidFill>
                  <a:latin typeface="Impact" pitchFamily="34" charset="0"/>
                </a:rPr>
                <a:t>Agile Methods</a:t>
              </a:r>
              <a:endParaRPr lang="en-US"/>
            </a:p>
          </p:txBody>
        </p:sp>
        <p:sp>
          <p:nvSpPr>
            <p:cNvPr id="31807" name="Rectangle 53"/>
            <p:cNvSpPr>
              <a:spLocks noChangeArrowheads="1"/>
            </p:cNvSpPr>
            <p:nvPr/>
          </p:nvSpPr>
          <p:spPr bwMode="auto">
            <a:xfrm>
              <a:off x="982663" y="1543050"/>
              <a:ext cx="63976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80"/>
                  </a:solidFill>
                  <a:latin typeface="Impact" pitchFamily="34" charset="0"/>
                </a:rPr>
                <a:t>‘Values’</a:t>
              </a:r>
              <a:endParaRPr lang="en-US"/>
            </a:p>
          </p:txBody>
        </p:sp>
        <p:sp>
          <p:nvSpPr>
            <p:cNvPr id="31808" name="Freeform 66"/>
            <p:cNvSpPr>
              <a:spLocks/>
            </p:cNvSpPr>
            <p:nvPr/>
          </p:nvSpPr>
          <p:spPr bwMode="auto">
            <a:xfrm>
              <a:off x="5562600" y="3457162"/>
              <a:ext cx="863600" cy="493713"/>
            </a:xfrm>
            <a:custGeom>
              <a:avLst/>
              <a:gdLst>
                <a:gd name="T0" fmla="*/ 544 w 544"/>
                <a:gd name="T1" fmla="*/ 156 h 311"/>
                <a:gd name="T2" fmla="*/ 389 w 544"/>
                <a:gd name="T3" fmla="*/ 0 h 311"/>
                <a:gd name="T4" fmla="*/ 389 w 544"/>
                <a:gd name="T5" fmla="*/ 78 h 311"/>
                <a:gd name="T6" fmla="*/ 0 w 544"/>
                <a:gd name="T7" fmla="*/ 78 h 311"/>
                <a:gd name="T8" fmla="*/ 0 w 544"/>
                <a:gd name="T9" fmla="*/ 233 h 311"/>
                <a:gd name="T10" fmla="*/ 389 w 544"/>
                <a:gd name="T11" fmla="*/ 233 h 311"/>
                <a:gd name="T12" fmla="*/ 389 w 544"/>
                <a:gd name="T13" fmla="*/ 311 h 311"/>
                <a:gd name="T14" fmla="*/ 544 w 544"/>
                <a:gd name="T15" fmla="*/ 156 h 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1"/>
                <a:gd name="T26" fmla="*/ 544 w 544"/>
                <a:gd name="T27" fmla="*/ 311 h 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1">
                  <a:moveTo>
                    <a:pt x="544" y="156"/>
                  </a:moveTo>
                  <a:lnTo>
                    <a:pt x="389" y="0"/>
                  </a:lnTo>
                  <a:lnTo>
                    <a:pt x="389" y="78"/>
                  </a:lnTo>
                  <a:lnTo>
                    <a:pt x="0" y="78"/>
                  </a:lnTo>
                  <a:lnTo>
                    <a:pt x="0" y="233"/>
                  </a:lnTo>
                  <a:lnTo>
                    <a:pt x="389" y="233"/>
                  </a:lnTo>
                  <a:lnTo>
                    <a:pt x="389" y="311"/>
                  </a:lnTo>
                  <a:lnTo>
                    <a:pt x="544" y="156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09" name="Freeform 67"/>
            <p:cNvSpPr>
              <a:spLocks/>
            </p:cNvSpPr>
            <p:nvPr/>
          </p:nvSpPr>
          <p:spPr bwMode="auto">
            <a:xfrm>
              <a:off x="5543551" y="3440109"/>
              <a:ext cx="863600" cy="493713"/>
            </a:xfrm>
            <a:custGeom>
              <a:avLst/>
              <a:gdLst>
                <a:gd name="T0" fmla="*/ 544 w 544"/>
                <a:gd name="T1" fmla="*/ 156 h 311"/>
                <a:gd name="T2" fmla="*/ 389 w 544"/>
                <a:gd name="T3" fmla="*/ 0 h 311"/>
                <a:gd name="T4" fmla="*/ 389 w 544"/>
                <a:gd name="T5" fmla="*/ 78 h 311"/>
                <a:gd name="T6" fmla="*/ 0 w 544"/>
                <a:gd name="T7" fmla="*/ 78 h 311"/>
                <a:gd name="T8" fmla="*/ 0 w 544"/>
                <a:gd name="T9" fmla="*/ 233 h 311"/>
                <a:gd name="T10" fmla="*/ 389 w 544"/>
                <a:gd name="T11" fmla="*/ 233 h 311"/>
                <a:gd name="T12" fmla="*/ 389 w 544"/>
                <a:gd name="T13" fmla="*/ 311 h 311"/>
                <a:gd name="T14" fmla="*/ 544 w 544"/>
                <a:gd name="T15" fmla="*/ 156 h 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1"/>
                <a:gd name="T26" fmla="*/ 544 w 544"/>
                <a:gd name="T27" fmla="*/ 311 h 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1">
                  <a:moveTo>
                    <a:pt x="544" y="156"/>
                  </a:moveTo>
                  <a:lnTo>
                    <a:pt x="389" y="0"/>
                  </a:lnTo>
                  <a:lnTo>
                    <a:pt x="389" y="78"/>
                  </a:lnTo>
                  <a:lnTo>
                    <a:pt x="0" y="78"/>
                  </a:lnTo>
                  <a:lnTo>
                    <a:pt x="0" y="233"/>
                  </a:lnTo>
                  <a:lnTo>
                    <a:pt x="389" y="233"/>
                  </a:lnTo>
                  <a:lnTo>
                    <a:pt x="389" y="311"/>
                  </a:lnTo>
                  <a:lnTo>
                    <a:pt x="544" y="15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11" name="Rectangle 69"/>
            <p:cNvSpPr>
              <a:spLocks noChangeArrowheads="1"/>
            </p:cNvSpPr>
            <p:nvPr/>
          </p:nvSpPr>
          <p:spPr bwMode="auto">
            <a:xfrm>
              <a:off x="5370513" y="2136775"/>
              <a:ext cx="63500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Arial Black" pitchFamily="34" charset="0"/>
                </a:rPr>
                <a:t>more than</a:t>
              </a:r>
              <a:endParaRPr lang="en-US" dirty="0"/>
            </a:p>
          </p:txBody>
        </p:sp>
        <p:sp>
          <p:nvSpPr>
            <p:cNvPr id="31812" name="Freeform 70"/>
            <p:cNvSpPr>
              <a:spLocks/>
            </p:cNvSpPr>
            <p:nvPr/>
          </p:nvSpPr>
          <p:spPr bwMode="auto">
            <a:xfrm>
              <a:off x="5543551" y="2057400"/>
              <a:ext cx="863600" cy="493713"/>
            </a:xfrm>
            <a:custGeom>
              <a:avLst/>
              <a:gdLst>
                <a:gd name="T0" fmla="*/ 544 w 544"/>
                <a:gd name="T1" fmla="*/ 156 h 311"/>
                <a:gd name="T2" fmla="*/ 389 w 544"/>
                <a:gd name="T3" fmla="*/ 0 h 311"/>
                <a:gd name="T4" fmla="*/ 389 w 544"/>
                <a:gd name="T5" fmla="*/ 78 h 311"/>
                <a:gd name="T6" fmla="*/ 0 w 544"/>
                <a:gd name="T7" fmla="*/ 78 h 311"/>
                <a:gd name="T8" fmla="*/ 0 w 544"/>
                <a:gd name="T9" fmla="*/ 233 h 311"/>
                <a:gd name="T10" fmla="*/ 389 w 544"/>
                <a:gd name="T11" fmla="*/ 233 h 311"/>
                <a:gd name="T12" fmla="*/ 389 w 544"/>
                <a:gd name="T13" fmla="*/ 311 h 311"/>
                <a:gd name="T14" fmla="*/ 544 w 544"/>
                <a:gd name="T15" fmla="*/ 156 h 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1"/>
                <a:gd name="T26" fmla="*/ 544 w 544"/>
                <a:gd name="T27" fmla="*/ 311 h 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1">
                  <a:moveTo>
                    <a:pt x="544" y="156"/>
                  </a:moveTo>
                  <a:lnTo>
                    <a:pt x="389" y="0"/>
                  </a:lnTo>
                  <a:lnTo>
                    <a:pt x="389" y="78"/>
                  </a:lnTo>
                  <a:lnTo>
                    <a:pt x="0" y="78"/>
                  </a:lnTo>
                  <a:lnTo>
                    <a:pt x="0" y="233"/>
                  </a:lnTo>
                  <a:lnTo>
                    <a:pt x="389" y="233"/>
                  </a:lnTo>
                  <a:lnTo>
                    <a:pt x="389" y="311"/>
                  </a:lnTo>
                  <a:lnTo>
                    <a:pt x="544" y="156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13" name="Freeform 71"/>
            <p:cNvSpPr>
              <a:spLocks/>
            </p:cNvSpPr>
            <p:nvPr/>
          </p:nvSpPr>
          <p:spPr bwMode="auto">
            <a:xfrm>
              <a:off x="5543551" y="2057400"/>
              <a:ext cx="863600" cy="493713"/>
            </a:xfrm>
            <a:custGeom>
              <a:avLst/>
              <a:gdLst>
                <a:gd name="T0" fmla="*/ 544 w 544"/>
                <a:gd name="T1" fmla="*/ 156 h 311"/>
                <a:gd name="T2" fmla="*/ 389 w 544"/>
                <a:gd name="T3" fmla="*/ 0 h 311"/>
                <a:gd name="T4" fmla="*/ 389 w 544"/>
                <a:gd name="T5" fmla="*/ 78 h 311"/>
                <a:gd name="T6" fmla="*/ 0 w 544"/>
                <a:gd name="T7" fmla="*/ 78 h 311"/>
                <a:gd name="T8" fmla="*/ 0 w 544"/>
                <a:gd name="T9" fmla="*/ 233 h 311"/>
                <a:gd name="T10" fmla="*/ 389 w 544"/>
                <a:gd name="T11" fmla="*/ 233 h 311"/>
                <a:gd name="T12" fmla="*/ 389 w 544"/>
                <a:gd name="T13" fmla="*/ 311 h 311"/>
                <a:gd name="T14" fmla="*/ 544 w 544"/>
                <a:gd name="T15" fmla="*/ 156 h 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1"/>
                <a:gd name="T26" fmla="*/ 544 w 544"/>
                <a:gd name="T27" fmla="*/ 311 h 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1">
                  <a:moveTo>
                    <a:pt x="544" y="156"/>
                  </a:moveTo>
                  <a:lnTo>
                    <a:pt x="389" y="0"/>
                  </a:lnTo>
                  <a:lnTo>
                    <a:pt x="389" y="78"/>
                  </a:lnTo>
                  <a:lnTo>
                    <a:pt x="0" y="78"/>
                  </a:lnTo>
                  <a:lnTo>
                    <a:pt x="0" y="233"/>
                  </a:lnTo>
                  <a:lnTo>
                    <a:pt x="389" y="233"/>
                  </a:lnTo>
                  <a:lnTo>
                    <a:pt x="389" y="311"/>
                  </a:lnTo>
                  <a:lnTo>
                    <a:pt x="544" y="15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14" name="Rectangle 72"/>
            <p:cNvSpPr>
              <a:spLocks noChangeArrowheads="1"/>
            </p:cNvSpPr>
            <p:nvPr/>
          </p:nvSpPr>
          <p:spPr bwMode="auto">
            <a:xfrm>
              <a:off x="5711826" y="2162175"/>
              <a:ext cx="4127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FFFFFF"/>
                  </a:solidFill>
                  <a:latin typeface="Arial Black" pitchFamily="34" charset="0"/>
                </a:rPr>
                <a:t>valued</a:t>
              </a:r>
              <a:endParaRPr lang="en-US"/>
            </a:p>
          </p:txBody>
        </p:sp>
        <p:sp>
          <p:nvSpPr>
            <p:cNvPr id="31815" name="Rectangle 73"/>
            <p:cNvSpPr>
              <a:spLocks noChangeArrowheads="1"/>
            </p:cNvSpPr>
            <p:nvPr/>
          </p:nvSpPr>
          <p:spPr bwMode="auto">
            <a:xfrm>
              <a:off x="5599113" y="2284413"/>
              <a:ext cx="63500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FFFFFF"/>
                  </a:solidFill>
                  <a:latin typeface="Arial Black" pitchFamily="34" charset="0"/>
                </a:rPr>
                <a:t>more than</a:t>
              </a:r>
              <a:endParaRPr lang="en-US"/>
            </a:p>
          </p:txBody>
        </p:sp>
        <p:sp>
          <p:nvSpPr>
            <p:cNvPr id="31816" name="Freeform 74"/>
            <p:cNvSpPr>
              <a:spLocks/>
            </p:cNvSpPr>
            <p:nvPr/>
          </p:nvSpPr>
          <p:spPr bwMode="auto">
            <a:xfrm>
              <a:off x="5543551" y="2735263"/>
              <a:ext cx="863600" cy="493713"/>
            </a:xfrm>
            <a:custGeom>
              <a:avLst/>
              <a:gdLst>
                <a:gd name="T0" fmla="*/ 544 w 544"/>
                <a:gd name="T1" fmla="*/ 156 h 311"/>
                <a:gd name="T2" fmla="*/ 389 w 544"/>
                <a:gd name="T3" fmla="*/ 0 h 311"/>
                <a:gd name="T4" fmla="*/ 389 w 544"/>
                <a:gd name="T5" fmla="*/ 78 h 311"/>
                <a:gd name="T6" fmla="*/ 0 w 544"/>
                <a:gd name="T7" fmla="*/ 78 h 311"/>
                <a:gd name="T8" fmla="*/ 0 w 544"/>
                <a:gd name="T9" fmla="*/ 233 h 311"/>
                <a:gd name="T10" fmla="*/ 389 w 544"/>
                <a:gd name="T11" fmla="*/ 233 h 311"/>
                <a:gd name="T12" fmla="*/ 389 w 544"/>
                <a:gd name="T13" fmla="*/ 311 h 311"/>
                <a:gd name="T14" fmla="*/ 544 w 544"/>
                <a:gd name="T15" fmla="*/ 156 h 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1"/>
                <a:gd name="T26" fmla="*/ 544 w 544"/>
                <a:gd name="T27" fmla="*/ 311 h 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1">
                  <a:moveTo>
                    <a:pt x="544" y="156"/>
                  </a:moveTo>
                  <a:lnTo>
                    <a:pt x="389" y="0"/>
                  </a:lnTo>
                  <a:lnTo>
                    <a:pt x="389" y="78"/>
                  </a:lnTo>
                  <a:lnTo>
                    <a:pt x="0" y="78"/>
                  </a:lnTo>
                  <a:lnTo>
                    <a:pt x="0" y="233"/>
                  </a:lnTo>
                  <a:lnTo>
                    <a:pt x="389" y="233"/>
                  </a:lnTo>
                  <a:lnTo>
                    <a:pt x="389" y="311"/>
                  </a:lnTo>
                  <a:lnTo>
                    <a:pt x="544" y="156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17" name="Freeform 75"/>
            <p:cNvSpPr>
              <a:spLocks/>
            </p:cNvSpPr>
            <p:nvPr/>
          </p:nvSpPr>
          <p:spPr bwMode="auto">
            <a:xfrm>
              <a:off x="5543551" y="2735263"/>
              <a:ext cx="863600" cy="493713"/>
            </a:xfrm>
            <a:custGeom>
              <a:avLst/>
              <a:gdLst>
                <a:gd name="T0" fmla="*/ 544 w 544"/>
                <a:gd name="T1" fmla="*/ 156 h 311"/>
                <a:gd name="T2" fmla="*/ 389 w 544"/>
                <a:gd name="T3" fmla="*/ 0 h 311"/>
                <a:gd name="T4" fmla="*/ 389 w 544"/>
                <a:gd name="T5" fmla="*/ 78 h 311"/>
                <a:gd name="T6" fmla="*/ 0 w 544"/>
                <a:gd name="T7" fmla="*/ 78 h 311"/>
                <a:gd name="T8" fmla="*/ 0 w 544"/>
                <a:gd name="T9" fmla="*/ 233 h 311"/>
                <a:gd name="T10" fmla="*/ 389 w 544"/>
                <a:gd name="T11" fmla="*/ 233 h 311"/>
                <a:gd name="T12" fmla="*/ 389 w 544"/>
                <a:gd name="T13" fmla="*/ 311 h 311"/>
                <a:gd name="T14" fmla="*/ 544 w 544"/>
                <a:gd name="T15" fmla="*/ 156 h 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1"/>
                <a:gd name="T26" fmla="*/ 544 w 544"/>
                <a:gd name="T27" fmla="*/ 311 h 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1">
                  <a:moveTo>
                    <a:pt x="544" y="156"/>
                  </a:moveTo>
                  <a:lnTo>
                    <a:pt x="389" y="0"/>
                  </a:lnTo>
                  <a:lnTo>
                    <a:pt x="389" y="78"/>
                  </a:lnTo>
                  <a:lnTo>
                    <a:pt x="0" y="78"/>
                  </a:lnTo>
                  <a:lnTo>
                    <a:pt x="0" y="233"/>
                  </a:lnTo>
                  <a:lnTo>
                    <a:pt x="389" y="233"/>
                  </a:lnTo>
                  <a:lnTo>
                    <a:pt x="389" y="311"/>
                  </a:lnTo>
                  <a:lnTo>
                    <a:pt x="544" y="15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18" name="Rectangle 76"/>
            <p:cNvSpPr>
              <a:spLocks noChangeArrowheads="1"/>
            </p:cNvSpPr>
            <p:nvPr/>
          </p:nvSpPr>
          <p:spPr bwMode="auto">
            <a:xfrm>
              <a:off x="5711826" y="2840038"/>
              <a:ext cx="4127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FFFFFF"/>
                  </a:solidFill>
                  <a:latin typeface="Arial Black" pitchFamily="34" charset="0"/>
                </a:rPr>
                <a:t>valued</a:t>
              </a:r>
              <a:endParaRPr lang="en-US"/>
            </a:p>
          </p:txBody>
        </p:sp>
        <p:sp>
          <p:nvSpPr>
            <p:cNvPr id="31819" name="Rectangle 77"/>
            <p:cNvSpPr>
              <a:spLocks noChangeArrowheads="1"/>
            </p:cNvSpPr>
            <p:nvPr/>
          </p:nvSpPr>
          <p:spPr bwMode="auto">
            <a:xfrm>
              <a:off x="5599113" y="2962275"/>
              <a:ext cx="63500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Arial Black" pitchFamily="34" charset="0"/>
                </a:rPr>
                <a:t>more than</a:t>
              </a:r>
              <a:endParaRPr lang="en-US" dirty="0"/>
            </a:p>
          </p:txBody>
        </p:sp>
        <p:sp>
          <p:nvSpPr>
            <p:cNvPr id="31820" name="Freeform 78"/>
            <p:cNvSpPr>
              <a:spLocks/>
            </p:cNvSpPr>
            <p:nvPr/>
          </p:nvSpPr>
          <p:spPr bwMode="auto">
            <a:xfrm>
              <a:off x="5561013" y="4051300"/>
              <a:ext cx="863600" cy="492125"/>
            </a:xfrm>
            <a:custGeom>
              <a:avLst/>
              <a:gdLst>
                <a:gd name="T0" fmla="*/ 544 w 544"/>
                <a:gd name="T1" fmla="*/ 155 h 310"/>
                <a:gd name="T2" fmla="*/ 389 w 544"/>
                <a:gd name="T3" fmla="*/ 0 h 310"/>
                <a:gd name="T4" fmla="*/ 389 w 544"/>
                <a:gd name="T5" fmla="*/ 77 h 310"/>
                <a:gd name="T6" fmla="*/ 0 w 544"/>
                <a:gd name="T7" fmla="*/ 77 h 310"/>
                <a:gd name="T8" fmla="*/ 0 w 544"/>
                <a:gd name="T9" fmla="*/ 232 h 310"/>
                <a:gd name="T10" fmla="*/ 389 w 544"/>
                <a:gd name="T11" fmla="*/ 232 h 310"/>
                <a:gd name="T12" fmla="*/ 389 w 544"/>
                <a:gd name="T13" fmla="*/ 310 h 310"/>
                <a:gd name="T14" fmla="*/ 544 w 544"/>
                <a:gd name="T15" fmla="*/ 155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0"/>
                <a:gd name="T26" fmla="*/ 544 w 544"/>
                <a:gd name="T27" fmla="*/ 310 h 31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0">
                  <a:moveTo>
                    <a:pt x="544" y="155"/>
                  </a:moveTo>
                  <a:lnTo>
                    <a:pt x="389" y="0"/>
                  </a:lnTo>
                  <a:lnTo>
                    <a:pt x="389" y="77"/>
                  </a:lnTo>
                  <a:lnTo>
                    <a:pt x="0" y="77"/>
                  </a:lnTo>
                  <a:lnTo>
                    <a:pt x="0" y="232"/>
                  </a:lnTo>
                  <a:lnTo>
                    <a:pt x="389" y="232"/>
                  </a:lnTo>
                  <a:lnTo>
                    <a:pt x="389" y="310"/>
                  </a:lnTo>
                  <a:lnTo>
                    <a:pt x="544" y="155"/>
                  </a:lnTo>
                  <a:close/>
                </a:path>
              </a:pathLst>
            </a:custGeom>
            <a:solidFill>
              <a:srgbClr val="000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1" name="Freeform 79"/>
            <p:cNvSpPr>
              <a:spLocks/>
            </p:cNvSpPr>
            <p:nvPr/>
          </p:nvSpPr>
          <p:spPr bwMode="auto">
            <a:xfrm>
              <a:off x="5543551" y="4051300"/>
              <a:ext cx="863600" cy="492125"/>
            </a:xfrm>
            <a:custGeom>
              <a:avLst/>
              <a:gdLst>
                <a:gd name="T0" fmla="*/ 544 w 544"/>
                <a:gd name="T1" fmla="*/ 155 h 310"/>
                <a:gd name="T2" fmla="*/ 389 w 544"/>
                <a:gd name="T3" fmla="*/ 0 h 310"/>
                <a:gd name="T4" fmla="*/ 389 w 544"/>
                <a:gd name="T5" fmla="*/ 77 h 310"/>
                <a:gd name="T6" fmla="*/ 0 w 544"/>
                <a:gd name="T7" fmla="*/ 77 h 310"/>
                <a:gd name="T8" fmla="*/ 0 w 544"/>
                <a:gd name="T9" fmla="*/ 232 h 310"/>
                <a:gd name="T10" fmla="*/ 389 w 544"/>
                <a:gd name="T11" fmla="*/ 232 h 310"/>
                <a:gd name="T12" fmla="*/ 389 w 544"/>
                <a:gd name="T13" fmla="*/ 310 h 310"/>
                <a:gd name="T14" fmla="*/ 544 w 544"/>
                <a:gd name="T15" fmla="*/ 155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310"/>
                <a:gd name="T26" fmla="*/ 544 w 544"/>
                <a:gd name="T27" fmla="*/ 310 h 31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310">
                  <a:moveTo>
                    <a:pt x="544" y="155"/>
                  </a:moveTo>
                  <a:lnTo>
                    <a:pt x="389" y="0"/>
                  </a:lnTo>
                  <a:lnTo>
                    <a:pt x="389" y="77"/>
                  </a:lnTo>
                  <a:lnTo>
                    <a:pt x="0" y="77"/>
                  </a:lnTo>
                  <a:lnTo>
                    <a:pt x="0" y="232"/>
                  </a:lnTo>
                  <a:lnTo>
                    <a:pt x="389" y="232"/>
                  </a:lnTo>
                  <a:lnTo>
                    <a:pt x="389" y="310"/>
                  </a:lnTo>
                  <a:lnTo>
                    <a:pt x="544" y="15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2" name="Rectangle 80"/>
            <p:cNvSpPr>
              <a:spLocks noChangeArrowheads="1"/>
            </p:cNvSpPr>
            <p:nvPr/>
          </p:nvSpPr>
          <p:spPr bwMode="auto">
            <a:xfrm>
              <a:off x="5729288" y="4154487"/>
              <a:ext cx="4127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FFFFFF"/>
                  </a:solidFill>
                  <a:latin typeface="Arial Black" pitchFamily="34" charset="0"/>
                </a:rPr>
                <a:t>valued</a:t>
              </a:r>
              <a:endParaRPr lang="en-US"/>
            </a:p>
          </p:txBody>
        </p:sp>
        <p:sp>
          <p:nvSpPr>
            <p:cNvPr id="31823" name="Rectangle 81"/>
            <p:cNvSpPr>
              <a:spLocks noChangeArrowheads="1"/>
            </p:cNvSpPr>
            <p:nvPr/>
          </p:nvSpPr>
          <p:spPr bwMode="auto">
            <a:xfrm>
              <a:off x="5616575" y="4276725"/>
              <a:ext cx="63500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FFFFFF"/>
                  </a:solidFill>
                  <a:latin typeface="Arial Black" pitchFamily="34" charset="0"/>
                </a:rPr>
                <a:t>more than</a:t>
              </a:r>
              <a:endParaRPr lang="en-US"/>
            </a:p>
          </p:txBody>
        </p:sp>
        <p:sp>
          <p:nvSpPr>
            <p:cNvPr id="31824" name="Rectangle 82"/>
            <p:cNvSpPr>
              <a:spLocks noChangeArrowheads="1"/>
            </p:cNvSpPr>
            <p:nvPr/>
          </p:nvSpPr>
          <p:spPr bwMode="auto">
            <a:xfrm>
              <a:off x="3663951" y="1295400"/>
              <a:ext cx="11811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80"/>
                  </a:solidFill>
                  <a:latin typeface="Impact" pitchFamily="34" charset="0"/>
                </a:rPr>
                <a:t>Agile Methods</a:t>
              </a:r>
              <a:endParaRPr lang="en-US"/>
            </a:p>
          </p:txBody>
        </p:sp>
        <p:sp>
          <p:nvSpPr>
            <p:cNvPr id="31825" name="Rectangle 83"/>
            <p:cNvSpPr>
              <a:spLocks noChangeArrowheads="1"/>
            </p:cNvSpPr>
            <p:nvPr/>
          </p:nvSpPr>
          <p:spPr bwMode="auto">
            <a:xfrm>
              <a:off x="3797301" y="1543050"/>
              <a:ext cx="9207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80"/>
                  </a:solidFill>
                  <a:latin typeface="Impact" pitchFamily="34" charset="0"/>
                </a:rPr>
                <a:t>‘Principles’</a:t>
              </a:r>
              <a:endParaRPr lang="en-US"/>
            </a:p>
          </p:txBody>
        </p:sp>
        <p:sp>
          <p:nvSpPr>
            <p:cNvPr id="31826" name="Rectangle 84"/>
            <p:cNvSpPr>
              <a:spLocks noChangeArrowheads="1"/>
            </p:cNvSpPr>
            <p:nvPr/>
          </p:nvSpPr>
          <p:spPr bwMode="auto">
            <a:xfrm>
              <a:off x="6376988" y="1295400"/>
              <a:ext cx="16764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80"/>
                  </a:solidFill>
                  <a:latin typeface="Impact" pitchFamily="34" charset="0"/>
                </a:rPr>
                <a:t>Traditional Methods</a:t>
              </a:r>
              <a:endParaRPr lang="en-US"/>
            </a:p>
          </p:txBody>
        </p:sp>
        <p:sp>
          <p:nvSpPr>
            <p:cNvPr id="31827" name="Rectangle 85"/>
            <p:cNvSpPr>
              <a:spLocks noChangeArrowheads="1"/>
            </p:cNvSpPr>
            <p:nvPr/>
          </p:nvSpPr>
          <p:spPr bwMode="auto">
            <a:xfrm>
              <a:off x="6900863" y="1543050"/>
              <a:ext cx="639763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80"/>
                  </a:solidFill>
                  <a:latin typeface="Impact" pitchFamily="34" charset="0"/>
                </a:rPr>
                <a:t>‘Values’</a:t>
              </a:r>
              <a:endParaRPr lang="en-US"/>
            </a:p>
          </p:txBody>
        </p:sp>
        <p:grpSp>
          <p:nvGrpSpPr>
            <p:cNvPr id="4" name="Group 87"/>
            <p:cNvGrpSpPr>
              <a:grpSpLocks/>
            </p:cNvGrpSpPr>
            <p:nvPr/>
          </p:nvGrpSpPr>
          <p:grpSpPr bwMode="auto">
            <a:xfrm>
              <a:off x="2590800" y="2066925"/>
              <a:ext cx="863600" cy="493713"/>
              <a:chOff x="1484" y="1919"/>
              <a:chExt cx="544" cy="311"/>
            </a:xfrm>
          </p:grpSpPr>
          <p:sp>
            <p:nvSpPr>
              <p:cNvPr id="31762" name="Freeform 88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3" name="Freeform 89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4" name="Rectangle 90"/>
              <p:cNvSpPr>
                <a:spLocks noChangeArrowheads="1"/>
              </p:cNvSpPr>
              <p:nvPr/>
            </p:nvSpPr>
            <p:spPr bwMode="auto">
              <a:xfrm>
                <a:off x="1572" y="2016"/>
                <a:ext cx="300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FFFFFF"/>
                    </a:solidFill>
                    <a:latin typeface="Arial Black" pitchFamily="34" charset="0"/>
                  </a:rPr>
                  <a:t>Realized</a:t>
                </a:r>
                <a:endParaRPr lang="en-US" sz="800" dirty="0"/>
              </a:p>
            </p:txBody>
          </p:sp>
          <p:sp>
            <p:nvSpPr>
              <p:cNvPr id="31765" name="Rectangle 91"/>
              <p:cNvSpPr>
                <a:spLocks noChangeArrowheads="1"/>
              </p:cNvSpPr>
              <p:nvPr/>
            </p:nvSpPr>
            <p:spPr bwMode="auto">
              <a:xfrm>
                <a:off x="1632" y="2062"/>
                <a:ext cx="106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>
                    <a:solidFill>
                      <a:srgbClr val="FFFFFF"/>
                    </a:solidFill>
                    <a:latin typeface="Arial Black" pitchFamily="34" charset="0"/>
                  </a:rPr>
                  <a:t> </a:t>
                </a:r>
                <a:r>
                  <a:rPr lang="en-US" sz="800">
                    <a:solidFill>
                      <a:srgbClr val="FFFFFF"/>
                    </a:solidFill>
                    <a:latin typeface="Arial Black" pitchFamily="34" charset="0"/>
                  </a:rPr>
                  <a:t>as</a:t>
                </a:r>
                <a:endParaRPr lang="en-US" sz="800"/>
              </a:p>
            </p:txBody>
          </p:sp>
        </p:grpSp>
        <p:grpSp>
          <p:nvGrpSpPr>
            <p:cNvPr id="5" name="Group 92"/>
            <p:cNvGrpSpPr>
              <a:grpSpLocks/>
            </p:cNvGrpSpPr>
            <p:nvPr/>
          </p:nvGrpSpPr>
          <p:grpSpPr bwMode="auto">
            <a:xfrm>
              <a:off x="2590800" y="2716213"/>
              <a:ext cx="863600" cy="493712"/>
              <a:chOff x="1484" y="1919"/>
              <a:chExt cx="544" cy="311"/>
            </a:xfrm>
          </p:grpSpPr>
          <p:sp>
            <p:nvSpPr>
              <p:cNvPr id="31758" name="Freeform 93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59" name="Freeform 94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0" name="Rectangle 95"/>
              <p:cNvSpPr>
                <a:spLocks noChangeArrowheads="1"/>
              </p:cNvSpPr>
              <p:nvPr/>
            </p:nvSpPr>
            <p:spPr bwMode="auto">
              <a:xfrm>
                <a:off x="1572" y="2016"/>
                <a:ext cx="300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FFFFFF"/>
                    </a:solidFill>
                    <a:latin typeface="Arial Black" pitchFamily="34" charset="0"/>
                  </a:rPr>
                  <a:t>Realized</a:t>
                </a:r>
                <a:endParaRPr lang="en-US" sz="800" dirty="0"/>
              </a:p>
            </p:txBody>
          </p:sp>
          <p:sp>
            <p:nvSpPr>
              <p:cNvPr id="31761" name="Rectangle 96"/>
              <p:cNvSpPr>
                <a:spLocks noChangeArrowheads="1"/>
              </p:cNvSpPr>
              <p:nvPr/>
            </p:nvSpPr>
            <p:spPr bwMode="auto">
              <a:xfrm>
                <a:off x="1632" y="2062"/>
                <a:ext cx="106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>
                    <a:solidFill>
                      <a:srgbClr val="FFFFFF"/>
                    </a:solidFill>
                    <a:latin typeface="Arial Black" pitchFamily="34" charset="0"/>
                  </a:rPr>
                  <a:t> </a:t>
                </a:r>
                <a:r>
                  <a:rPr lang="en-US" sz="800">
                    <a:solidFill>
                      <a:srgbClr val="FFFFFF"/>
                    </a:solidFill>
                    <a:latin typeface="Arial Black" pitchFamily="34" charset="0"/>
                  </a:rPr>
                  <a:t>as</a:t>
                </a:r>
                <a:endParaRPr lang="en-US" sz="800"/>
              </a:p>
            </p:txBody>
          </p:sp>
        </p:grpSp>
        <p:grpSp>
          <p:nvGrpSpPr>
            <p:cNvPr id="6" name="Group 97"/>
            <p:cNvGrpSpPr>
              <a:grpSpLocks/>
            </p:cNvGrpSpPr>
            <p:nvPr/>
          </p:nvGrpSpPr>
          <p:grpSpPr bwMode="auto">
            <a:xfrm>
              <a:off x="2590800" y="4038600"/>
              <a:ext cx="863600" cy="493712"/>
              <a:chOff x="1484" y="1919"/>
              <a:chExt cx="544" cy="311"/>
            </a:xfrm>
          </p:grpSpPr>
          <p:sp>
            <p:nvSpPr>
              <p:cNvPr id="31754" name="Freeform 98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55" name="Freeform 99"/>
              <p:cNvSpPr>
                <a:spLocks/>
              </p:cNvSpPr>
              <p:nvPr/>
            </p:nvSpPr>
            <p:spPr bwMode="auto">
              <a:xfrm>
                <a:off x="1484" y="1919"/>
                <a:ext cx="544" cy="311"/>
              </a:xfrm>
              <a:custGeom>
                <a:avLst/>
                <a:gdLst>
                  <a:gd name="T0" fmla="*/ 544 w 544"/>
                  <a:gd name="T1" fmla="*/ 156 h 311"/>
                  <a:gd name="T2" fmla="*/ 389 w 544"/>
                  <a:gd name="T3" fmla="*/ 0 h 311"/>
                  <a:gd name="T4" fmla="*/ 389 w 544"/>
                  <a:gd name="T5" fmla="*/ 78 h 311"/>
                  <a:gd name="T6" fmla="*/ 0 w 544"/>
                  <a:gd name="T7" fmla="*/ 78 h 311"/>
                  <a:gd name="T8" fmla="*/ 0 w 544"/>
                  <a:gd name="T9" fmla="*/ 233 h 311"/>
                  <a:gd name="T10" fmla="*/ 389 w 544"/>
                  <a:gd name="T11" fmla="*/ 233 h 311"/>
                  <a:gd name="T12" fmla="*/ 389 w 544"/>
                  <a:gd name="T13" fmla="*/ 311 h 311"/>
                  <a:gd name="T14" fmla="*/ 544 w 544"/>
                  <a:gd name="T15" fmla="*/ 156 h 3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44"/>
                  <a:gd name="T25" fmla="*/ 0 h 311"/>
                  <a:gd name="T26" fmla="*/ 544 w 544"/>
                  <a:gd name="T27" fmla="*/ 311 h 3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44" h="311">
                    <a:moveTo>
                      <a:pt x="544" y="156"/>
                    </a:moveTo>
                    <a:lnTo>
                      <a:pt x="389" y="0"/>
                    </a:lnTo>
                    <a:lnTo>
                      <a:pt x="389" y="78"/>
                    </a:lnTo>
                    <a:lnTo>
                      <a:pt x="0" y="78"/>
                    </a:lnTo>
                    <a:lnTo>
                      <a:pt x="0" y="233"/>
                    </a:lnTo>
                    <a:lnTo>
                      <a:pt x="389" y="233"/>
                    </a:lnTo>
                    <a:lnTo>
                      <a:pt x="389" y="311"/>
                    </a:lnTo>
                    <a:lnTo>
                      <a:pt x="544" y="156"/>
                    </a:lnTo>
                    <a:close/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56" name="Rectangle 100"/>
              <p:cNvSpPr>
                <a:spLocks noChangeArrowheads="1"/>
              </p:cNvSpPr>
              <p:nvPr/>
            </p:nvSpPr>
            <p:spPr bwMode="auto">
              <a:xfrm>
                <a:off x="1572" y="2016"/>
                <a:ext cx="300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FFFFFF"/>
                    </a:solidFill>
                    <a:latin typeface="Arial Black" pitchFamily="34" charset="0"/>
                  </a:rPr>
                  <a:t>Realized</a:t>
                </a:r>
                <a:endParaRPr lang="en-US" sz="800"/>
              </a:p>
            </p:txBody>
          </p:sp>
          <p:sp>
            <p:nvSpPr>
              <p:cNvPr id="31757" name="Rectangle 101"/>
              <p:cNvSpPr>
                <a:spLocks noChangeArrowheads="1"/>
              </p:cNvSpPr>
              <p:nvPr/>
            </p:nvSpPr>
            <p:spPr bwMode="auto">
              <a:xfrm>
                <a:off x="1632" y="2062"/>
                <a:ext cx="106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dirty="0">
                    <a:solidFill>
                      <a:srgbClr val="FFFFFF"/>
                    </a:solidFill>
                    <a:latin typeface="Arial Black" pitchFamily="34" charset="0"/>
                  </a:rPr>
                  <a:t> </a:t>
                </a:r>
                <a:r>
                  <a:rPr lang="en-US" sz="800" dirty="0">
                    <a:solidFill>
                      <a:srgbClr val="FFFFFF"/>
                    </a:solidFill>
                    <a:latin typeface="Arial Black" pitchFamily="34" charset="0"/>
                  </a:rPr>
                  <a:t>as</a:t>
                </a:r>
                <a:endParaRPr lang="en-US" sz="800" dirty="0"/>
              </a:p>
            </p:txBody>
          </p:sp>
        </p:grp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32588" y="6428706"/>
            <a:ext cx="2133600" cy="365125"/>
          </a:xfrm>
        </p:spPr>
        <p:txBody>
          <a:bodyPr/>
          <a:lstStyle/>
          <a:p>
            <a:pPr>
              <a:defRPr/>
            </a:pPr>
            <a:fld id="{FD1B2DF3-FD5A-425A-97A4-9F2ADA98AFD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89" name="Rectangle 76"/>
          <p:cNvSpPr>
            <a:spLocks noChangeArrowheads="1"/>
          </p:cNvSpPr>
          <p:nvPr/>
        </p:nvSpPr>
        <p:spPr bwMode="auto">
          <a:xfrm>
            <a:off x="5734050" y="3793329"/>
            <a:ext cx="4127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Arial Black" pitchFamily="34" charset="0"/>
              </a:rPr>
              <a:t>valued</a:t>
            </a:r>
            <a:endParaRPr lang="en-US"/>
          </a:p>
        </p:txBody>
      </p:sp>
      <p:sp>
        <p:nvSpPr>
          <p:cNvPr id="90" name="Rectangle 77"/>
          <p:cNvSpPr>
            <a:spLocks noChangeArrowheads="1"/>
          </p:cNvSpPr>
          <p:nvPr/>
        </p:nvSpPr>
        <p:spPr bwMode="auto">
          <a:xfrm>
            <a:off x="5621337" y="3915566"/>
            <a:ext cx="6350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Arial Black" pitchFamily="34" charset="0"/>
              </a:rPr>
              <a:t>more than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4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000" b="1" dirty="0">
                <a:latin typeface="+mn-lt"/>
              </a:rPr>
              <a:t>Tuyên ngôn Phát triển phần mềm linh </a:t>
            </a:r>
            <a:r>
              <a:rPr lang="vi-VN" sz="3000" b="1" dirty="0" smtClean="0">
                <a:latin typeface="+mn-lt"/>
              </a:rPr>
              <a:t>hoạt</a:t>
            </a:r>
            <a:endParaRPr lang="en-US" sz="3000" dirty="0">
              <a:latin typeface="+mn-lt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vi-VN" sz="2600" dirty="0">
                <a:latin typeface="Calibri" pitchFamily="34" charset="0"/>
                <a:cs typeface="Calibri" pitchFamily="34" charset="0"/>
              </a:rPr>
              <a:t> </a:t>
            </a:r>
            <a:r>
              <a:rPr lang="vi-VN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Cá </a:t>
            </a:r>
            <a:r>
              <a:rPr lang="vi-VN" sz="26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nhân và sự tương </a:t>
            </a:r>
            <a:r>
              <a:rPr lang="vi-VN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tác</a:t>
            </a:r>
            <a:r>
              <a:rPr lang="en-US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vi-VN" sz="2600" i="1" dirty="0" smtClean="0">
                <a:latin typeface="Calibri" pitchFamily="34" charset="0"/>
                <a:cs typeface="Calibri" pitchFamily="34" charset="0"/>
              </a:rPr>
              <a:t>hơn </a:t>
            </a:r>
            <a:r>
              <a:rPr lang="vi-VN" sz="2600" i="1" dirty="0">
                <a:latin typeface="Calibri" pitchFamily="34" charset="0"/>
                <a:cs typeface="Calibri" pitchFamily="34" charset="0"/>
              </a:rPr>
              <a:t>là </a:t>
            </a:r>
            <a:r>
              <a:rPr lang="en-US" sz="2600" b="1" dirty="0">
                <a:latin typeface="Calibri" pitchFamily="34" charset="0"/>
                <a:cs typeface="Calibri" pitchFamily="34" charset="0"/>
              </a:rPr>
              <a:t>Q</a:t>
            </a:r>
            <a:r>
              <a:rPr lang="vi-VN" sz="2600" b="1" dirty="0" smtClean="0">
                <a:latin typeface="Calibri" pitchFamily="34" charset="0"/>
                <a:cs typeface="Calibri" pitchFamily="34" charset="0"/>
              </a:rPr>
              <a:t>uy </a:t>
            </a:r>
            <a:r>
              <a:rPr lang="vi-VN" sz="2600" b="1" dirty="0">
                <a:latin typeface="Calibri" pitchFamily="34" charset="0"/>
                <a:cs typeface="Calibri" pitchFamily="34" charset="0"/>
              </a:rPr>
              <a:t>trình và </a:t>
            </a:r>
            <a:r>
              <a:rPr lang="vi-VN" sz="2600" b="1" dirty="0" smtClean="0">
                <a:latin typeface="Calibri" pitchFamily="34" charset="0"/>
                <a:cs typeface="Calibri" pitchFamily="34" charset="0"/>
              </a:rPr>
              <a:t>công </a:t>
            </a:r>
            <a:r>
              <a:rPr lang="vi-VN" sz="2600" b="1" dirty="0">
                <a:latin typeface="Calibri" pitchFamily="34" charset="0"/>
                <a:cs typeface="Calibri" pitchFamily="34" charset="0"/>
              </a:rPr>
              <a:t>cụ</a:t>
            </a:r>
            <a:r>
              <a:rPr lang="vi-VN" sz="2600" b="1" dirty="0" smtClean="0">
                <a:latin typeface="Calibri" pitchFamily="34" charset="0"/>
                <a:cs typeface="Calibri" pitchFamily="34" charset="0"/>
              </a:rPr>
              <a:t>;</a:t>
            </a:r>
            <a:endParaRPr lang="en-US" sz="2600" b="1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vi-VN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Phần mềm chạy tốt</a:t>
            </a:r>
            <a:r>
              <a:rPr lang="vi-VN" sz="26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vi-VN" sz="2600" i="1" dirty="0" smtClean="0">
                <a:latin typeface="Calibri" pitchFamily="34" charset="0"/>
                <a:cs typeface="Calibri" pitchFamily="34" charset="0"/>
              </a:rPr>
              <a:t>hơn là</a:t>
            </a:r>
            <a:r>
              <a:rPr lang="vi-VN" sz="26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b="1" dirty="0" smtClean="0">
                <a:latin typeface="Calibri" pitchFamily="34" charset="0"/>
                <a:cs typeface="Calibri" pitchFamily="34" charset="0"/>
              </a:rPr>
              <a:t>T</a:t>
            </a:r>
            <a:r>
              <a:rPr lang="vi-VN" sz="2600" b="1" dirty="0" smtClean="0">
                <a:latin typeface="Calibri" pitchFamily="34" charset="0"/>
                <a:cs typeface="Calibri" pitchFamily="34" charset="0"/>
              </a:rPr>
              <a:t>ài liệu đầy đủ;</a:t>
            </a:r>
            <a:endParaRPr lang="en-US" sz="2600" b="1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vi-VN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Cộng tác</a:t>
            </a:r>
            <a:r>
              <a:rPr lang="en-US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vi-VN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với khách hàng </a:t>
            </a:r>
            <a:r>
              <a:rPr lang="vi-VN" sz="2600" i="1" dirty="0" smtClean="0">
                <a:latin typeface="Calibri" pitchFamily="34" charset="0"/>
                <a:cs typeface="Calibri" pitchFamily="34" charset="0"/>
              </a:rPr>
              <a:t>hơn là</a:t>
            </a:r>
            <a:r>
              <a:rPr lang="vi-VN" sz="26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b="1" dirty="0" smtClean="0">
                <a:latin typeface="Calibri" pitchFamily="34" charset="0"/>
                <a:cs typeface="Calibri" pitchFamily="34" charset="0"/>
              </a:rPr>
              <a:t>Đ</a:t>
            </a:r>
            <a:r>
              <a:rPr lang="vi-VN" sz="2600" b="1" dirty="0" smtClean="0">
                <a:latin typeface="Calibri" pitchFamily="34" charset="0"/>
                <a:cs typeface="Calibri" pitchFamily="34" charset="0"/>
              </a:rPr>
              <a:t>àm phán hợp đồng;</a:t>
            </a:r>
            <a:endParaRPr lang="en-US" sz="2600" b="1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vi-VN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Phản hồi với các thay đổi</a:t>
            </a:r>
            <a:r>
              <a:rPr lang="en-US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vi-VN" sz="2600" i="1" dirty="0" smtClean="0">
                <a:latin typeface="Calibri" pitchFamily="34" charset="0"/>
                <a:cs typeface="Calibri" pitchFamily="34" charset="0"/>
              </a:rPr>
              <a:t>hơn là </a:t>
            </a:r>
            <a:r>
              <a:rPr lang="vi-VN" sz="2600" b="1" dirty="0" smtClean="0">
                <a:latin typeface="Calibri" pitchFamily="34" charset="0"/>
                <a:cs typeface="Calibri" pitchFamily="34" charset="0"/>
              </a:rPr>
              <a:t>bám sát kế hoạch. </a:t>
            </a:r>
          </a:p>
          <a:p>
            <a:pPr marL="0" indent="0">
              <a:buNone/>
            </a:pPr>
            <a:endParaRPr lang="vi-VN" sz="2600" dirty="0" smtClean="0"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r>
              <a:rPr lang="vi-VN" sz="2600" i="1" dirty="0" smtClean="0">
                <a:latin typeface="Calibri" pitchFamily="34" charset="0"/>
                <a:cs typeface="Calibri" pitchFamily="34" charset="0"/>
              </a:rPr>
              <a:t>Mặc dù các điều bên phải vẫn còn giá trị, nhưng chúng tôi đánh giá cao hơn các mục ở bên trái.</a:t>
            </a:r>
            <a:endParaRPr lang="vi-VN" sz="2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1B2DF3-FD5A-425A-97A4-9F2ADA98AFD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5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1B2DF3-FD5A-425A-97A4-9F2ADA98AFD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5122" name="Picture 2" descr="http://www.justtotaltech.co.uk/wp-content/uploads/2013/09/Scrum-agile-project-management-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7543800" cy="3983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87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838200" y="381000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AGILE VS WATER FALL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95400" y="939689"/>
            <a:ext cx="123291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855785" y="939689"/>
          <a:ext cx="7086599" cy="520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Bitmap Image" r:id="rId3" imgW="5514286" imgH="4009524" progId="Paint.Picture">
                  <p:embed/>
                </p:oleObj>
              </mc:Choice>
              <mc:Fallback>
                <p:oleObj name="Bitmap Image" r:id="rId3" imgW="5514286" imgH="40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785" y="939689"/>
                        <a:ext cx="7086599" cy="5208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970" y="2190466"/>
            <a:ext cx="10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year…?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8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88480" y="6373184"/>
            <a:ext cx="2133600" cy="365125"/>
          </a:xfrm>
          <a:noFill/>
        </p:spPr>
        <p:txBody>
          <a:bodyPr/>
          <a:lstStyle/>
          <a:p>
            <a:pPr algn="r"/>
            <a:fld id="{DBDEA7CC-300C-48B8-9151-4B9C6FCC42A9}" type="slidenum">
              <a:rPr lang="en-US" smtClean="0"/>
              <a:pPr algn="r"/>
              <a:t>12</a:t>
            </a:fld>
            <a:endParaRPr lang="en-US" dirty="0" smtClean="0"/>
          </a:p>
        </p:txBody>
      </p:sp>
      <p:sp>
        <p:nvSpPr>
          <p:cNvPr id="1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04800"/>
            <a:ext cx="8229600" cy="7620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3600" dirty="0" smtClean="0"/>
              <a:t>Agile Scrum model…</a:t>
            </a:r>
          </a:p>
        </p:txBody>
      </p:sp>
      <p:pic>
        <p:nvPicPr>
          <p:cNvPr id="9400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524000"/>
            <a:ext cx="88392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0042" name="Rectangle 10"/>
          <p:cNvSpPr>
            <a:spLocks noChangeArrowheads="1"/>
          </p:cNvSpPr>
          <p:nvPr/>
        </p:nvSpPr>
        <p:spPr bwMode="auto">
          <a:xfrm>
            <a:off x="2390134" y="5791200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30000"/>
              </a:lnSpc>
              <a:spcBef>
                <a:spcPct val="40000"/>
              </a:spcBef>
            </a:pPr>
            <a:r>
              <a:rPr lang="en-US" sz="32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the snowman model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”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1981200"/>
            <a:ext cx="2133600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Incremental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3200400" y="3733800"/>
            <a:ext cx="1708707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 eaLnBrk="0" hangingPunct="0"/>
            <a:r>
              <a:rPr lang="en-GB" sz="2400" b="1" dirty="0" smtClean="0"/>
              <a:t>User driven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1752600"/>
            <a:ext cx="2003818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 eaLnBrk="0" hangingPunct="0"/>
            <a:r>
              <a:rPr lang="en-GB" sz="2800" b="1" dirty="0" smtClean="0"/>
              <a:t>Low process</a:t>
            </a:r>
            <a:endParaRPr lang="en-GB" sz="2800" b="1" dirty="0"/>
          </a:p>
        </p:txBody>
      </p:sp>
      <p:pic>
        <p:nvPicPr>
          <p:cNvPr id="12" name="Picture 10" descr="C:\Users\MIRAIE1992\AppData\Local\Microsoft\Windows\Temporary Internet Files\Content.IE5\EHDNP542\MC90044188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48600" y="4896496"/>
            <a:ext cx="1050925" cy="14655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146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49925" y="2998788"/>
              <a:ext cx="76200" cy="106362"/>
            </p14:xfrm>
          </p:contentPart>
        </mc:Choice>
        <mc:Fallback xmlns="">
          <p:pic>
            <p:nvPicPr>
              <p:cNvPr id="6146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25124" y="2974992"/>
                <a:ext cx="116816" cy="154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147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43600" y="3227388"/>
              <a:ext cx="77788" cy="90487"/>
            </p14:xfrm>
          </p:contentPart>
        </mc:Choice>
        <mc:Fallback xmlns="">
          <p:pic>
            <p:nvPicPr>
              <p:cNvPr id="6147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18751" y="3202874"/>
                <a:ext cx="127486" cy="139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148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19800" y="3505200"/>
              <a:ext cx="53975" cy="66675"/>
            </p14:xfrm>
          </p:contentPart>
        </mc:Choice>
        <mc:Fallback xmlns="">
          <p:pic>
            <p:nvPicPr>
              <p:cNvPr id="6148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94971" y="3481900"/>
                <a:ext cx="102553" cy="114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149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81600" y="1981200"/>
              <a:ext cx="598488" cy="498475"/>
            </p14:xfrm>
          </p:contentPart>
        </mc:Choice>
        <mc:Fallback xmlns="">
          <p:pic>
            <p:nvPicPr>
              <p:cNvPr id="6149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57473" y="1956366"/>
                <a:ext cx="647462" cy="547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150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53000" y="2133600"/>
              <a:ext cx="614363" cy="485775"/>
            </p14:xfrm>
          </p:contentPart>
        </mc:Choice>
        <mc:Fallback xmlns="">
          <p:pic>
            <p:nvPicPr>
              <p:cNvPr id="6150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28512" y="2109833"/>
                <a:ext cx="663699" cy="5347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14768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40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42" grpId="0" build="p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“Incrementing” builds a bit at a time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01800"/>
            <a:ext cx="8077200" cy="436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0590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9144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>
                <a:cs typeface="Arial" pitchFamily="34" charset="0"/>
              </a:rPr>
              <a:t>User-driven means </a:t>
            </a:r>
            <a:br>
              <a:rPr lang="en-US" sz="3600" dirty="0" smtClean="0">
                <a:cs typeface="Arial" pitchFamily="34" charset="0"/>
              </a:rPr>
            </a:br>
            <a:r>
              <a:rPr lang="en-US" sz="3600" dirty="0" smtClean="0">
                <a:cs typeface="Arial" pitchFamily="34" charset="0"/>
              </a:rPr>
              <a:t>“continuous customer involvement”  </a:t>
            </a: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838200" y="1371600"/>
            <a:ext cx="8001000" cy="2241550"/>
            <a:chOff x="528" y="1104"/>
            <a:chExt cx="5040" cy="1412"/>
          </a:xfrm>
        </p:grpSpPr>
        <p:sp>
          <p:nvSpPr>
            <p:cNvPr id="30740" name="Rectangle 27"/>
            <p:cNvSpPr>
              <a:spLocks noChangeArrowheads="1"/>
            </p:cNvSpPr>
            <p:nvPr/>
          </p:nvSpPr>
          <p:spPr bwMode="auto">
            <a:xfrm>
              <a:off x="528" y="1497"/>
              <a:ext cx="709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smtClean="0">
                  <a:latin typeface="Arial" charset="0"/>
                </a:rPr>
                <a:t>Spec</a:t>
              </a:r>
              <a:endParaRPr lang="en-US" dirty="0">
                <a:latin typeface="Arial" charset="0"/>
              </a:endParaRPr>
            </a:p>
          </p:txBody>
        </p:sp>
        <p:sp>
          <p:nvSpPr>
            <p:cNvPr id="30741" name="Rectangle 28"/>
            <p:cNvSpPr>
              <a:spLocks noChangeArrowheads="1"/>
            </p:cNvSpPr>
            <p:nvPr/>
          </p:nvSpPr>
          <p:spPr bwMode="auto">
            <a:xfrm>
              <a:off x="1488" y="1497"/>
              <a:ext cx="709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smtClean="0">
                  <a:latin typeface="Arial" charset="0"/>
                </a:rPr>
                <a:t>Design</a:t>
              </a:r>
              <a:endParaRPr lang="en-US" dirty="0">
                <a:latin typeface="Arial" charset="0"/>
              </a:endParaRPr>
            </a:p>
          </p:txBody>
        </p:sp>
        <p:sp>
          <p:nvSpPr>
            <p:cNvPr id="30742" name="Rectangle 29"/>
            <p:cNvSpPr>
              <a:spLocks noChangeArrowheads="1"/>
            </p:cNvSpPr>
            <p:nvPr/>
          </p:nvSpPr>
          <p:spPr bwMode="auto">
            <a:xfrm>
              <a:off x="2405" y="1497"/>
              <a:ext cx="71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Arial" charset="0"/>
                </a:rPr>
                <a:t>Code</a:t>
              </a:r>
            </a:p>
          </p:txBody>
        </p:sp>
        <p:sp>
          <p:nvSpPr>
            <p:cNvPr id="30743" name="Rectangle 30"/>
            <p:cNvSpPr>
              <a:spLocks noChangeArrowheads="1"/>
            </p:cNvSpPr>
            <p:nvPr/>
          </p:nvSpPr>
          <p:spPr bwMode="auto">
            <a:xfrm>
              <a:off x="3365" y="1497"/>
              <a:ext cx="709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Arial" charset="0"/>
                </a:rPr>
                <a:t>UAT</a:t>
              </a:r>
            </a:p>
          </p:txBody>
        </p:sp>
        <p:sp>
          <p:nvSpPr>
            <p:cNvPr id="30744" name="Rectangle 31"/>
            <p:cNvSpPr>
              <a:spLocks noChangeArrowheads="1"/>
            </p:cNvSpPr>
            <p:nvPr/>
          </p:nvSpPr>
          <p:spPr bwMode="auto">
            <a:xfrm>
              <a:off x="4283" y="1497"/>
              <a:ext cx="709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Arial" charset="0"/>
                </a:rPr>
                <a:t>Launch</a:t>
              </a:r>
            </a:p>
          </p:txBody>
        </p:sp>
        <p:cxnSp>
          <p:nvCxnSpPr>
            <p:cNvPr id="30745" name="AutoShape 32"/>
            <p:cNvCxnSpPr>
              <a:cxnSpLocks noChangeShapeType="1"/>
              <a:stCxn id="30743" idx="2"/>
              <a:endCxn id="30740" idx="2"/>
            </p:cNvCxnSpPr>
            <p:nvPr/>
          </p:nvCxnSpPr>
          <p:spPr bwMode="auto">
            <a:xfrm rot="5400000">
              <a:off x="2301" y="319"/>
              <a:ext cx="1" cy="2837"/>
            </a:xfrm>
            <a:prstGeom prst="bentConnector3">
              <a:avLst>
                <a:gd name="adj1" fmla="val 2858684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0746" name="AutoShape 33"/>
            <p:cNvCxnSpPr>
              <a:cxnSpLocks noChangeShapeType="1"/>
              <a:stCxn id="30740" idx="3"/>
              <a:endCxn id="30741" idx="1"/>
            </p:cNvCxnSpPr>
            <p:nvPr/>
          </p:nvCxnSpPr>
          <p:spPr bwMode="auto">
            <a:xfrm>
              <a:off x="1237" y="1617"/>
              <a:ext cx="25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747" name="AutoShape 34"/>
            <p:cNvCxnSpPr>
              <a:cxnSpLocks noChangeShapeType="1"/>
              <a:stCxn id="30741" idx="3"/>
              <a:endCxn id="30742" idx="1"/>
            </p:cNvCxnSpPr>
            <p:nvPr/>
          </p:nvCxnSpPr>
          <p:spPr bwMode="auto">
            <a:xfrm>
              <a:off x="2197" y="1617"/>
              <a:ext cx="20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748" name="AutoShape 35"/>
            <p:cNvCxnSpPr>
              <a:cxnSpLocks noChangeShapeType="1"/>
              <a:stCxn id="30742" idx="3"/>
              <a:endCxn id="30743" idx="1"/>
            </p:cNvCxnSpPr>
            <p:nvPr/>
          </p:nvCxnSpPr>
          <p:spPr bwMode="auto">
            <a:xfrm>
              <a:off x="3115" y="1617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749" name="AutoShape 36"/>
            <p:cNvCxnSpPr>
              <a:cxnSpLocks noChangeShapeType="1"/>
              <a:stCxn id="30743" idx="3"/>
              <a:endCxn id="30744" idx="1"/>
            </p:cNvCxnSpPr>
            <p:nvPr/>
          </p:nvCxnSpPr>
          <p:spPr bwMode="auto">
            <a:xfrm>
              <a:off x="4074" y="1617"/>
              <a:ext cx="20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0750" name="Text Box 37"/>
            <p:cNvSpPr txBox="1">
              <a:spLocks noChangeArrowheads="1"/>
            </p:cNvSpPr>
            <p:nvPr/>
          </p:nvSpPr>
          <p:spPr bwMode="auto">
            <a:xfrm>
              <a:off x="1404" y="1785"/>
              <a:ext cx="212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latin typeface="Arial" charset="0"/>
                </a:rPr>
                <a:t>Change Management &amp; Approval</a:t>
              </a:r>
            </a:p>
          </p:txBody>
        </p:sp>
        <p:sp>
          <p:nvSpPr>
            <p:cNvPr id="30751" name="Text Box 38"/>
            <p:cNvSpPr txBox="1">
              <a:spLocks noChangeArrowheads="1"/>
            </p:cNvSpPr>
            <p:nvPr/>
          </p:nvSpPr>
          <p:spPr bwMode="auto">
            <a:xfrm>
              <a:off x="1446" y="1104"/>
              <a:ext cx="250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 dirty="0">
                  <a:latin typeface="Arial" charset="0"/>
                </a:rPr>
                <a:t>Waterfall Approach</a:t>
              </a:r>
            </a:p>
          </p:txBody>
        </p:sp>
        <p:pic>
          <p:nvPicPr>
            <p:cNvPr id="30752" name="Picture 44" descr="MCj0435981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656" y="1824"/>
              <a:ext cx="912" cy="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0753" name="AutoShape 45"/>
            <p:cNvCxnSpPr>
              <a:cxnSpLocks noChangeShapeType="1"/>
            </p:cNvCxnSpPr>
            <p:nvPr/>
          </p:nvCxnSpPr>
          <p:spPr bwMode="auto">
            <a:xfrm>
              <a:off x="5040" y="1632"/>
              <a:ext cx="72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663742" y="3166730"/>
            <a:ext cx="6324600" cy="2819400"/>
            <a:chOff x="336" y="2256"/>
            <a:chExt cx="3984" cy="1776"/>
          </a:xfrm>
        </p:grpSpPr>
        <p:sp>
          <p:nvSpPr>
            <p:cNvPr id="30726" name="Oval 41"/>
            <p:cNvSpPr>
              <a:spLocks noChangeArrowheads="1"/>
            </p:cNvSpPr>
            <p:nvPr/>
          </p:nvSpPr>
          <p:spPr bwMode="auto">
            <a:xfrm>
              <a:off x="1104" y="2544"/>
              <a:ext cx="912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smtClean="0"/>
                <a:t>Sprint</a:t>
              </a:r>
            </a:p>
            <a:p>
              <a:pPr algn="ctr"/>
              <a:r>
                <a:rPr lang="en-US" dirty="0" smtClean="0"/>
                <a:t>(2-4wks)</a:t>
              </a:r>
              <a:endParaRPr lang="en-US" dirty="0"/>
            </a:p>
          </p:txBody>
        </p:sp>
        <p:pic>
          <p:nvPicPr>
            <p:cNvPr id="30727" name="Picture 42" descr="MCj0435981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104" y="3340"/>
              <a:ext cx="912" cy="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28" name="AutoShape 43"/>
            <p:cNvSpPr>
              <a:spLocks noChangeArrowheads="1"/>
            </p:cNvSpPr>
            <p:nvPr/>
          </p:nvSpPr>
          <p:spPr bwMode="auto">
            <a:xfrm>
              <a:off x="336" y="2613"/>
              <a:ext cx="576" cy="480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Users </a:t>
              </a:r>
            </a:p>
            <a:p>
              <a:pPr algn="ctr"/>
              <a:r>
                <a:rPr lang="en-US"/>
                <a:t>stories</a:t>
              </a:r>
            </a:p>
          </p:txBody>
        </p:sp>
        <p:cxnSp>
          <p:nvCxnSpPr>
            <p:cNvPr id="30729" name="AutoShape 47"/>
            <p:cNvCxnSpPr>
              <a:cxnSpLocks noChangeShapeType="1"/>
              <a:stCxn id="30726" idx="4"/>
            </p:cNvCxnSpPr>
            <p:nvPr/>
          </p:nvCxnSpPr>
          <p:spPr bwMode="auto">
            <a:xfrm>
              <a:off x="1560" y="3168"/>
              <a:ext cx="0" cy="1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0730" name="Oval 48"/>
            <p:cNvSpPr>
              <a:spLocks noChangeArrowheads="1"/>
            </p:cNvSpPr>
            <p:nvPr/>
          </p:nvSpPr>
          <p:spPr bwMode="auto">
            <a:xfrm>
              <a:off x="2256" y="2544"/>
              <a:ext cx="912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smtClean="0"/>
                <a:t>Sprint</a:t>
              </a:r>
            </a:p>
            <a:p>
              <a:pPr algn="ctr"/>
              <a:r>
                <a:rPr lang="en-US" dirty="0" smtClean="0"/>
                <a:t>(2-4wks)</a:t>
              </a:r>
              <a:endParaRPr lang="en-US" dirty="0"/>
            </a:p>
          </p:txBody>
        </p:sp>
        <p:pic>
          <p:nvPicPr>
            <p:cNvPr id="30731" name="Picture 49" descr="MCj0435981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56" y="3340"/>
              <a:ext cx="912" cy="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32" name="Oval 50"/>
            <p:cNvSpPr>
              <a:spLocks noChangeArrowheads="1"/>
            </p:cNvSpPr>
            <p:nvPr/>
          </p:nvSpPr>
          <p:spPr bwMode="auto">
            <a:xfrm>
              <a:off x="3408" y="2544"/>
              <a:ext cx="912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 smtClean="0"/>
                <a:t>Sprint</a:t>
              </a:r>
            </a:p>
            <a:p>
              <a:pPr algn="ctr"/>
              <a:r>
                <a:rPr lang="en-US" dirty="0" smtClean="0"/>
                <a:t>(2-4wks)</a:t>
              </a:r>
              <a:endParaRPr lang="en-US" dirty="0"/>
            </a:p>
          </p:txBody>
        </p:sp>
        <p:pic>
          <p:nvPicPr>
            <p:cNvPr id="30733" name="Picture 51" descr="MCj0435981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408" y="3292"/>
              <a:ext cx="912" cy="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0734" name="AutoShape 52"/>
            <p:cNvCxnSpPr>
              <a:cxnSpLocks noChangeShapeType="1"/>
            </p:cNvCxnSpPr>
            <p:nvPr/>
          </p:nvCxnSpPr>
          <p:spPr bwMode="auto">
            <a:xfrm>
              <a:off x="2736" y="3168"/>
              <a:ext cx="0" cy="1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735" name="AutoShape 53"/>
            <p:cNvCxnSpPr>
              <a:cxnSpLocks noChangeShapeType="1"/>
            </p:cNvCxnSpPr>
            <p:nvPr/>
          </p:nvCxnSpPr>
          <p:spPr bwMode="auto">
            <a:xfrm>
              <a:off x="3888" y="3168"/>
              <a:ext cx="0" cy="1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736" name="AutoShape 46"/>
            <p:cNvCxnSpPr>
              <a:cxnSpLocks noChangeShapeType="1"/>
              <a:stCxn id="30728" idx="3"/>
              <a:endCxn id="30726" idx="2"/>
            </p:cNvCxnSpPr>
            <p:nvPr/>
          </p:nvCxnSpPr>
          <p:spPr bwMode="auto">
            <a:xfrm>
              <a:off x="912" y="2853"/>
              <a:ext cx="192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737" name="AutoShape 54"/>
            <p:cNvCxnSpPr>
              <a:cxnSpLocks noChangeShapeType="1"/>
            </p:cNvCxnSpPr>
            <p:nvPr/>
          </p:nvCxnSpPr>
          <p:spPr bwMode="auto">
            <a:xfrm>
              <a:off x="2016" y="2880"/>
              <a:ext cx="24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738" name="AutoShape 55"/>
            <p:cNvCxnSpPr>
              <a:cxnSpLocks noChangeShapeType="1"/>
              <a:stCxn id="30730" idx="6"/>
              <a:endCxn id="30732" idx="2"/>
            </p:cNvCxnSpPr>
            <p:nvPr/>
          </p:nvCxnSpPr>
          <p:spPr bwMode="auto">
            <a:xfrm>
              <a:off x="3168" y="2856"/>
              <a:ext cx="24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0739" name="Text Box 60"/>
            <p:cNvSpPr txBox="1">
              <a:spLocks noChangeArrowheads="1"/>
            </p:cNvSpPr>
            <p:nvPr/>
          </p:nvSpPr>
          <p:spPr bwMode="auto">
            <a:xfrm>
              <a:off x="1056" y="2256"/>
              <a:ext cx="244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i="1" dirty="0">
                  <a:latin typeface="Arial" charset="0"/>
                </a:rPr>
                <a:t>Agile Approach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324E10-B26F-400A-B8B2-C40F0460125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Low process means ….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024E-DEA7-4BA8-BA6F-A86BD0AAC9CD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5105400" y="1219200"/>
            <a:ext cx="3771899" cy="3225961"/>
            <a:chOff x="2362201" y="1676400"/>
            <a:chExt cx="3771899" cy="3225961"/>
          </a:xfrm>
        </p:grpSpPr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895600" y="1676400"/>
              <a:ext cx="3238500" cy="2859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3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362201" y="4419600"/>
              <a:ext cx="1981199" cy="4827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7175" name="Picture 7" descr="http://www.xceedmortgage.com/wp-content/uploads/2011/12/bigstock_Heavy_Documents_524857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0" y="1371600"/>
            <a:ext cx="1524000" cy="1905000"/>
          </a:xfrm>
          <a:prstGeom prst="rect">
            <a:avLst/>
          </a:prstGeom>
          <a:noFill/>
        </p:spPr>
      </p:pic>
      <p:pic>
        <p:nvPicPr>
          <p:cNvPr id="7177" name="Picture 9" descr="http://alaverdyan.com/readme/wp-content/uploads/2011/11/story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14600" y="1447800"/>
            <a:ext cx="1676400" cy="1207009"/>
          </a:xfrm>
          <a:prstGeom prst="rect">
            <a:avLst/>
          </a:prstGeom>
          <a:noFill/>
        </p:spPr>
      </p:pic>
      <p:pic>
        <p:nvPicPr>
          <p:cNvPr id="7179" name="Picture 11" descr="http://www.agilebuddha.com/wp-content/uploads/2012/12/PairProgrammingInAction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43000" y="3200400"/>
            <a:ext cx="4114800" cy="3172858"/>
          </a:xfrm>
          <a:prstGeom prst="rect">
            <a:avLst/>
          </a:prstGeom>
          <a:noFill/>
        </p:spPr>
      </p:pic>
      <p:pic>
        <p:nvPicPr>
          <p:cNvPr id="15" name="Picture 10" descr="C:\Users\MIRAIE1992\AppData\Local\Microsoft\Windows\Temporary Internet Files\Content.IE5\EHDNP542\MC900441880[1]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696200" y="4800600"/>
            <a:ext cx="1050925" cy="146555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2081105" y="2649042"/>
            <a:ext cx="2543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LIGHT DOCUMENTATION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081105" y="6188592"/>
            <a:ext cx="2061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PAIR PROGRAMING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257800" y="2534834"/>
            <a:ext cx="2450736" cy="4616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“PULLING WORK”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142631" y="5302546"/>
            <a:ext cx="182370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“SYNTHESIS”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dirty="0" smtClean="0"/>
              <a:t>A look in an Agile team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1B2DF3-FD5A-425A-97A4-9F2ADA98AFD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6562" name="Picture 2" descr="http://agilitrix.com/wp-content/uploads/2010/02/Customer-Tea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1143000"/>
            <a:ext cx="7962900" cy="502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134"/>
          <p:cNvSpPr>
            <a:spLocks noChangeShapeType="1"/>
          </p:cNvSpPr>
          <p:nvPr/>
        </p:nvSpPr>
        <p:spPr bwMode="auto">
          <a:xfrm>
            <a:off x="561312" y="879475"/>
            <a:ext cx="7134888" cy="5129213"/>
          </a:xfrm>
          <a:prstGeom prst="line">
            <a:avLst/>
          </a:prstGeom>
          <a:noFill/>
          <a:ln w="254000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629400" y="6446837"/>
            <a:ext cx="2133600" cy="365125"/>
          </a:xfrm>
          <a:noFill/>
        </p:spPr>
        <p:txBody>
          <a:bodyPr/>
          <a:lstStyle/>
          <a:p>
            <a:pPr algn="r"/>
            <a:fld id="{0403896B-B1E7-4D40-B235-D0AC64445667}" type="slidenum">
              <a:rPr lang="en-US" smtClean="0"/>
              <a:pPr algn="r"/>
              <a:t>17</a:t>
            </a:fld>
            <a:endParaRPr lang="en-US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0" y="239713"/>
            <a:ext cx="5829300" cy="868362"/>
          </a:xfrm>
        </p:spPr>
        <p:txBody>
          <a:bodyPr>
            <a:normAutofit/>
          </a:bodyPr>
          <a:lstStyle/>
          <a:p>
            <a:pPr algn="r" eaLnBrk="1" hangingPunct="1"/>
            <a:r>
              <a:rPr lang="en-US" sz="3600" dirty="0" err="1" smtClean="0"/>
              <a:t>Burndown</a:t>
            </a:r>
            <a:r>
              <a:rPr lang="en-US" sz="3600" dirty="0" smtClean="0"/>
              <a:t> Chart (1)</a:t>
            </a:r>
          </a:p>
        </p:txBody>
      </p:sp>
      <p:sp>
        <p:nvSpPr>
          <p:cNvPr id="86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1336675"/>
            <a:ext cx="4724400" cy="129540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sz="2000" i="1" dirty="0" smtClean="0">
                <a:latin typeface="Bookman Old Style" pitchFamily="18" charset="0"/>
              </a:rPr>
              <a:t>“At the end of each iteration, I just count </a:t>
            </a:r>
            <a:r>
              <a:rPr lang="en-US" sz="2000" b="1" i="1" dirty="0" smtClean="0">
                <a:solidFill>
                  <a:srgbClr val="0070C0"/>
                </a:solidFill>
                <a:latin typeface="Bookman Old Style" pitchFamily="18" charset="0"/>
              </a:rPr>
              <a:t>how many bricks, uh… stories are left</a:t>
            </a:r>
            <a:r>
              <a:rPr lang="en-US" sz="2000" i="1" dirty="0" smtClean="0">
                <a:solidFill>
                  <a:srgbClr val="0070C0"/>
                </a:solidFill>
                <a:latin typeface="Bookman Old Style" pitchFamily="18" charset="0"/>
              </a:rPr>
              <a:t>.  </a:t>
            </a:r>
            <a:r>
              <a:rPr lang="en-US" sz="2000" i="1" dirty="0" smtClean="0">
                <a:latin typeface="Bookman Old Style" pitchFamily="18" charset="0"/>
              </a:rPr>
              <a:t>It couldn’t be more simple!”</a:t>
            </a:r>
          </a:p>
        </p:txBody>
      </p:sp>
      <p:sp>
        <p:nvSpPr>
          <p:cNvPr id="860216" name="Text Box 56"/>
          <p:cNvSpPr txBox="1">
            <a:spLocks noChangeArrowheads="1"/>
          </p:cNvSpPr>
          <p:nvPr/>
        </p:nvSpPr>
        <p:spPr bwMode="auto">
          <a:xfrm>
            <a:off x="12954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1</a:t>
            </a:r>
          </a:p>
        </p:txBody>
      </p:sp>
      <p:sp>
        <p:nvSpPr>
          <p:cNvPr id="860217" name="Text Box 57"/>
          <p:cNvSpPr txBox="1">
            <a:spLocks noChangeArrowheads="1"/>
          </p:cNvSpPr>
          <p:nvPr/>
        </p:nvSpPr>
        <p:spPr bwMode="auto">
          <a:xfrm>
            <a:off x="22098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2</a:t>
            </a:r>
          </a:p>
        </p:txBody>
      </p:sp>
      <p:sp>
        <p:nvSpPr>
          <p:cNvPr id="860218" name="Text Box 58"/>
          <p:cNvSpPr txBox="1">
            <a:spLocks noChangeArrowheads="1"/>
          </p:cNvSpPr>
          <p:nvPr/>
        </p:nvSpPr>
        <p:spPr bwMode="auto">
          <a:xfrm>
            <a:off x="31242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3</a:t>
            </a:r>
          </a:p>
        </p:txBody>
      </p:sp>
      <p:sp>
        <p:nvSpPr>
          <p:cNvPr id="860219" name="Text Box 59"/>
          <p:cNvSpPr txBox="1">
            <a:spLocks noChangeArrowheads="1"/>
          </p:cNvSpPr>
          <p:nvPr/>
        </p:nvSpPr>
        <p:spPr bwMode="auto">
          <a:xfrm>
            <a:off x="40386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4</a:t>
            </a:r>
          </a:p>
        </p:txBody>
      </p:sp>
      <p:sp>
        <p:nvSpPr>
          <p:cNvPr id="860221" name="Text Box 61"/>
          <p:cNvSpPr txBox="1">
            <a:spLocks noChangeArrowheads="1"/>
          </p:cNvSpPr>
          <p:nvPr/>
        </p:nvSpPr>
        <p:spPr bwMode="auto">
          <a:xfrm>
            <a:off x="49530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5</a:t>
            </a:r>
          </a:p>
        </p:txBody>
      </p:sp>
      <p:sp>
        <p:nvSpPr>
          <p:cNvPr id="860222" name="Text Box 62"/>
          <p:cNvSpPr txBox="1">
            <a:spLocks noChangeArrowheads="1"/>
          </p:cNvSpPr>
          <p:nvPr/>
        </p:nvSpPr>
        <p:spPr bwMode="auto">
          <a:xfrm>
            <a:off x="58674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6</a:t>
            </a:r>
          </a:p>
        </p:txBody>
      </p:sp>
      <p:sp>
        <p:nvSpPr>
          <p:cNvPr id="860223" name="Text Box 63"/>
          <p:cNvSpPr txBox="1">
            <a:spLocks noChangeArrowheads="1"/>
          </p:cNvSpPr>
          <p:nvPr/>
        </p:nvSpPr>
        <p:spPr bwMode="auto">
          <a:xfrm>
            <a:off x="67818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7</a:t>
            </a:r>
          </a:p>
        </p:txBody>
      </p:sp>
      <p:sp>
        <p:nvSpPr>
          <p:cNvPr id="860224" name="Text Box 64"/>
          <p:cNvSpPr txBox="1">
            <a:spLocks noChangeArrowheads="1"/>
          </p:cNvSpPr>
          <p:nvPr/>
        </p:nvSpPr>
        <p:spPr bwMode="auto">
          <a:xfrm>
            <a:off x="76962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8</a:t>
            </a:r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1143000" y="5843588"/>
            <a:ext cx="7543800" cy="304800"/>
            <a:chOff x="720" y="3681"/>
            <a:chExt cx="4752" cy="192"/>
          </a:xfrm>
        </p:grpSpPr>
        <p:sp>
          <p:nvSpPr>
            <p:cNvPr id="20520" name="Line 54"/>
            <p:cNvSpPr>
              <a:spLocks noChangeShapeType="1"/>
            </p:cNvSpPr>
            <p:nvPr/>
          </p:nvSpPr>
          <p:spPr bwMode="auto">
            <a:xfrm>
              <a:off x="720" y="3785"/>
              <a:ext cx="4752" cy="0"/>
            </a:xfrm>
            <a:prstGeom prst="line">
              <a:avLst/>
            </a:prstGeom>
            <a:noFill/>
            <a:ln w="63500">
              <a:solidFill>
                <a:srgbClr val="808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Rectangle 67"/>
            <p:cNvSpPr>
              <a:spLocks noChangeArrowheads="1"/>
            </p:cNvSpPr>
            <p:nvPr/>
          </p:nvSpPr>
          <p:spPr bwMode="auto">
            <a:xfrm>
              <a:off x="2640" y="3681"/>
              <a:ext cx="76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entury Gothic" pitchFamily="34" charset="0"/>
                </a:rPr>
                <a:t>iterations</a:t>
              </a:r>
            </a:p>
          </p:txBody>
        </p:sp>
      </p:grp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457200" y="703263"/>
            <a:ext cx="525463" cy="5164137"/>
            <a:chOff x="388" y="443"/>
            <a:chExt cx="331" cy="3253"/>
          </a:xfrm>
        </p:grpSpPr>
        <p:grpSp>
          <p:nvGrpSpPr>
            <p:cNvPr id="4" name="Group 99"/>
            <p:cNvGrpSpPr>
              <a:grpSpLocks/>
            </p:cNvGrpSpPr>
            <p:nvPr/>
          </p:nvGrpSpPr>
          <p:grpSpPr bwMode="auto">
            <a:xfrm>
              <a:off x="388" y="443"/>
              <a:ext cx="331" cy="3253"/>
              <a:chOff x="388" y="443"/>
              <a:chExt cx="331" cy="3253"/>
            </a:xfrm>
          </p:grpSpPr>
          <p:pic>
            <p:nvPicPr>
              <p:cNvPr id="20498" name="Picture 10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46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499" name="Picture 10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32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0" name="Picture 102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17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1" name="Picture 103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30" y="303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2" name="Picture 104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288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3" name="Picture 105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274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4" name="Picture 106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2" y="260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5" name="Picture 107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45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6" name="Picture 108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31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7" name="Picture 109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16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8" name="Picture 11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0" y="202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09" name="Picture 11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187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0" name="Picture 112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173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1" name="Picture 113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2" y="159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2" name="Picture 114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44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3" name="Picture 115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30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4" name="Picture 116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15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5" name="Picture 117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88" y="1012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6" name="Picture 118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87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7" name="Picture 119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72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8" name="Picture 12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0" y="582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519" name="Picture 12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5" y="443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0497" name="Text Box 122"/>
            <p:cNvSpPr txBox="1">
              <a:spLocks noChangeArrowheads="1"/>
            </p:cNvSpPr>
            <p:nvPr/>
          </p:nvSpPr>
          <p:spPr bwMode="auto">
            <a:xfrm rot="-5400000">
              <a:off x="221" y="1948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scope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6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6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860163" grpId="0" build="p"/>
      <p:bldP spid="860216" grpId="0"/>
      <p:bldP spid="860217" grpId="0"/>
      <p:bldP spid="860218" grpId="0"/>
      <p:bldP spid="860219" grpId="0"/>
      <p:bldP spid="860221" grpId="0"/>
      <p:bldP spid="860222" grpId="0"/>
      <p:bldP spid="860223" grpId="0"/>
      <p:bldP spid="8602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Line 134"/>
          <p:cNvSpPr>
            <a:spLocks noChangeShapeType="1"/>
          </p:cNvSpPr>
          <p:nvPr/>
        </p:nvSpPr>
        <p:spPr bwMode="auto">
          <a:xfrm>
            <a:off x="561312" y="762000"/>
            <a:ext cx="7134888" cy="5129213"/>
          </a:xfrm>
          <a:prstGeom prst="line">
            <a:avLst/>
          </a:prstGeom>
          <a:noFill/>
          <a:ln w="254000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3" name="Line 82"/>
          <p:cNvSpPr>
            <a:spLocks noChangeShapeType="1"/>
          </p:cNvSpPr>
          <p:nvPr/>
        </p:nvSpPr>
        <p:spPr bwMode="auto">
          <a:xfrm>
            <a:off x="533400" y="685800"/>
            <a:ext cx="7162800" cy="5049838"/>
          </a:xfrm>
          <a:prstGeom prst="line">
            <a:avLst/>
          </a:prstGeom>
          <a:noFill/>
          <a:ln w="2540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553200" y="6492875"/>
            <a:ext cx="2133600" cy="365125"/>
          </a:xfrm>
          <a:noFill/>
        </p:spPr>
        <p:txBody>
          <a:bodyPr/>
          <a:lstStyle/>
          <a:p>
            <a:pPr algn="r"/>
            <a:fld id="{5C7D916D-9F9E-42D9-A7E0-06BF9F72A52E}" type="slidenum">
              <a:rPr lang="en-US" smtClean="0"/>
              <a:pPr algn="r"/>
              <a:t>18</a:t>
            </a:fld>
            <a:endParaRPr lang="en-US" smtClean="0"/>
          </a:p>
        </p:txBody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1685925"/>
            <a:ext cx="4724400" cy="1295400"/>
          </a:xfrm>
          <a:noFill/>
        </p:spPr>
        <p:txBody>
          <a:bodyPr anchor="t"/>
          <a:lstStyle/>
          <a:p>
            <a:pPr marL="0" indent="0" eaLnBrk="1" hangingPunct="1">
              <a:buNone/>
            </a:pPr>
            <a:r>
              <a:rPr lang="en-US" sz="2000" i="1" dirty="0" smtClean="0">
                <a:latin typeface="Bookman Old Style" pitchFamily="18" charset="0"/>
              </a:rPr>
              <a:t>“Iteration 1…. things are going fine.”</a:t>
            </a: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12954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1</a:t>
            </a:r>
          </a:p>
        </p:txBody>
      </p:sp>
      <p:sp>
        <p:nvSpPr>
          <p:cNvPr id="21511" name="Text Box 6"/>
          <p:cNvSpPr txBox="1">
            <a:spLocks noChangeArrowheads="1"/>
          </p:cNvSpPr>
          <p:nvPr/>
        </p:nvSpPr>
        <p:spPr bwMode="auto">
          <a:xfrm>
            <a:off x="22098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2</a:t>
            </a:r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31242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3</a:t>
            </a:r>
          </a:p>
        </p:txBody>
      </p:sp>
      <p:sp>
        <p:nvSpPr>
          <p:cNvPr id="21513" name="Text Box 8"/>
          <p:cNvSpPr txBox="1">
            <a:spLocks noChangeArrowheads="1"/>
          </p:cNvSpPr>
          <p:nvPr/>
        </p:nvSpPr>
        <p:spPr bwMode="auto">
          <a:xfrm>
            <a:off x="40386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4</a:t>
            </a:r>
          </a:p>
        </p:txBody>
      </p:sp>
      <p:sp>
        <p:nvSpPr>
          <p:cNvPr id="21514" name="Text Box 9"/>
          <p:cNvSpPr txBox="1">
            <a:spLocks noChangeArrowheads="1"/>
          </p:cNvSpPr>
          <p:nvPr/>
        </p:nvSpPr>
        <p:spPr bwMode="auto">
          <a:xfrm>
            <a:off x="49530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5</a:t>
            </a:r>
          </a:p>
        </p:txBody>
      </p:sp>
      <p:sp>
        <p:nvSpPr>
          <p:cNvPr id="21515" name="Text Box 10"/>
          <p:cNvSpPr txBox="1">
            <a:spLocks noChangeArrowheads="1"/>
          </p:cNvSpPr>
          <p:nvPr/>
        </p:nvSpPr>
        <p:spPr bwMode="auto">
          <a:xfrm>
            <a:off x="58674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6</a:t>
            </a:r>
          </a:p>
        </p:txBody>
      </p:sp>
      <p:sp>
        <p:nvSpPr>
          <p:cNvPr id="21516" name="Text Box 11"/>
          <p:cNvSpPr txBox="1">
            <a:spLocks noChangeArrowheads="1"/>
          </p:cNvSpPr>
          <p:nvPr/>
        </p:nvSpPr>
        <p:spPr bwMode="auto">
          <a:xfrm>
            <a:off x="67818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7</a:t>
            </a:r>
          </a:p>
        </p:txBody>
      </p:sp>
      <p:sp>
        <p:nvSpPr>
          <p:cNvPr id="21517" name="Text Box 12"/>
          <p:cNvSpPr txBox="1">
            <a:spLocks noChangeArrowheads="1"/>
          </p:cNvSpPr>
          <p:nvPr/>
        </p:nvSpPr>
        <p:spPr bwMode="auto">
          <a:xfrm>
            <a:off x="76962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8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43000" y="5843588"/>
            <a:ext cx="7543800" cy="304800"/>
            <a:chOff x="720" y="3681"/>
            <a:chExt cx="4752" cy="192"/>
          </a:xfrm>
        </p:grpSpPr>
        <p:sp>
          <p:nvSpPr>
            <p:cNvPr id="21565" name="Line 14"/>
            <p:cNvSpPr>
              <a:spLocks noChangeShapeType="1"/>
            </p:cNvSpPr>
            <p:nvPr/>
          </p:nvSpPr>
          <p:spPr bwMode="auto">
            <a:xfrm>
              <a:off x="720" y="3785"/>
              <a:ext cx="4752" cy="0"/>
            </a:xfrm>
            <a:prstGeom prst="line">
              <a:avLst/>
            </a:prstGeom>
            <a:noFill/>
            <a:ln w="63500">
              <a:solidFill>
                <a:srgbClr val="808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Rectangle 15"/>
            <p:cNvSpPr>
              <a:spLocks noChangeArrowheads="1"/>
            </p:cNvSpPr>
            <p:nvPr/>
          </p:nvSpPr>
          <p:spPr bwMode="auto">
            <a:xfrm>
              <a:off x="2640" y="3681"/>
              <a:ext cx="76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entury Gothic" pitchFamily="34" charset="0"/>
                </a:rPr>
                <a:t>iterations</a:t>
              </a:r>
            </a:p>
          </p:txBody>
        </p:sp>
      </p:grpSp>
      <p:pic>
        <p:nvPicPr>
          <p:cNvPr id="864299" name="Picture 4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55514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0" name="Picture 4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532923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1" name="Picture 4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50942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2" name="Picture 46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7613" y="48625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3" name="Picture 47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46370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4" name="Picture 48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44084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5" name="Picture 49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6663" y="41798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6" name="Picture 50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9481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7" name="Picture 51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72586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8" name="Picture 52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4909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09" name="Picture 5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9988" y="325913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0" name="Picture 5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0337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1" name="Picture 5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28051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2" name="Picture 56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9038" y="25765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3" name="Picture 57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23479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4" name="Picture 58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212566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5" name="Picture 59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18907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6" name="Picture 60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0938" y="165893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7" name="Picture 61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14335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4318" name="Picture 62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12049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39" name="Oval 67"/>
          <p:cNvSpPr>
            <a:spLocks noChangeArrowheads="1"/>
          </p:cNvSpPr>
          <p:nvPr/>
        </p:nvSpPr>
        <p:spPr bwMode="auto">
          <a:xfrm>
            <a:off x="1219200" y="609600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800">
                <a:latin typeface="Century Gothic" pitchFamily="34" charset="0"/>
              </a:rPr>
              <a:t>1</a:t>
            </a:r>
          </a:p>
        </p:txBody>
      </p: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457200" y="703263"/>
            <a:ext cx="525463" cy="5164137"/>
            <a:chOff x="388" y="443"/>
            <a:chExt cx="331" cy="3253"/>
          </a:xfrm>
        </p:grpSpPr>
        <p:grpSp>
          <p:nvGrpSpPr>
            <p:cNvPr id="4" name="Group 69"/>
            <p:cNvGrpSpPr>
              <a:grpSpLocks/>
            </p:cNvGrpSpPr>
            <p:nvPr/>
          </p:nvGrpSpPr>
          <p:grpSpPr bwMode="auto">
            <a:xfrm>
              <a:off x="388" y="443"/>
              <a:ext cx="331" cy="3253"/>
              <a:chOff x="388" y="443"/>
              <a:chExt cx="331" cy="3253"/>
            </a:xfrm>
          </p:grpSpPr>
          <p:pic>
            <p:nvPicPr>
              <p:cNvPr id="21543" name="Picture 7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46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44" name="Picture 7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32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45" name="Picture 72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17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46" name="Picture 73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30" y="303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47" name="Picture 74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288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48" name="Picture 75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274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49" name="Picture 76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2" y="260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0" name="Picture 77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45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1" name="Picture 78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31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2" name="Picture 79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16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3" name="Picture 8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0" y="202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4" name="Picture 8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187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5" name="Picture 82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173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6" name="Picture 83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2" y="159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7" name="Picture 84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44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8" name="Picture 85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30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59" name="Picture 86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15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60" name="Picture 87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88" y="1012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61" name="Picture 88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87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62" name="Picture 89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72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63" name="Picture 9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0" y="582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64" name="Picture 9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5" y="443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1542" name="Text Box 92"/>
            <p:cNvSpPr txBox="1">
              <a:spLocks noChangeArrowheads="1"/>
            </p:cNvSpPr>
            <p:nvPr/>
          </p:nvSpPr>
          <p:spPr bwMode="auto">
            <a:xfrm rot="-5400000">
              <a:off x="221" y="1948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scope</a:t>
              </a:r>
            </a:p>
          </p:txBody>
        </p:sp>
      </p:grpSp>
      <p:sp>
        <p:nvSpPr>
          <p:cNvPr id="6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0" y="235557"/>
            <a:ext cx="5829300" cy="868362"/>
          </a:xfrm>
        </p:spPr>
        <p:txBody>
          <a:bodyPr>
            <a:normAutofit/>
          </a:bodyPr>
          <a:lstStyle/>
          <a:p>
            <a:pPr algn="r" eaLnBrk="1" hangingPunct="1"/>
            <a:r>
              <a:rPr lang="en-US" sz="3600" dirty="0" err="1" smtClean="0"/>
              <a:t>Burndown</a:t>
            </a:r>
            <a:r>
              <a:rPr lang="en-US" sz="3600" dirty="0" smtClean="0"/>
              <a:t> Chart (2)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6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6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6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6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6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6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6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6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6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64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6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86425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Line 134"/>
          <p:cNvSpPr>
            <a:spLocks noChangeShapeType="1"/>
          </p:cNvSpPr>
          <p:nvPr/>
        </p:nvSpPr>
        <p:spPr bwMode="auto">
          <a:xfrm>
            <a:off x="510540" y="780588"/>
            <a:ext cx="7185660" cy="5129213"/>
          </a:xfrm>
          <a:prstGeom prst="line">
            <a:avLst/>
          </a:prstGeom>
          <a:noFill/>
          <a:ln w="254000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81800" y="6492875"/>
            <a:ext cx="2133600" cy="365125"/>
          </a:xfrm>
          <a:noFill/>
        </p:spPr>
        <p:txBody>
          <a:bodyPr/>
          <a:lstStyle/>
          <a:p>
            <a:pPr algn="r"/>
            <a:fld id="{F5382386-4F1D-4715-85F7-08C838E810E2}" type="slidenum">
              <a:rPr lang="en-US" smtClean="0"/>
              <a:pPr algn="r"/>
              <a:t>19</a:t>
            </a:fld>
            <a:endParaRPr lang="en-US" smtClean="0"/>
          </a:p>
        </p:txBody>
      </p:sp>
      <p:sp>
        <p:nvSpPr>
          <p:cNvPr id="23555" name="Line 2"/>
          <p:cNvSpPr>
            <a:spLocks noChangeShapeType="1"/>
          </p:cNvSpPr>
          <p:nvPr/>
        </p:nvSpPr>
        <p:spPr bwMode="auto">
          <a:xfrm>
            <a:off x="533400" y="685800"/>
            <a:ext cx="7696200" cy="4038600"/>
          </a:xfrm>
          <a:prstGeom prst="line">
            <a:avLst/>
          </a:prstGeom>
          <a:noFill/>
          <a:ln w="2540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77887"/>
          </a:xfrm>
        </p:spPr>
        <p:txBody>
          <a:bodyPr>
            <a:normAutofit/>
          </a:bodyPr>
          <a:lstStyle/>
          <a:p>
            <a:pPr algn="r" eaLnBrk="1" hangingPunct="1"/>
            <a:r>
              <a:rPr lang="en-US" sz="3600" dirty="0" err="1" smtClean="0"/>
              <a:t>Burndown</a:t>
            </a:r>
            <a:r>
              <a:rPr lang="en-US" sz="3600" dirty="0" smtClean="0"/>
              <a:t> Chart (3)</a:t>
            </a:r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12954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1</a:t>
            </a:r>
          </a:p>
        </p:txBody>
      </p:sp>
      <p:sp>
        <p:nvSpPr>
          <p:cNvPr id="23560" name="Text Box 7"/>
          <p:cNvSpPr txBox="1">
            <a:spLocks noChangeArrowheads="1"/>
          </p:cNvSpPr>
          <p:nvPr/>
        </p:nvSpPr>
        <p:spPr bwMode="auto">
          <a:xfrm>
            <a:off x="22098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2</a:t>
            </a:r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31242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3</a:t>
            </a:r>
          </a:p>
        </p:txBody>
      </p:sp>
      <p:sp>
        <p:nvSpPr>
          <p:cNvPr id="23562" name="Text Box 9"/>
          <p:cNvSpPr txBox="1">
            <a:spLocks noChangeArrowheads="1"/>
          </p:cNvSpPr>
          <p:nvPr/>
        </p:nvSpPr>
        <p:spPr bwMode="auto">
          <a:xfrm>
            <a:off x="40386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4</a:t>
            </a:r>
          </a:p>
        </p:txBody>
      </p:sp>
      <p:sp>
        <p:nvSpPr>
          <p:cNvPr id="23563" name="Text Box 10"/>
          <p:cNvSpPr txBox="1">
            <a:spLocks noChangeArrowheads="1"/>
          </p:cNvSpPr>
          <p:nvPr/>
        </p:nvSpPr>
        <p:spPr bwMode="auto">
          <a:xfrm>
            <a:off x="49530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5</a:t>
            </a:r>
          </a:p>
        </p:txBody>
      </p:sp>
      <p:sp>
        <p:nvSpPr>
          <p:cNvPr id="23564" name="Text Box 11"/>
          <p:cNvSpPr txBox="1">
            <a:spLocks noChangeArrowheads="1"/>
          </p:cNvSpPr>
          <p:nvPr/>
        </p:nvSpPr>
        <p:spPr bwMode="auto">
          <a:xfrm>
            <a:off x="58674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Century Gothic" pitchFamily="34" charset="0"/>
              </a:rPr>
              <a:t>6</a:t>
            </a:r>
          </a:p>
        </p:txBody>
      </p:sp>
      <p:sp>
        <p:nvSpPr>
          <p:cNvPr id="23565" name="Text Box 12"/>
          <p:cNvSpPr txBox="1">
            <a:spLocks noChangeArrowheads="1"/>
          </p:cNvSpPr>
          <p:nvPr/>
        </p:nvSpPr>
        <p:spPr bwMode="auto">
          <a:xfrm>
            <a:off x="67818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7</a:t>
            </a:r>
          </a:p>
        </p:txBody>
      </p:sp>
      <p:sp>
        <p:nvSpPr>
          <p:cNvPr id="23566" name="Text Box 13"/>
          <p:cNvSpPr txBox="1">
            <a:spLocks noChangeArrowheads="1"/>
          </p:cNvSpPr>
          <p:nvPr/>
        </p:nvSpPr>
        <p:spPr bwMode="auto">
          <a:xfrm>
            <a:off x="7696200" y="611028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Century Gothic" pitchFamily="34" charset="0"/>
              </a:rPr>
              <a:t>8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143000" y="5843588"/>
            <a:ext cx="7543800" cy="304800"/>
            <a:chOff x="720" y="3681"/>
            <a:chExt cx="4752" cy="192"/>
          </a:xfrm>
        </p:grpSpPr>
        <p:sp>
          <p:nvSpPr>
            <p:cNvPr id="23651" name="Line 15"/>
            <p:cNvSpPr>
              <a:spLocks noChangeShapeType="1"/>
            </p:cNvSpPr>
            <p:nvPr/>
          </p:nvSpPr>
          <p:spPr bwMode="auto">
            <a:xfrm>
              <a:off x="720" y="3785"/>
              <a:ext cx="4752" cy="0"/>
            </a:xfrm>
            <a:prstGeom prst="line">
              <a:avLst/>
            </a:prstGeom>
            <a:noFill/>
            <a:ln w="63500">
              <a:solidFill>
                <a:srgbClr val="808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Rectangle 16"/>
            <p:cNvSpPr>
              <a:spLocks noChangeArrowheads="1"/>
            </p:cNvSpPr>
            <p:nvPr/>
          </p:nvSpPr>
          <p:spPr bwMode="auto">
            <a:xfrm>
              <a:off x="2640" y="3681"/>
              <a:ext cx="76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entury Gothic" pitchFamily="34" charset="0"/>
                </a:rPr>
                <a:t>iterations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57200" y="703263"/>
            <a:ext cx="525463" cy="5164137"/>
            <a:chOff x="388" y="443"/>
            <a:chExt cx="331" cy="3253"/>
          </a:xfrm>
        </p:grpSpPr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388" y="443"/>
              <a:ext cx="331" cy="3253"/>
              <a:chOff x="388" y="443"/>
              <a:chExt cx="331" cy="3253"/>
            </a:xfrm>
          </p:grpSpPr>
          <p:pic>
            <p:nvPicPr>
              <p:cNvPr id="23629" name="Picture 19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46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0" name="Picture 2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32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1" name="Picture 2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317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2" name="Picture 22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30" y="303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3" name="Picture 23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288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4" name="Picture 24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8" y="274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5" name="Picture 25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2" y="260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6" name="Picture 26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45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7" name="Picture 27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31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8" name="Picture 28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216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39" name="Picture 29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0" y="202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0" name="Picture 3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187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1" name="Picture 31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8" y="1734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2" name="Picture 32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2" y="159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3" name="Picture 33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44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4" name="Picture 34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30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5" name="Picture 35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1158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6" name="Picture 36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88" y="1012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7" name="Picture 37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870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8" name="Picture 38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6" y="726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49" name="Picture 39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0" y="582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650" name="Picture 40" descr="red_bric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5" y="443"/>
                <a:ext cx="271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3628" name="Text Box 41"/>
            <p:cNvSpPr txBox="1">
              <a:spLocks noChangeArrowheads="1"/>
            </p:cNvSpPr>
            <p:nvPr/>
          </p:nvSpPr>
          <p:spPr bwMode="auto">
            <a:xfrm rot="-5400000">
              <a:off x="221" y="1948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scope</a:t>
              </a:r>
            </a:p>
          </p:txBody>
        </p:sp>
      </p:grpSp>
      <p:pic>
        <p:nvPicPr>
          <p:cNvPr id="23569" name="Picture 42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55514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0" name="Picture 4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532923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1" name="Picture 4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50942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2" name="Picture 4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7613" y="48625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3" name="Picture 46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46370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4" name="Picture 47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44084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5" name="Picture 48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6663" y="417988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6" name="Picture 49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9481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7" name="Picture 50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72586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8" name="Picture 51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4909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79" name="Picture 52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9988" y="325913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0" name="Picture 5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30337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1" name="Picture 5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563" y="28051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2" name="Picture 5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9038" y="25765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3" name="Picture 56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23479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4" name="Picture 57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212566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5" name="Picture 58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18907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6" name="Picture 59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0938" y="165893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7" name="Picture 60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14335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88" name="Picture 61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9513" y="1204913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89" name="Oval 62"/>
          <p:cNvSpPr>
            <a:spLocks noChangeArrowheads="1"/>
          </p:cNvSpPr>
          <p:nvPr/>
        </p:nvSpPr>
        <p:spPr bwMode="auto">
          <a:xfrm>
            <a:off x="2971800" y="609600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2800">
                <a:latin typeface="Century Gothic" pitchFamily="34" charset="0"/>
              </a:rPr>
              <a:t>3</a:t>
            </a:r>
          </a:p>
        </p:txBody>
      </p:sp>
      <p:pic>
        <p:nvPicPr>
          <p:cNvPr id="23590" name="Picture 6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4388" y="55657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1" name="Picture 6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4388" y="534352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2" name="Picture 6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4388" y="51085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3" name="Picture 66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5813" y="48768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4" name="Picture 67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4388" y="46513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5" name="Picture 68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4388" y="44227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6" name="Picture 69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4863" y="41941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7" name="Picture 70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6763" y="39624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8" name="Picture 71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6763" y="37401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99" name="Picture 72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6763" y="35052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0" name="Picture 7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8188" y="327342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1" name="Picture 7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6763" y="30480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2" name="Picture 7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6763" y="28194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3" name="Picture 76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7238" y="25908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4" name="Picture 77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7713" y="23622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5" name="Picture 78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7713" y="21399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6" name="Picture 79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7713" y="19050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07" name="Picture 80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9138" y="167322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33" name="Picture 81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8788" y="55689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34" name="Picture 82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8788" y="53467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35" name="Picture 8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8788" y="51117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36" name="Picture 8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0213" y="48799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37" name="Picture 8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8788" y="46545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38" name="Picture 86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8788" y="44259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39" name="Picture 87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9263" y="41973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0" name="Picture 88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1163" y="39655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1" name="Picture 89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1163" y="374332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2" name="Picture 90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1163" y="35083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3" name="Picture 91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2588" y="327660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4" name="Picture 92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1163" y="30511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5" name="Picture 93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1163" y="28225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6" name="Picture 94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1638" y="25939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47" name="Picture 95" descr="red_bri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2113" y="2365375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8452" name="Rectangle 100"/>
          <p:cNvSpPr>
            <a:spLocks noChangeArrowheads="1"/>
          </p:cNvSpPr>
          <p:nvPr/>
        </p:nvSpPr>
        <p:spPr bwMode="auto">
          <a:xfrm>
            <a:off x="4948844" y="1567930"/>
            <a:ext cx="3048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lnSpc>
                <a:spcPct val="130000"/>
              </a:lnSpc>
              <a:spcBef>
                <a:spcPct val="40000"/>
              </a:spcBef>
            </a:pPr>
            <a:r>
              <a:rPr lang="en-US" sz="2000" i="1" dirty="0" smtClean="0">
                <a:solidFill>
                  <a:srgbClr val="333333"/>
                </a:solidFill>
                <a:latin typeface="Bookman Old Style" pitchFamily="18" charset="0"/>
              </a:rPr>
              <a:t>“a couple more stories were added… Some problems happened?.”</a:t>
            </a:r>
            <a:endParaRPr lang="en-US" sz="2000" i="1" dirty="0">
              <a:solidFill>
                <a:srgbClr val="333333"/>
              </a:solidFill>
              <a:latin typeface="Bookman Old Style" pitchFamily="18" charset="0"/>
            </a:endParaRPr>
          </a:p>
        </p:txBody>
      </p:sp>
      <p:pic>
        <p:nvPicPr>
          <p:cNvPr id="868453" name="Picture 101" descr="blue_bric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3063" y="2116138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8455" name="Picture 103" descr="blue_bric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3063" y="189865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6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6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6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6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6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6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6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6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86845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in reality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A69F-7FC4-4DFA-952B-AC6DB7135671}" type="datetime1">
              <a:rPr lang="en-US" smtClean="0"/>
              <a:pPr/>
              <a:t>3/5/2015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43FA7-F921-4B25-86AF-39EC31103421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80900" name="Picture 4" descr="http://xaviesteve.com/wp-content/uploads/2010/07/agile-scrum-gdocs-template-freelancers-600x37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524000"/>
            <a:ext cx="6553200" cy="409575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7086600" y="1905000"/>
            <a:ext cx="1600200" cy="4924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600" b="1" dirty="0" smtClean="0"/>
              <a:t>VISIBLE</a:t>
            </a:r>
            <a:endParaRPr lang="en-US" sz="2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838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5000" dirty="0" smtClean="0"/>
              <a:t>Thank you!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1B2DF3-FD5A-425A-97A4-9F2ADA98AFD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41148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dirty="0" smtClean="0"/>
              <a:t>Agile Team – VTICT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1588</TotalTime>
  <Words>1529</Words>
  <Application>Microsoft Office PowerPoint</Application>
  <PresentationFormat>On-screen Show (4:3)</PresentationFormat>
  <Paragraphs>255</Paragraphs>
  <Slides>21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Bitmap Image</vt:lpstr>
      <vt:lpstr>THAY ĐỔI PHƯƠNG PHÁP PHÁT TRIỂN PHẦN MỀM BẰNG PHƯƠNG PHÁP  AGILE - SCRUM</vt:lpstr>
      <vt:lpstr>History of Software Development Methodologies</vt:lpstr>
      <vt:lpstr>TIME TO </vt:lpstr>
      <vt:lpstr>Companies using Agile</vt:lpstr>
      <vt:lpstr>Agile Misconceptions?</vt:lpstr>
      <vt:lpstr>PowerPoint Presentation</vt:lpstr>
      <vt:lpstr>PowerPoint Presentation</vt:lpstr>
      <vt:lpstr>Agile Methods – Putting the Manifesto to work</vt:lpstr>
      <vt:lpstr>Tuyên ngôn Phát triển phần mềm linh hoạt</vt:lpstr>
      <vt:lpstr>PowerPoint Presentation</vt:lpstr>
      <vt:lpstr>PowerPoint Presentation</vt:lpstr>
      <vt:lpstr>PowerPoint Presentation</vt:lpstr>
      <vt:lpstr>“Incrementing” builds a bit at a time </vt:lpstr>
      <vt:lpstr>User-driven means  “continuous customer involvement”  </vt:lpstr>
      <vt:lpstr>Low process means ….</vt:lpstr>
      <vt:lpstr>A look in an Agile team</vt:lpstr>
      <vt:lpstr>Burndown Chart (1)</vt:lpstr>
      <vt:lpstr>Burndown Chart (2)</vt:lpstr>
      <vt:lpstr>Burndown Chart (3)</vt:lpstr>
      <vt:lpstr>Agile in reality</vt:lpstr>
      <vt:lpstr>PowerPoint Presentation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MIRAIE1992</dc:creator>
  <cp:lastModifiedBy>vandtt3</cp:lastModifiedBy>
  <cp:revision>125</cp:revision>
  <dcterms:created xsi:type="dcterms:W3CDTF">2014-01-10T14:33:53Z</dcterms:created>
  <dcterms:modified xsi:type="dcterms:W3CDTF">2015-03-05T12:12:36Z</dcterms:modified>
</cp:coreProperties>
</file>