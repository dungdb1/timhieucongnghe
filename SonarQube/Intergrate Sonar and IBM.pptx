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66" r:id="rId3"/>
    <p:sldId id="276" r:id="rId4"/>
    <p:sldId id="278" r:id="rId5"/>
    <p:sldId id="277" r:id="rId6"/>
    <p:sldId id="272" r:id="rId7"/>
    <p:sldId id="274" r:id="rId8"/>
    <p:sldId id="279" r:id="rId9"/>
    <p:sldId id="273" r:id="rId10"/>
    <p:sldId id="269" r:id="rId11"/>
    <p:sldId id="281" r:id="rId12"/>
    <p:sldId id="280" r:id="rId13"/>
    <p:sldId id="270" r:id="rId14"/>
    <p:sldId id="282" r:id="rId15"/>
    <p:sldId id="271" r:id="rId16"/>
    <p:sldId id="260" r:id="rId17"/>
  </p:sldIdLst>
  <p:sldSz cx="12192000" cy="6858000"/>
  <p:notesSz cx="9928225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85" autoAdjust="0"/>
    <p:restoredTop sz="74327" autoAdjust="0"/>
  </p:normalViewPr>
  <p:slideViewPr>
    <p:cSldViewPr>
      <p:cViewPr varScale="1">
        <p:scale>
          <a:sx n="54" d="100"/>
          <a:sy n="54" d="100"/>
        </p:scale>
        <p:origin x="1026" y="4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4303130" cy="3401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49" y="1"/>
            <a:ext cx="4303130" cy="3401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6B140-141C-46C2-BCF6-B51514B1AFD9}" type="datetimeFigureOut">
              <a:rPr lang="en-US" smtClean="0"/>
              <a:t>9/28/2015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456399"/>
            <a:ext cx="4303130" cy="3401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49" y="6456399"/>
            <a:ext cx="4303130" cy="3401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745CB2-92A4-41AB-8F17-6D0979611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965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2231" cy="33988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3698" y="0"/>
            <a:ext cx="4302231" cy="33988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08D45B8-803F-4500-8BC7-8B290623E0AC}" type="datetimeFigureOut">
              <a:rPr lang="en-US" smtClean="0"/>
              <a:t>9/28/2015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509588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823" y="3228896"/>
            <a:ext cx="7942580" cy="3058954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302231" cy="33988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3698" y="6456612"/>
            <a:ext cx="4302231" cy="33988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476945F-5204-41C3-BE61-96C0E4F94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7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nu.org/licenses/lgpl.html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www.umd.edu/" TargetMode="External"/><Relationship Id="rId4" Type="http://schemas.openxmlformats.org/officeDocument/2006/relationships/hyperlink" Target="http://findbugs.sourceforge.net/buggy-sm.png" TargetMode="Externa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10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67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61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34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Findbugs</a:t>
            </a:r>
            <a:r>
              <a:rPr lang="en-US" dirty="0" smtClean="0"/>
              <a:t>:</a:t>
            </a:r>
            <a:r>
              <a:rPr lang="en-US" baseline="0" dirty="0" smtClean="0"/>
              <a:t>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program which uses static analysis to look for bugs in Java code.  It is free software, distributed under the terms of the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Lesser GNU Public License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name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FindBugs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™ and the 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FindBugs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 logo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are trademarked by 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The University of Maryland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FindBugs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been downloaded more than a million times.</a:t>
            </a:r>
          </a:p>
          <a:p>
            <a:endParaRPr lang="en-US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1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667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000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76945F-5204-41C3-BE61-96C0E4F9496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75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4953000"/>
            <a:ext cx="12192000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Tahoma" pitchFamily="34" charset="0"/>
              </a:rPr>
              <a:t>TRUNG TÂM CÔNG NGHỆ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itchFamily="34" charset="0"/>
                <a:ea typeface="+mn-ea"/>
                <a:cs typeface="Tahoma" pitchFamily="34" charset="0"/>
              </a:rPr>
              <a:t>TRUNG TÂM GIẢI PHÁP CÔNG NGHỆ THÔNG TIN VÀ VIỄN THÔNG VIETTEL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Tahoma" pitchFamily="34" charset="0"/>
            </a:endParaRPr>
          </a:p>
        </p:txBody>
      </p:sp>
      <p:sp>
        <p:nvSpPr>
          <p:cNvPr id="14" name="Rectangle 13"/>
          <p:cNvSpPr/>
          <p:nvPr userDrawn="1"/>
        </p:nvSpPr>
        <p:spPr>
          <a:xfrm>
            <a:off x="1" y="1447800"/>
            <a:ext cx="12192001" cy="2667000"/>
          </a:xfrm>
          <a:prstGeom prst="rect">
            <a:avLst/>
          </a:prstGeom>
          <a:solidFill>
            <a:srgbClr val="0C32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b="1" i="1" kern="1200" dirty="0" smtClean="0">
                <a:solidFill>
                  <a:schemeClr val="lt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XÂY DỰNG HỆ THỐNG BUILD VÀ GIÁM SÁT CHẤT L</a:t>
            </a:r>
            <a:r>
              <a:rPr lang="vi-VN" sz="3000" b="1" i="1" kern="1200" dirty="0" smtClean="0">
                <a:solidFill>
                  <a:schemeClr val="lt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ƯỢNG</a:t>
            </a:r>
            <a:endParaRPr lang="en-US" sz="3000" b="1" i="1" kern="1200" dirty="0" smtClean="0">
              <a:solidFill>
                <a:schemeClr val="lt1"/>
              </a:solidFill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sz="3000" b="1" i="1" kern="1200" dirty="0" smtClean="0">
                <a:solidFill>
                  <a:schemeClr val="lt1"/>
                </a:solidFill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MÃ NGUỒN CÁC DỰ ÁN VTICT</a:t>
            </a:r>
            <a:endParaRPr lang="en-US" sz="3000" dirty="0" smtClean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69"/>
            <a:ext cx="2794101" cy="1003095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066800" y="76200"/>
            <a:ext cx="11038459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itchFamily="34" charset="0"/>
              <a:ea typeface="+mn-ea"/>
              <a:cs typeface="Tahoma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0" y="0"/>
            <a:ext cx="2419260" cy="14055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FF09200-454C-48D6-B0A9-744133986D4D}" type="datetime1">
              <a:rPr lang="en-US" smtClean="0"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82400" y="6524626"/>
            <a:ext cx="609600" cy="333375"/>
          </a:xfrm>
          <a:prstGeom prst="rect">
            <a:avLst/>
          </a:prstGeom>
        </p:spPr>
        <p:txBody>
          <a:bodyPr/>
          <a:lstStyle/>
          <a:p>
            <a:fld id="{92BEBB8C-77F5-40D9-8B48-B78E5C420A3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E8893DD-4024-462A-8C42-B6F0234A5FA9}" type="datetime1">
              <a:rPr lang="en-US" smtClean="0"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6BFC4CB-F08D-40C9-AFCD-E5757ABE85DB}" type="datetime1">
              <a:rPr lang="en-US" smtClean="0"/>
              <a:t>9/28/2015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2A37542-4BE3-4BE8-81F5-DDA603894195}" type="datetime1">
              <a:rPr lang="en-US" smtClean="0"/>
              <a:t>9/28/2015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F6539821-05E1-430C-BF33-80B9CD838753}" type="datetime1">
              <a:rPr lang="en-US" smtClean="0"/>
              <a:t>9/28/2015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EFAF71A7-D37E-49DE-BE96-52FE3B5F1BD7}" type="datetime1">
              <a:rPr lang="en-US" smtClean="0"/>
              <a:t>9/28/2015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D1954F5A-44FB-4798-9D0E-AB3A83C8557F}" type="datetime1">
              <a:rPr lang="en-US" smtClean="0"/>
              <a:t>9/28/2015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8873B72F-F2AE-46B1-A473-32DC628023D2}" type="datetime1">
              <a:rPr lang="en-US" smtClean="0"/>
              <a:t>9/28/2015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3DE40618-159A-497E-99AA-CC1F3BF3C204}" type="datetime1">
              <a:rPr lang="en-US" smtClean="0"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90FFCA73-B7D8-4097-8453-ABE0C7FDC707}" type="datetime1">
              <a:rPr lang="en-US" smtClean="0"/>
              <a:t>9/28/2015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2699" y="6381750"/>
            <a:ext cx="12223751" cy="215900"/>
          </a:xfrm>
          <a:prstGeom prst="rect">
            <a:avLst/>
          </a:prstGeom>
          <a:gradFill>
            <a:gsLst>
              <a:gs pos="0">
                <a:srgbClr val="0C3259">
                  <a:lumMod val="100000"/>
                </a:srgbClr>
              </a:gs>
              <a:gs pos="50000">
                <a:srgbClr val="2A4A70"/>
              </a:gs>
              <a:gs pos="100000">
                <a:srgbClr val="0C3259">
                  <a:lumMod val="90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500" b="1" dirty="0">
              <a:solidFill>
                <a:srgbClr val="FFFFFF"/>
              </a:solidFill>
              <a:latin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md.edu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jetbrains.com/resharper/features/code_formatting.html" TargetMode="External"/><Relationship Id="rId4" Type="http://schemas.openxmlformats.org/officeDocument/2006/relationships/hyperlink" Target="https://pmd.github.io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2209800" y="342900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endParaRPr lang="en-US" sz="4400" dirty="0">
              <a:latin typeface="Tahoma" pitchFamily="34" charset="0"/>
              <a:ea typeface="+mj-ea"/>
              <a:cs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2057400" y="13741"/>
            <a:ext cx="1531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2800" b="1" dirty="0" err="1">
                <a:ea typeface="Tahoma" pitchFamily="34" charset="0"/>
                <a:cs typeface="Tahoma" pitchFamily="34" charset="0"/>
              </a:rPr>
              <a:t>Nội</a:t>
            </a:r>
            <a:r>
              <a:rPr lang="en-US" sz="2800" b="1" dirty="0">
                <a:ea typeface="Tahoma" pitchFamily="34" charset="0"/>
                <a:cs typeface="Tahoma" pitchFamily="34" charset="0"/>
              </a:rPr>
              <a:t> dung</a:t>
            </a:r>
            <a:endParaRPr lang="vi-VN" sz="2800" b="1" dirty="0">
              <a:latin typeface="+mj-lt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757363" y="1305966"/>
            <a:ext cx="8605838" cy="11114"/>
          </a:xfrm>
          <a:prstGeom prst="line">
            <a:avLst/>
          </a:prstGeom>
          <a:noFill/>
          <a:ln w="25400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514476" y="1199604"/>
            <a:ext cx="182563" cy="182562"/>
            <a:chOff x="1239" y="1515"/>
            <a:chExt cx="115" cy="115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gray">
            <a:xfrm rot="2700000">
              <a:off x="1239" y="1515"/>
              <a:ext cx="115" cy="115"/>
            </a:xfrm>
            <a:prstGeom prst="rtTriangl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5"/>
            <p:cNvSpPr>
              <a:spLocks noChangeArrowheads="1"/>
            </p:cNvSpPr>
            <p:nvPr/>
          </p:nvSpPr>
          <p:spPr bwMode="gray">
            <a:xfrm rot="18900000" flipH="1">
              <a:off x="1239" y="1515"/>
              <a:ext cx="115" cy="115"/>
            </a:xfrm>
            <a:prstGeom prst="rtTriangle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971676" y="851942"/>
            <a:ext cx="6523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sz="2400" b="1" dirty="0">
                <a:solidFill>
                  <a:srgbClr val="C00000"/>
                </a:solidFill>
              </a:rPr>
              <a:t>1. </a:t>
            </a:r>
            <a:r>
              <a:rPr lang="en-US" sz="2400" b="1" dirty="0" err="1" smtClean="0">
                <a:solidFill>
                  <a:srgbClr val="C00000"/>
                </a:solidFill>
              </a:rPr>
              <a:t>Tích</a:t>
            </a:r>
            <a:r>
              <a:rPr lang="en-US" sz="2400" b="1" dirty="0" smtClean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hợp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liên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tục</a:t>
            </a:r>
            <a:r>
              <a:rPr lang="en-US" sz="2400" b="1" dirty="0">
                <a:solidFill>
                  <a:srgbClr val="C00000"/>
                </a:solidFill>
              </a:rPr>
              <a:t> (CI) </a:t>
            </a:r>
            <a:r>
              <a:rPr lang="en-US" sz="2400" b="1" dirty="0" err="1" smtClean="0">
                <a:solidFill>
                  <a:srgbClr val="C00000"/>
                </a:solidFill>
              </a:rPr>
              <a:t>và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thực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trạng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công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err="1" smtClean="0">
                <a:solidFill>
                  <a:srgbClr val="C00000"/>
                </a:solidFill>
              </a:rPr>
              <a:t>cụ</a:t>
            </a:r>
            <a:r>
              <a:rPr lang="en-US" sz="2400" b="1" dirty="0" smtClean="0">
                <a:solidFill>
                  <a:srgbClr val="C00000"/>
                </a:solidFill>
              </a:rPr>
              <a:t> IBM</a:t>
            </a:r>
            <a:endParaRPr lang="en-US" sz="2400" b="1" dirty="0">
              <a:solidFill>
                <a:srgbClr val="C00000"/>
              </a:solidFill>
            </a:endParaRPr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1514476" y="1766342"/>
            <a:ext cx="9437689" cy="530225"/>
            <a:chOff x="1239" y="1296"/>
            <a:chExt cx="5945" cy="334"/>
          </a:xfrm>
        </p:grpSpPr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1392" y="1569"/>
              <a:ext cx="5421" cy="13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9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14" name="AutoShape 10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AutoShape 11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527" y="1296"/>
              <a:ext cx="56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/>
                <a:t>2. </a:t>
              </a:r>
              <a:r>
                <a:rPr lang="en-US" sz="2400" dirty="0" err="1"/>
                <a:t>Tích</a:t>
              </a:r>
              <a:r>
                <a:rPr lang="en-US" sz="2400" dirty="0"/>
                <a:t> </a:t>
              </a:r>
              <a:r>
                <a:rPr lang="en-US" sz="2400" dirty="0" err="1"/>
                <a:t>hợp</a:t>
              </a:r>
              <a:r>
                <a:rPr lang="en-US" sz="2400" dirty="0"/>
                <a:t> </a:t>
              </a:r>
              <a:r>
                <a:rPr lang="en-US" sz="2400" dirty="0" err="1"/>
                <a:t>SonarQube</a:t>
              </a:r>
              <a:r>
                <a:rPr lang="en-US" sz="2400" dirty="0"/>
                <a:t>, auto build IBM - </a:t>
              </a:r>
              <a:r>
                <a:rPr lang="en-US" sz="2400" dirty="0" err="1"/>
                <a:t>Quét</a:t>
              </a:r>
              <a:r>
                <a:rPr lang="en-US" sz="2400" dirty="0"/>
                <a:t> source code </a:t>
              </a:r>
              <a:r>
                <a:rPr lang="en-US" sz="2400" dirty="0" err="1"/>
                <a:t>hằng</a:t>
              </a:r>
              <a:r>
                <a:rPr lang="en-US" sz="2400" dirty="0"/>
                <a:t> </a:t>
              </a:r>
              <a:r>
                <a:rPr lang="en-US" sz="2400" dirty="0" err="1"/>
                <a:t>ngày</a:t>
              </a:r>
              <a:endParaRPr lang="en-US" sz="2400" dirty="0"/>
            </a:p>
          </p:txBody>
        </p:sp>
      </p:grp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1514476" y="2683917"/>
            <a:ext cx="8848728" cy="530225"/>
            <a:chOff x="1239" y="1296"/>
            <a:chExt cx="5574" cy="334"/>
          </a:xfrm>
        </p:grpSpPr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V="1">
              <a:off x="1392" y="1572"/>
              <a:ext cx="5421" cy="1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" name="Group 15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0" name="AutoShape 16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AutoShape 17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1527" y="1296"/>
              <a:ext cx="242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>
                  <a:solidFill>
                    <a:srgbClr val="000000"/>
                  </a:solidFill>
                </a:rPr>
                <a:t>3. </a:t>
              </a:r>
              <a:r>
                <a:rPr lang="en-US" sz="2400" dirty="0" err="1" smtClean="0"/>
                <a:t>Các</a:t>
              </a:r>
              <a:r>
                <a:rPr lang="en-US" sz="2400" dirty="0"/>
                <a:t> </a:t>
              </a:r>
              <a:r>
                <a:rPr lang="en-US" sz="2400" dirty="0" err="1" smtClean="0"/>
                <a:t>khó</a:t>
              </a:r>
              <a:r>
                <a:rPr lang="en-US" sz="2400" dirty="0"/>
                <a:t> </a:t>
              </a:r>
              <a:r>
                <a:rPr lang="en-US" sz="2400" dirty="0" err="1" smtClean="0"/>
                <a:t>khăn</a:t>
              </a:r>
              <a:r>
                <a:rPr lang="en-US" sz="2400" dirty="0" smtClean="0"/>
                <a:t> </a:t>
              </a:r>
              <a:r>
                <a:rPr lang="en-US" sz="2400" dirty="0" err="1" smtClean="0"/>
                <a:t>khi</a:t>
              </a:r>
              <a:r>
                <a:rPr lang="en-US" sz="2400" dirty="0"/>
                <a:t> </a:t>
              </a:r>
              <a:r>
                <a:rPr lang="en-US" sz="2400" dirty="0" err="1" smtClean="0"/>
                <a:t>thực</a:t>
              </a:r>
              <a:r>
                <a:rPr lang="en-US" sz="2400" dirty="0"/>
                <a:t> </a:t>
              </a:r>
              <a:r>
                <a:rPr lang="en-US" sz="2400" dirty="0" err="1"/>
                <a:t>hiện</a:t>
              </a:r>
              <a:endParaRPr lang="en-US" sz="2400" dirty="0"/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1514475" y="3595142"/>
            <a:ext cx="8848726" cy="530225"/>
            <a:chOff x="1239" y="1296"/>
            <a:chExt cx="5574" cy="334"/>
          </a:xfrm>
        </p:grpSpPr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V="1">
              <a:off x="1392" y="1581"/>
              <a:ext cx="5421" cy="1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" name="Group 21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6" name="AutoShape 22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AutoShape 23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527" y="1296"/>
              <a:ext cx="26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>
                  <a:solidFill>
                    <a:srgbClr val="000000"/>
                  </a:solidFill>
                </a:rPr>
                <a:t>4.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Yêu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cầu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đảm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bảo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và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cách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</a:rPr>
                <a:t>làm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554918" y="6542114"/>
            <a:ext cx="609600" cy="333375"/>
          </a:xfrm>
        </p:spPr>
        <p:txBody>
          <a:bodyPr/>
          <a:lstStyle/>
          <a:p>
            <a:fld id="{92BEBB8C-77F5-40D9-8B48-B78E5C420A3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325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744540"/>
          </a:xfrm>
        </p:spPr>
        <p:txBody>
          <a:bodyPr/>
          <a:lstStyle/>
          <a:p>
            <a:r>
              <a:rPr lang="en-US" dirty="0" err="1" smtClean="0"/>
              <a:t>Tích</a:t>
            </a:r>
            <a:r>
              <a:rPr lang="en-US" dirty="0"/>
              <a:t> </a:t>
            </a:r>
            <a:r>
              <a:rPr lang="en-US" dirty="0" err="1" smtClean="0"/>
              <a:t>hợp</a:t>
            </a:r>
            <a:r>
              <a:rPr lang="en-US" dirty="0"/>
              <a:t> </a:t>
            </a:r>
            <a:r>
              <a:rPr lang="en-US" dirty="0" err="1" smtClean="0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44540"/>
            <a:ext cx="5486400" cy="5597520"/>
          </a:xfrm>
        </p:spPr>
        <p:txBody>
          <a:bodyPr/>
          <a:lstStyle/>
          <a:p>
            <a:r>
              <a:rPr lang="en-US" sz="2400" i="1" dirty="0" err="1"/>
              <a:t>Tích</a:t>
            </a:r>
            <a:r>
              <a:rPr lang="en-US" sz="2400" i="1" dirty="0"/>
              <a:t> </a:t>
            </a:r>
            <a:r>
              <a:rPr lang="en-US" sz="2400" i="1" dirty="0" err="1"/>
              <a:t>hợp</a:t>
            </a:r>
            <a:r>
              <a:rPr lang="en-US" sz="2400" i="1" dirty="0"/>
              <a:t> </a:t>
            </a:r>
            <a:r>
              <a:rPr lang="en-US" sz="2400" i="1" dirty="0" err="1"/>
              <a:t>liên</a:t>
            </a:r>
            <a:r>
              <a:rPr lang="en-US" sz="2400" i="1" dirty="0"/>
              <a:t> </a:t>
            </a:r>
            <a:r>
              <a:rPr lang="en-US" sz="2400" i="1" dirty="0" err="1"/>
              <a:t>tục</a:t>
            </a:r>
            <a:r>
              <a:rPr lang="en-US" sz="2400" i="1" dirty="0"/>
              <a:t> </a:t>
            </a:r>
            <a:r>
              <a:rPr lang="en-US" sz="2400" i="1" dirty="0" err="1"/>
              <a:t>là</a:t>
            </a:r>
            <a:r>
              <a:rPr lang="en-US" sz="2400" i="1" dirty="0"/>
              <a:t> </a:t>
            </a:r>
            <a:r>
              <a:rPr lang="en-US" sz="2400" i="1" dirty="0" err="1"/>
              <a:t>một</a:t>
            </a:r>
            <a:r>
              <a:rPr lang="en-US" sz="2400" i="1" dirty="0"/>
              <a:t> </a:t>
            </a:r>
            <a:r>
              <a:rPr lang="en-US" sz="2400" i="1" dirty="0" err="1"/>
              <a:t>hoạt</a:t>
            </a:r>
            <a:r>
              <a:rPr lang="en-US" sz="2400" i="1" dirty="0"/>
              <a:t> </a:t>
            </a:r>
            <a:r>
              <a:rPr lang="en-US" sz="2400" i="1" dirty="0" err="1"/>
              <a:t>động</a:t>
            </a:r>
            <a:r>
              <a:rPr lang="en-US" sz="2400" i="1" dirty="0"/>
              <a:t> </a:t>
            </a:r>
            <a:r>
              <a:rPr lang="en-US" sz="2400" i="1" dirty="0" err="1"/>
              <a:t>phát</a:t>
            </a:r>
            <a:r>
              <a:rPr lang="en-US" sz="2400" i="1" dirty="0"/>
              <a:t> </a:t>
            </a:r>
            <a:r>
              <a:rPr lang="en-US" sz="2400" i="1" dirty="0" err="1"/>
              <a:t>triển</a:t>
            </a:r>
            <a:r>
              <a:rPr lang="en-US" sz="2400" i="1" dirty="0"/>
              <a:t> </a:t>
            </a:r>
            <a:r>
              <a:rPr lang="en-US" sz="2400" i="1" dirty="0" err="1"/>
              <a:t>phần</a:t>
            </a:r>
            <a:r>
              <a:rPr lang="en-US" sz="2400" i="1" dirty="0"/>
              <a:t> </a:t>
            </a:r>
            <a:r>
              <a:rPr lang="en-US" sz="2400" i="1" dirty="0" err="1"/>
              <a:t>mềm</a:t>
            </a:r>
            <a:r>
              <a:rPr lang="en-US" sz="2400" i="1" dirty="0"/>
              <a:t> </a:t>
            </a:r>
            <a:r>
              <a:rPr lang="en-US" sz="2400" i="1" dirty="0" err="1"/>
              <a:t>mà</a:t>
            </a:r>
            <a:r>
              <a:rPr lang="en-US" sz="2400" i="1" dirty="0"/>
              <a:t> ở </a:t>
            </a:r>
            <a:r>
              <a:rPr lang="en-US" sz="2400" i="1" dirty="0" err="1"/>
              <a:t>đó</a:t>
            </a:r>
            <a:r>
              <a:rPr lang="en-US" sz="2400" i="1" dirty="0"/>
              <a:t> </a:t>
            </a:r>
            <a:r>
              <a:rPr lang="en-US" sz="2400" i="1" dirty="0" err="1"/>
              <a:t>các</a:t>
            </a:r>
            <a:r>
              <a:rPr lang="en-US" sz="2400" i="1" dirty="0"/>
              <a:t> </a:t>
            </a:r>
            <a:r>
              <a:rPr lang="en-US" sz="2400" i="1" dirty="0" err="1"/>
              <a:t>thành</a:t>
            </a:r>
            <a:r>
              <a:rPr lang="en-US" sz="2400" i="1" dirty="0"/>
              <a:t> </a:t>
            </a:r>
            <a:r>
              <a:rPr lang="en-US" sz="2400" i="1" dirty="0" err="1"/>
              <a:t>viên</a:t>
            </a:r>
            <a:r>
              <a:rPr lang="en-US" sz="2400" i="1" dirty="0"/>
              <a:t> </a:t>
            </a:r>
            <a:r>
              <a:rPr lang="en-US" sz="2400" i="1" dirty="0" err="1"/>
              <a:t>của</a:t>
            </a:r>
            <a:r>
              <a:rPr lang="en-US" sz="2400" i="1" dirty="0"/>
              <a:t> </a:t>
            </a:r>
            <a:r>
              <a:rPr lang="en-US" sz="2400" i="1" dirty="0" err="1"/>
              <a:t>một</a:t>
            </a:r>
            <a:r>
              <a:rPr lang="en-US" sz="2400" i="1" dirty="0"/>
              <a:t> </a:t>
            </a:r>
            <a:r>
              <a:rPr lang="en-US" sz="2400" i="1" dirty="0" err="1"/>
              <a:t>nhóm</a:t>
            </a:r>
            <a:r>
              <a:rPr lang="en-US" sz="2400" i="1" dirty="0"/>
              <a:t> </a:t>
            </a:r>
            <a:r>
              <a:rPr lang="en-US" sz="2400" i="1" dirty="0" err="1"/>
              <a:t>tích</a:t>
            </a:r>
            <a:r>
              <a:rPr lang="en-US" sz="2400" i="1" dirty="0"/>
              <a:t> </a:t>
            </a:r>
            <a:r>
              <a:rPr lang="en-US" sz="2400" i="1" dirty="0" err="1"/>
              <a:t>hợp</a:t>
            </a:r>
            <a:r>
              <a:rPr lang="en-US" sz="2400" i="1" dirty="0"/>
              <a:t> </a:t>
            </a:r>
            <a:r>
              <a:rPr lang="en-US" sz="2400" i="1" dirty="0" err="1"/>
              <a:t>công</a:t>
            </a:r>
            <a:r>
              <a:rPr lang="en-US" sz="2400" i="1" dirty="0"/>
              <a:t> </a:t>
            </a:r>
            <a:r>
              <a:rPr lang="en-US" sz="2400" i="1" dirty="0" err="1"/>
              <a:t>việc</a:t>
            </a:r>
            <a:r>
              <a:rPr lang="en-US" sz="2400" i="1" dirty="0"/>
              <a:t> </a:t>
            </a:r>
            <a:r>
              <a:rPr lang="en-US" sz="2400" i="1" dirty="0" err="1"/>
              <a:t>của</a:t>
            </a:r>
            <a:r>
              <a:rPr lang="en-US" sz="2400" i="1" dirty="0"/>
              <a:t> </a:t>
            </a:r>
            <a:r>
              <a:rPr lang="en-US" sz="2400" i="1" dirty="0" err="1"/>
              <a:t>họ</a:t>
            </a:r>
            <a:r>
              <a:rPr lang="en-US" sz="2400" i="1" dirty="0"/>
              <a:t> </a:t>
            </a:r>
            <a:r>
              <a:rPr lang="en-US" sz="2400" i="1" dirty="0" err="1"/>
              <a:t>với</a:t>
            </a:r>
            <a:r>
              <a:rPr lang="en-US" sz="2400" i="1" dirty="0"/>
              <a:t> </a:t>
            </a:r>
            <a:r>
              <a:rPr lang="en-US" sz="2400" i="1" dirty="0" err="1"/>
              <a:t>nhau</a:t>
            </a:r>
            <a:r>
              <a:rPr lang="en-US" sz="2400" i="1" dirty="0"/>
              <a:t> </a:t>
            </a:r>
            <a:r>
              <a:rPr lang="en-US" sz="2400" i="1" dirty="0" err="1"/>
              <a:t>liên</a:t>
            </a:r>
            <a:r>
              <a:rPr lang="en-US" sz="2400" i="1" dirty="0"/>
              <a:t> </a:t>
            </a:r>
            <a:r>
              <a:rPr lang="en-US" sz="2400" i="1" dirty="0" err="1"/>
              <a:t>tục</a:t>
            </a:r>
            <a:r>
              <a:rPr lang="en-US" sz="2400" i="1" dirty="0"/>
              <a:t>, </a:t>
            </a:r>
            <a:r>
              <a:rPr lang="en-US" sz="2400" i="1" dirty="0" err="1"/>
              <a:t>thường</a:t>
            </a:r>
            <a:r>
              <a:rPr lang="en-US" sz="2400" i="1" dirty="0"/>
              <a:t> </a:t>
            </a:r>
            <a:r>
              <a:rPr lang="en-US" sz="2400" i="1" dirty="0" err="1"/>
              <a:t>thì</a:t>
            </a:r>
            <a:r>
              <a:rPr lang="en-US" sz="2400" i="1" dirty="0"/>
              <a:t> </a:t>
            </a:r>
            <a:r>
              <a:rPr lang="en-US" sz="2400" i="1" dirty="0" err="1"/>
              <a:t>các</a:t>
            </a:r>
            <a:r>
              <a:rPr lang="en-US" sz="2400" i="1" dirty="0"/>
              <a:t> </a:t>
            </a:r>
            <a:r>
              <a:rPr lang="en-US" sz="2400" i="1" dirty="0" err="1"/>
              <a:t>thành</a:t>
            </a:r>
            <a:r>
              <a:rPr lang="en-US" sz="2400" i="1" dirty="0"/>
              <a:t> </a:t>
            </a:r>
            <a:r>
              <a:rPr lang="en-US" sz="2400" i="1" dirty="0" err="1"/>
              <a:t>viên</a:t>
            </a:r>
            <a:r>
              <a:rPr lang="en-US" sz="2400" i="1" dirty="0"/>
              <a:t> </a:t>
            </a:r>
            <a:r>
              <a:rPr lang="en-US" sz="2400" i="1" dirty="0" err="1"/>
              <a:t>tích</a:t>
            </a:r>
            <a:r>
              <a:rPr lang="en-US" sz="2400" i="1" dirty="0"/>
              <a:t> </a:t>
            </a:r>
            <a:r>
              <a:rPr lang="en-US" sz="2400" i="1" dirty="0" err="1"/>
              <a:t>hợp</a:t>
            </a:r>
            <a:r>
              <a:rPr lang="en-US" sz="2400" i="1" dirty="0"/>
              <a:t> </a:t>
            </a:r>
            <a:r>
              <a:rPr lang="en-US" sz="2400" i="1" dirty="0" err="1"/>
              <a:t>công</a:t>
            </a:r>
            <a:r>
              <a:rPr lang="en-US" sz="2400" i="1" dirty="0"/>
              <a:t> </a:t>
            </a:r>
            <a:r>
              <a:rPr lang="en-US" sz="2400" i="1" dirty="0" err="1"/>
              <a:t>việc</a:t>
            </a:r>
            <a:r>
              <a:rPr lang="en-US" sz="2400" i="1" dirty="0"/>
              <a:t> </a:t>
            </a:r>
            <a:r>
              <a:rPr lang="en-US" sz="2400" i="1" dirty="0" err="1"/>
              <a:t>theo</a:t>
            </a:r>
            <a:r>
              <a:rPr lang="en-US" sz="2400" i="1" dirty="0"/>
              <a:t> </a:t>
            </a:r>
            <a:r>
              <a:rPr lang="en-US" sz="2400" i="1" dirty="0" err="1"/>
              <a:t>từng</a:t>
            </a:r>
            <a:r>
              <a:rPr lang="en-US" sz="2400" i="1" dirty="0"/>
              <a:t> </a:t>
            </a:r>
            <a:r>
              <a:rPr lang="en-US" sz="2400" i="1" dirty="0" err="1"/>
              <a:t>ngày</a:t>
            </a:r>
            <a:r>
              <a:rPr lang="en-US" sz="2400" i="1" dirty="0"/>
              <a:t>, </a:t>
            </a:r>
            <a:r>
              <a:rPr lang="en-US" sz="2400" i="1" dirty="0" err="1"/>
              <a:t>dẫn</a:t>
            </a:r>
            <a:r>
              <a:rPr lang="en-US" sz="2400" i="1" dirty="0"/>
              <a:t> </a:t>
            </a:r>
            <a:r>
              <a:rPr lang="en-US" sz="2400" i="1" dirty="0" err="1"/>
              <a:t>đến</a:t>
            </a:r>
            <a:r>
              <a:rPr lang="en-US" sz="2400" i="1" dirty="0"/>
              <a:t> </a:t>
            </a:r>
            <a:r>
              <a:rPr lang="en-US" sz="2400" i="1" dirty="0" err="1"/>
              <a:t>có</a:t>
            </a:r>
            <a:r>
              <a:rPr lang="en-US" sz="2400" i="1" dirty="0"/>
              <a:t> </a:t>
            </a:r>
            <a:r>
              <a:rPr lang="en-US" sz="2400" i="1" dirty="0" err="1"/>
              <a:t>nhiều</a:t>
            </a:r>
            <a:r>
              <a:rPr lang="en-US" sz="2400" i="1" dirty="0"/>
              <a:t> </a:t>
            </a:r>
            <a:r>
              <a:rPr lang="en-US" sz="2400" i="1" dirty="0" err="1"/>
              <a:t>sự</a:t>
            </a:r>
            <a:r>
              <a:rPr lang="en-US" sz="2400" i="1" dirty="0"/>
              <a:t> </a:t>
            </a:r>
            <a:r>
              <a:rPr lang="en-US" sz="2400" i="1" dirty="0" err="1"/>
              <a:t>tích</a:t>
            </a:r>
            <a:r>
              <a:rPr lang="en-US" sz="2400" i="1" dirty="0"/>
              <a:t> </a:t>
            </a:r>
            <a:r>
              <a:rPr lang="en-US" sz="2400" i="1" dirty="0" err="1"/>
              <a:t>hợp</a:t>
            </a:r>
            <a:r>
              <a:rPr lang="en-US" sz="2400" i="1" dirty="0"/>
              <a:t> </a:t>
            </a:r>
            <a:r>
              <a:rPr lang="en-US" sz="2400" i="1" dirty="0" err="1"/>
              <a:t>trong</a:t>
            </a:r>
            <a:r>
              <a:rPr lang="en-US" sz="2400" i="1" dirty="0"/>
              <a:t> </a:t>
            </a:r>
            <a:r>
              <a:rPr lang="en-US" sz="2400" i="1" dirty="0" err="1"/>
              <a:t>ngày</a:t>
            </a:r>
            <a:r>
              <a:rPr lang="en-US" sz="2400" i="1" dirty="0"/>
              <a:t>. </a:t>
            </a:r>
            <a:r>
              <a:rPr lang="en-US" sz="2400" i="1" dirty="0" err="1"/>
              <a:t>Mỗi</a:t>
            </a:r>
            <a:r>
              <a:rPr lang="en-US" sz="2400" i="1" dirty="0"/>
              <a:t> </a:t>
            </a:r>
            <a:r>
              <a:rPr lang="en-US" sz="2400" i="1" dirty="0" err="1"/>
              <a:t>sự</a:t>
            </a:r>
            <a:r>
              <a:rPr lang="en-US" sz="2400" i="1" dirty="0"/>
              <a:t> </a:t>
            </a:r>
            <a:r>
              <a:rPr lang="en-US" sz="2400" i="1" dirty="0" err="1"/>
              <a:t>tích</a:t>
            </a:r>
            <a:r>
              <a:rPr lang="en-US" sz="2400" i="1" dirty="0"/>
              <a:t> </a:t>
            </a:r>
            <a:r>
              <a:rPr lang="en-US" sz="2400" i="1" dirty="0" err="1"/>
              <a:t>hợp</a:t>
            </a:r>
            <a:r>
              <a:rPr lang="en-US" sz="2400" i="1" dirty="0"/>
              <a:t> </a:t>
            </a:r>
            <a:r>
              <a:rPr lang="en-US" sz="2400" i="1" dirty="0" err="1"/>
              <a:t>như</a:t>
            </a:r>
            <a:r>
              <a:rPr lang="en-US" sz="2400" i="1" dirty="0"/>
              <a:t> </a:t>
            </a:r>
            <a:r>
              <a:rPr lang="en-US" sz="2400" i="1" dirty="0" err="1"/>
              <a:t>vậy</a:t>
            </a:r>
            <a:r>
              <a:rPr lang="en-US" sz="2400" i="1" dirty="0"/>
              <a:t> </a:t>
            </a:r>
            <a:r>
              <a:rPr lang="en-US" sz="2400" i="1" dirty="0" err="1"/>
              <a:t>sẽ</a:t>
            </a:r>
            <a:r>
              <a:rPr lang="en-US" sz="2400" i="1" dirty="0"/>
              <a:t> </a:t>
            </a:r>
            <a:r>
              <a:rPr lang="en-US" sz="2400" i="1" dirty="0" err="1"/>
              <a:t>được</a:t>
            </a:r>
            <a:r>
              <a:rPr lang="en-US" sz="2400" i="1" dirty="0"/>
              <a:t> </a:t>
            </a:r>
            <a:r>
              <a:rPr lang="en-US" sz="2400" i="1" dirty="0" err="1"/>
              <a:t>kiểm</a:t>
            </a:r>
            <a:r>
              <a:rPr lang="en-US" sz="2400" i="1" dirty="0"/>
              <a:t> </a:t>
            </a:r>
            <a:r>
              <a:rPr lang="en-US" sz="2400" i="1" dirty="0" err="1"/>
              <a:t>tra</a:t>
            </a:r>
            <a:r>
              <a:rPr lang="en-US" sz="2400" i="1" dirty="0"/>
              <a:t> </a:t>
            </a:r>
            <a:r>
              <a:rPr lang="en-US" sz="2400" i="1" dirty="0" err="1"/>
              <a:t>bởi</a:t>
            </a:r>
            <a:r>
              <a:rPr lang="en-US" sz="2400" i="1" dirty="0"/>
              <a:t> </a:t>
            </a:r>
            <a:r>
              <a:rPr lang="en-US" sz="2400" i="1" dirty="0" err="1"/>
              <a:t>một</a:t>
            </a:r>
            <a:r>
              <a:rPr lang="en-US" sz="2400" i="1" dirty="0"/>
              <a:t> </a:t>
            </a:r>
            <a:r>
              <a:rPr lang="en-US" sz="2400" i="1" dirty="0" err="1"/>
              <a:t>công</a:t>
            </a:r>
            <a:r>
              <a:rPr lang="en-US" sz="2400" i="1" dirty="0"/>
              <a:t> </a:t>
            </a:r>
            <a:r>
              <a:rPr lang="en-US" sz="2400" i="1" dirty="0" err="1"/>
              <a:t>cụ</a:t>
            </a:r>
            <a:r>
              <a:rPr lang="en-US" sz="2400" i="1" dirty="0"/>
              <a:t> </a:t>
            </a:r>
            <a:r>
              <a:rPr lang="en-US" sz="2400" i="1" dirty="0" err="1" smtClean="0"/>
              <a:t>tự</a:t>
            </a:r>
            <a:r>
              <a:rPr lang="en-US" sz="2400" i="1" dirty="0" smtClean="0"/>
              <a:t> </a:t>
            </a:r>
            <a:r>
              <a:rPr lang="en-US" sz="2400" i="1" dirty="0" err="1"/>
              <a:t>động</a:t>
            </a:r>
            <a:r>
              <a:rPr lang="en-US" sz="2400" i="1" dirty="0"/>
              <a:t> </a:t>
            </a:r>
            <a:r>
              <a:rPr lang="en-US" sz="2400" i="1" dirty="0" smtClean="0"/>
              <a:t>(build/test/Unit test/static analysis) </a:t>
            </a:r>
            <a:r>
              <a:rPr lang="en-US" sz="2400" i="1" dirty="0" err="1"/>
              <a:t>để</a:t>
            </a:r>
            <a:r>
              <a:rPr lang="en-US" sz="2400" i="1" dirty="0"/>
              <a:t> </a:t>
            </a:r>
            <a:r>
              <a:rPr lang="en-US" sz="2400" i="1" dirty="0" err="1"/>
              <a:t>phát</a:t>
            </a:r>
            <a:r>
              <a:rPr lang="en-US" sz="2400" i="1" dirty="0"/>
              <a:t> </a:t>
            </a:r>
            <a:r>
              <a:rPr lang="en-US" sz="2400" i="1" dirty="0" err="1"/>
              <a:t>hiện</a:t>
            </a:r>
            <a:r>
              <a:rPr lang="en-US" sz="2400" i="1" dirty="0"/>
              <a:t> </a:t>
            </a:r>
            <a:r>
              <a:rPr lang="en-US" sz="2400" i="1" dirty="0" err="1"/>
              <a:t>ra</a:t>
            </a:r>
            <a:r>
              <a:rPr lang="en-US" sz="2400" i="1" dirty="0"/>
              <a:t> </a:t>
            </a:r>
            <a:r>
              <a:rPr lang="en-US" sz="2400" i="1" dirty="0" err="1"/>
              <a:t>những</a:t>
            </a:r>
            <a:r>
              <a:rPr lang="en-US" sz="2400" i="1" dirty="0"/>
              <a:t> </a:t>
            </a:r>
            <a:r>
              <a:rPr lang="en-US" sz="2400" i="1" dirty="0" err="1"/>
              <a:t>lỗi</a:t>
            </a:r>
            <a:r>
              <a:rPr lang="en-US" sz="2400" i="1" dirty="0"/>
              <a:t> </a:t>
            </a:r>
            <a:r>
              <a:rPr lang="en-US" sz="2400" i="1" dirty="0" err="1"/>
              <a:t>tích</a:t>
            </a:r>
            <a:r>
              <a:rPr lang="en-US" sz="2400" i="1" dirty="0"/>
              <a:t> </a:t>
            </a:r>
            <a:r>
              <a:rPr lang="en-US" sz="2400" i="1" dirty="0" err="1"/>
              <a:t>hợp</a:t>
            </a:r>
            <a:r>
              <a:rPr lang="en-US" sz="2400" i="1" dirty="0"/>
              <a:t> </a:t>
            </a:r>
            <a:r>
              <a:rPr lang="en-US" sz="2400" i="1" dirty="0" err="1"/>
              <a:t>càng</a:t>
            </a:r>
            <a:r>
              <a:rPr lang="en-US" sz="2400" i="1" dirty="0"/>
              <a:t> </a:t>
            </a:r>
            <a:r>
              <a:rPr lang="en-US" sz="2400" i="1" dirty="0" err="1"/>
              <a:t>sớm</a:t>
            </a:r>
            <a:r>
              <a:rPr lang="en-US" sz="2400" i="1" dirty="0"/>
              <a:t> </a:t>
            </a:r>
            <a:r>
              <a:rPr lang="en-US" sz="2400" i="1" dirty="0" err="1"/>
              <a:t>càng</a:t>
            </a:r>
            <a:r>
              <a:rPr lang="en-US" sz="2400" i="1" dirty="0"/>
              <a:t> </a:t>
            </a:r>
            <a:r>
              <a:rPr lang="en-US" sz="2400" i="1" dirty="0" err="1"/>
              <a:t>tốt</a:t>
            </a:r>
            <a:r>
              <a:rPr lang="en-US" sz="2400" i="1" dirty="0"/>
              <a:t>. </a:t>
            </a:r>
            <a:endParaRPr lang="en-US" sz="2400" dirty="0"/>
          </a:p>
          <a:p>
            <a:endParaRPr lang="vi-V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 descr="CI_ch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26" y="685800"/>
            <a:ext cx="6262759" cy="565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8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/>
              <a:t>Practices of Continuous Integration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10972800" cy="4525963"/>
          </a:xfrm>
        </p:spPr>
        <p:txBody>
          <a:bodyPr/>
          <a:lstStyle/>
          <a:p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source </a:t>
            </a:r>
            <a:r>
              <a:rPr lang="en-US" dirty="0" smtClean="0"/>
              <a:t>code</a:t>
            </a:r>
          </a:p>
          <a:p>
            <a:pPr lvl="1"/>
            <a:r>
              <a:rPr lang="en-US" dirty="0" err="1" smtClean="0"/>
              <a:t>Hỗ</a:t>
            </a:r>
            <a:r>
              <a:rPr lang="en-US" dirty="0"/>
              <a:t> </a:t>
            </a:r>
            <a:r>
              <a:rPr lang="en-US" dirty="0" err="1" smtClean="0"/>
              <a:t>trợ</a:t>
            </a:r>
            <a:r>
              <a:rPr lang="en-US" dirty="0" smtClean="0"/>
              <a:t> </a:t>
            </a:r>
            <a:r>
              <a:rPr lang="en-US" dirty="0"/>
              <a:t>Unit </a:t>
            </a:r>
            <a:r>
              <a:rPr lang="en-US" dirty="0" smtClean="0"/>
              <a:t>test </a:t>
            </a:r>
            <a:r>
              <a:rPr lang="en-US" dirty="0" err="1" smtClean="0"/>
              <a:t>khi</a:t>
            </a:r>
            <a:r>
              <a:rPr lang="en-US" dirty="0" smtClean="0"/>
              <a:t> commit code</a:t>
            </a:r>
          </a:p>
          <a:p>
            <a:pPr lvl="1"/>
            <a:r>
              <a:rPr lang="en-US" dirty="0" err="1" smtClean="0"/>
              <a:t>Hỗ</a:t>
            </a:r>
            <a:r>
              <a:rPr lang="en-US" dirty="0"/>
              <a:t> </a:t>
            </a:r>
            <a:r>
              <a:rPr lang="en-US" dirty="0" err="1" smtClean="0"/>
              <a:t>trợ</a:t>
            </a:r>
            <a:r>
              <a:rPr lang="en-US" dirty="0"/>
              <a:t> </a:t>
            </a:r>
            <a:r>
              <a:rPr lang="en-US" dirty="0" err="1" smtClean="0"/>
              <a:t>phân</a:t>
            </a:r>
            <a:r>
              <a:rPr lang="en-US" dirty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/>
              <a:t>code </a:t>
            </a:r>
            <a:r>
              <a:rPr lang="en-US" dirty="0" err="1"/>
              <a:t>tĩnh</a:t>
            </a:r>
            <a:endParaRPr lang="en-US" dirty="0"/>
          </a:p>
          <a:p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build</a:t>
            </a:r>
          </a:p>
          <a:p>
            <a:r>
              <a:rPr lang="en-US" dirty="0" smtClean="0"/>
              <a:t>Commit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ngày</a:t>
            </a:r>
            <a:endParaRPr lang="en-US" dirty="0"/>
          </a:p>
          <a:p>
            <a:r>
              <a:rPr lang="en-US" dirty="0"/>
              <a:t>Build the mainline</a:t>
            </a:r>
          </a:p>
          <a:p>
            <a:r>
              <a:rPr lang="en-US" dirty="0"/>
              <a:t>Automation Test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039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 err="1" smtClean="0"/>
              <a:t>Thực</a:t>
            </a:r>
            <a:r>
              <a:rPr lang="en-US" dirty="0"/>
              <a:t> </a:t>
            </a:r>
            <a:r>
              <a:rPr lang="en-US" dirty="0" err="1" smtClean="0"/>
              <a:t>trạng</a:t>
            </a:r>
            <a:r>
              <a:rPr lang="en-US" dirty="0"/>
              <a:t> </a:t>
            </a:r>
            <a:r>
              <a:rPr lang="en-US" dirty="0" err="1" smtClean="0"/>
              <a:t>áp</a:t>
            </a:r>
            <a:r>
              <a:rPr lang="en-US" dirty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/>
              <a:t>CI </a:t>
            </a:r>
            <a:r>
              <a:rPr lang="en-US" dirty="0" smtClean="0"/>
              <a:t>ở VTICT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Automation build/</a:t>
            </a:r>
            <a:r>
              <a:rPr lang="en-US" sz="3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deloy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Automation 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test?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Unit </a:t>
            </a:r>
            <a:r>
              <a:rPr lang="en-US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test?</a:t>
            </a:r>
          </a:p>
          <a:p>
            <a:pPr>
              <a:lnSpc>
                <a:spcPct val="150000"/>
              </a:lnSpc>
            </a:pPr>
            <a:r>
              <a:rPr lang="vi-VN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Static </a:t>
            </a:r>
            <a:r>
              <a:rPr lang="vi-VN" sz="3000" dirty="0">
                <a:latin typeface="Arial" panose="020B0604020202020204" pitchFamily="34" charset="0"/>
                <a:cs typeface="Arial" panose="020B0604020202020204" pitchFamily="34" charset="0"/>
              </a:rPr>
              <a:t>code </a:t>
            </a:r>
            <a:r>
              <a:rPr lang="vi-VN" sz="3000" dirty="0" smtClean="0">
                <a:latin typeface="Arial" panose="020B0604020202020204" pitchFamily="34" charset="0"/>
                <a:cs typeface="Arial" panose="020B0604020202020204" pitchFamily="34" charset="0"/>
              </a:rPr>
              <a:t>analysis?</a:t>
            </a:r>
            <a:endParaRPr lang="vi-VN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50" name="Picture 2" descr="http://www.luyenthithukhoa.vn/images/tintuc/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520721"/>
            <a:ext cx="40767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28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1143000"/>
          </a:xfrm>
        </p:spPr>
        <p:txBody>
          <a:bodyPr/>
          <a:lstStyle/>
          <a:p>
            <a:r>
              <a:rPr lang="en-US" dirty="0" err="1" smtClean="0"/>
              <a:t>Luồng</a:t>
            </a:r>
            <a:r>
              <a:rPr lang="en-US" dirty="0"/>
              <a:t> </a:t>
            </a:r>
            <a:r>
              <a:rPr lang="en-US" dirty="0" err="1" smtClean="0"/>
              <a:t>tích</a:t>
            </a:r>
            <a:r>
              <a:rPr lang="en-US" dirty="0"/>
              <a:t> </a:t>
            </a:r>
            <a:r>
              <a:rPr lang="en-US" dirty="0" err="1" smtClean="0"/>
              <a:t>hợp</a:t>
            </a:r>
            <a:r>
              <a:rPr lang="en-US" dirty="0"/>
              <a:t> </a:t>
            </a:r>
            <a:r>
              <a:rPr lang="en-US" dirty="0" err="1" smtClean="0"/>
              <a:t>liên</a:t>
            </a:r>
            <a:r>
              <a:rPr lang="en-US" dirty="0"/>
              <a:t> </a:t>
            </a:r>
            <a:r>
              <a:rPr lang="en-US" dirty="0" err="1" smtClean="0"/>
              <a:t>tục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RTC IBM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580" y="914399"/>
            <a:ext cx="8618620" cy="545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45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1430000" cy="1143000"/>
          </a:xfrm>
        </p:spPr>
        <p:txBody>
          <a:bodyPr/>
          <a:lstStyle/>
          <a:p>
            <a:r>
              <a:rPr lang="vi-VN" dirty="0"/>
              <a:t>Một số quy tắc </a:t>
            </a:r>
            <a:r>
              <a:rPr lang="vi-VN" dirty="0" smtClean="0"/>
              <a:t>nâng </a:t>
            </a:r>
            <a:r>
              <a:rPr lang="vi-VN" dirty="0"/>
              <a:t>cao chất </a:t>
            </a:r>
            <a:r>
              <a:rPr lang="vi-VN" dirty="0" smtClean="0"/>
              <a:t>lượng source code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4525963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Plugin IBM t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ích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hợp với IDE (Eclipse,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Visual studio):</a:t>
            </a:r>
          </a:p>
          <a:p>
            <a:pPr lvl="1"/>
            <a:r>
              <a:rPr lang="vi-VN" dirty="0" smtClean="0"/>
              <a:t>Yêu </a:t>
            </a:r>
            <a:r>
              <a:rPr lang="vi-VN" dirty="0"/>
              <a:t>cầu comment và liên kết tới 1 đầu việc (</a:t>
            </a:r>
            <a:r>
              <a:rPr lang="vi-VN" dirty="0" smtClean="0"/>
              <a:t>work items)</a:t>
            </a:r>
          </a:p>
          <a:p>
            <a:pPr lvl="1"/>
            <a:r>
              <a:rPr lang="vi-VN" dirty="0"/>
              <a:t>Yêu cầu </a:t>
            </a:r>
            <a:r>
              <a:rPr lang="vi-VN" dirty="0" smtClean="0"/>
              <a:t>review (approval)</a:t>
            </a:r>
          </a:p>
          <a:p>
            <a:pPr lvl="1"/>
            <a:r>
              <a:rPr lang="vi-VN" dirty="0" smtClean="0"/>
              <a:t>Run </a:t>
            </a:r>
            <a:r>
              <a:rPr lang="vi-VN" dirty="0"/>
              <a:t>Unit </a:t>
            </a:r>
            <a:r>
              <a:rPr lang="vi-VN" dirty="0" smtClean="0"/>
              <a:t>test</a:t>
            </a:r>
          </a:p>
          <a:p>
            <a:pPr lvl="1"/>
            <a:r>
              <a:rPr lang="vi-VN" dirty="0"/>
              <a:t>Run Static </a:t>
            </a:r>
            <a:r>
              <a:rPr lang="vi-VN" dirty="0" smtClean="0"/>
              <a:t>Analysis 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53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2057400" y="13741"/>
            <a:ext cx="1531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2800" b="1" dirty="0" err="1">
                <a:ea typeface="Tahoma" pitchFamily="34" charset="0"/>
                <a:cs typeface="Tahoma" pitchFamily="34" charset="0"/>
              </a:rPr>
              <a:t>Nội</a:t>
            </a:r>
            <a:r>
              <a:rPr lang="en-US" sz="2800" b="1" dirty="0">
                <a:ea typeface="Tahoma" pitchFamily="34" charset="0"/>
                <a:cs typeface="Tahoma" pitchFamily="34" charset="0"/>
              </a:rPr>
              <a:t> dung</a:t>
            </a:r>
            <a:endParaRPr lang="vi-VN" sz="2800" b="1" dirty="0">
              <a:latin typeface="+mj-lt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757363" y="1305966"/>
            <a:ext cx="8605838" cy="11114"/>
          </a:xfrm>
          <a:prstGeom prst="line">
            <a:avLst/>
          </a:prstGeom>
          <a:noFill/>
          <a:ln w="25400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514476" y="1199604"/>
            <a:ext cx="182563" cy="182562"/>
            <a:chOff x="1239" y="1515"/>
            <a:chExt cx="115" cy="115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gray">
            <a:xfrm rot="2700000">
              <a:off x="1239" y="1515"/>
              <a:ext cx="115" cy="115"/>
            </a:xfrm>
            <a:prstGeom prst="rtTriangl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5"/>
            <p:cNvSpPr>
              <a:spLocks noChangeArrowheads="1"/>
            </p:cNvSpPr>
            <p:nvPr/>
          </p:nvSpPr>
          <p:spPr bwMode="gray">
            <a:xfrm rot="18900000" flipH="1">
              <a:off x="1239" y="1515"/>
              <a:ext cx="115" cy="115"/>
            </a:xfrm>
            <a:prstGeom prst="rtTriangle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971676" y="851942"/>
            <a:ext cx="6523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/>
              <a:t>1. </a:t>
            </a:r>
            <a:r>
              <a:rPr lang="en-US" sz="2400" dirty="0" err="1" smtClean="0"/>
              <a:t>Tích</a:t>
            </a:r>
            <a:r>
              <a:rPr lang="en-US" sz="2400" dirty="0" smtClean="0"/>
              <a:t> </a:t>
            </a:r>
            <a:r>
              <a:rPr lang="en-US" sz="2400" dirty="0" err="1" smtClean="0"/>
              <a:t>hợp</a:t>
            </a:r>
            <a:r>
              <a:rPr lang="en-US" sz="2400" dirty="0"/>
              <a:t> </a:t>
            </a:r>
            <a:r>
              <a:rPr lang="en-US" sz="2400" dirty="0" err="1" smtClean="0"/>
              <a:t>liên</a:t>
            </a:r>
            <a:r>
              <a:rPr lang="en-US" sz="2400" dirty="0"/>
              <a:t> </a:t>
            </a:r>
            <a:r>
              <a:rPr lang="en-US" sz="2400" dirty="0" err="1" smtClean="0"/>
              <a:t>tục</a:t>
            </a:r>
            <a:r>
              <a:rPr lang="en-US" sz="2400" dirty="0"/>
              <a:t> (CI) </a:t>
            </a:r>
            <a:r>
              <a:rPr lang="en-US" sz="2400" dirty="0" err="1" smtClean="0"/>
              <a:t>và</a:t>
            </a:r>
            <a:r>
              <a:rPr lang="en-US" sz="2400" dirty="0"/>
              <a:t> </a:t>
            </a:r>
            <a:r>
              <a:rPr lang="en-US" sz="2400" dirty="0" err="1" smtClean="0"/>
              <a:t>thực</a:t>
            </a:r>
            <a:r>
              <a:rPr lang="en-US" sz="2400" dirty="0"/>
              <a:t> </a:t>
            </a:r>
            <a:r>
              <a:rPr lang="en-US" sz="2400" dirty="0" err="1" smtClean="0"/>
              <a:t>trạng</a:t>
            </a:r>
            <a:r>
              <a:rPr lang="en-US" sz="2400" dirty="0"/>
              <a:t> </a:t>
            </a:r>
            <a:r>
              <a:rPr lang="en-US" sz="2400" dirty="0" err="1" smtClean="0"/>
              <a:t>công</a:t>
            </a:r>
            <a:r>
              <a:rPr lang="en-US" sz="2400" dirty="0"/>
              <a:t> </a:t>
            </a:r>
            <a:r>
              <a:rPr lang="en-US" sz="2400" dirty="0" err="1" smtClean="0"/>
              <a:t>cụ</a:t>
            </a:r>
            <a:r>
              <a:rPr lang="en-US" sz="2400" dirty="0" smtClean="0"/>
              <a:t> IBM</a:t>
            </a:r>
            <a:endParaRPr lang="en-US" sz="2400" dirty="0"/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1514476" y="1766342"/>
            <a:ext cx="9437690" cy="530225"/>
            <a:chOff x="1239" y="1296"/>
            <a:chExt cx="5945" cy="334"/>
          </a:xfrm>
        </p:grpSpPr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1392" y="1569"/>
              <a:ext cx="5421" cy="13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9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14" name="AutoShape 10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AutoShape 11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527" y="1296"/>
              <a:ext cx="56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b="1" dirty="0">
                  <a:solidFill>
                    <a:srgbClr val="C00000"/>
                  </a:solidFill>
                </a:rPr>
                <a:t>2.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Tích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hợp</a:t>
              </a:r>
              <a:r>
                <a:rPr lang="en-US" sz="2400" b="1" dirty="0" smtClean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SonarQube</a:t>
              </a:r>
              <a:r>
                <a:rPr lang="en-US" sz="2400" b="1" dirty="0" smtClean="0">
                  <a:solidFill>
                    <a:srgbClr val="C00000"/>
                  </a:solidFill>
                </a:rPr>
                <a:t>, auto build IBM -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Quét</a:t>
              </a:r>
              <a:r>
                <a:rPr lang="en-US" sz="2400" b="1" dirty="0" smtClean="0">
                  <a:solidFill>
                    <a:srgbClr val="C00000"/>
                  </a:solidFill>
                </a:rPr>
                <a:t> source code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hằng</a:t>
              </a:r>
              <a:r>
                <a:rPr lang="en-US" sz="2400" b="1" dirty="0" smtClean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>
                  <a:solidFill>
                    <a:srgbClr val="C00000"/>
                  </a:solidFill>
                </a:rPr>
                <a:t>ngày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1514476" y="2683917"/>
            <a:ext cx="8848728" cy="530225"/>
            <a:chOff x="1239" y="1296"/>
            <a:chExt cx="5574" cy="334"/>
          </a:xfrm>
        </p:grpSpPr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V="1">
              <a:off x="1392" y="1572"/>
              <a:ext cx="5421" cy="1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" name="Group 15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0" name="AutoShape 16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AutoShape 17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1527" y="1296"/>
              <a:ext cx="242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>
                  <a:solidFill>
                    <a:srgbClr val="000000"/>
                  </a:solidFill>
                </a:rPr>
                <a:t>3. </a:t>
              </a:r>
              <a:r>
                <a:rPr lang="en-US" sz="2400" dirty="0" err="1" smtClean="0"/>
                <a:t>Các</a:t>
              </a:r>
              <a:r>
                <a:rPr lang="en-US" sz="2400" dirty="0"/>
                <a:t> </a:t>
              </a:r>
              <a:r>
                <a:rPr lang="en-US" sz="2400" dirty="0" err="1" smtClean="0"/>
                <a:t>khó</a:t>
              </a:r>
              <a:r>
                <a:rPr lang="en-US" sz="2400" dirty="0"/>
                <a:t> </a:t>
              </a:r>
              <a:r>
                <a:rPr lang="en-US" sz="2400" dirty="0" err="1" smtClean="0"/>
                <a:t>khăn</a:t>
              </a:r>
              <a:r>
                <a:rPr lang="en-US" sz="2400" dirty="0" smtClean="0"/>
                <a:t> </a:t>
              </a:r>
              <a:r>
                <a:rPr lang="en-US" sz="2400" dirty="0" err="1" smtClean="0"/>
                <a:t>khi</a:t>
              </a:r>
              <a:r>
                <a:rPr lang="en-US" sz="2400" dirty="0"/>
                <a:t> </a:t>
              </a:r>
              <a:r>
                <a:rPr lang="en-US" sz="2400" dirty="0" err="1" smtClean="0"/>
                <a:t>thực</a:t>
              </a:r>
              <a:r>
                <a:rPr lang="en-US" sz="2400" dirty="0"/>
                <a:t> </a:t>
              </a:r>
              <a:r>
                <a:rPr lang="en-US" sz="2400" dirty="0" err="1"/>
                <a:t>hiện</a:t>
              </a:r>
              <a:endParaRPr lang="en-US" sz="2400" dirty="0"/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1514475" y="3595142"/>
            <a:ext cx="8848726" cy="530225"/>
            <a:chOff x="1239" y="1296"/>
            <a:chExt cx="5574" cy="334"/>
          </a:xfrm>
        </p:grpSpPr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V="1">
              <a:off x="1392" y="1581"/>
              <a:ext cx="5421" cy="1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" name="Group 21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6" name="AutoShape 22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AutoShape 23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527" y="1296"/>
              <a:ext cx="26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>
                  <a:solidFill>
                    <a:srgbClr val="000000"/>
                  </a:solidFill>
                </a:rPr>
                <a:t>4.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Yêu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cầu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đảm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bảo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và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cách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</a:rPr>
                <a:t>làm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554918" y="6542114"/>
            <a:ext cx="609600" cy="333375"/>
          </a:xfrm>
        </p:spPr>
        <p:txBody>
          <a:bodyPr/>
          <a:lstStyle/>
          <a:p>
            <a:fld id="{92BEBB8C-77F5-40D9-8B48-B78E5C420A3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04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68340"/>
          </a:xfrm>
        </p:spPr>
        <p:txBody>
          <a:bodyPr/>
          <a:lstStyle/>
          <a:p>
            <a:r>
              <a:rPr lang="vi-VN" dirty="0" smtClean="0"/>
              <a:t>Automation build IBM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68340"/>
            <a:ext cx="12039600" cy="5656260"/>
          </a:xfrm>
        </p:spPr>
        <p:txBody>
          <a:bodyPr/>
          <a:lstStyle/>
          <a:p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vi-VN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ước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  <a:r>
              <a:rPr lang="en-US" sz="2400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Jazz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Build Engine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“Build server” (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chung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VTICT)</a:t>
            </a:r>
          </a:p>
          <a:p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vi-VN" sz="2400" u="sng" dirty="0">
                <a:latin typeface="Arial" panose="020B0604020202020204" pitchFamily="34" charset="0"/>
                <a:cs typeface="Arial" panose="020B0604020202020204" pitchFamily="34" charset="0"/>
              </a:rPr>
              <a:t>ước 2: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 Tạo build workspace tương ứng </a:t>
            </a:r>
            <a:r>
              <a:rPr lang="vi-VN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với </a:t>
            </a:r>
            <a:r>
              <a:rPr lang="vi-VN" sz="2400" dirty="0">
                <a:cs typeface="Arial" panose="020B0604020202020204" pitchFamily="34" charset="0"/>
              </a:rPr>
              <a:t>project build (Mỗi dự án tạo 1 workspace tương ứng)</a:t>
            </a:r>
            <a:endParaRPr lang="vi-V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Bước 3</a:t>
            </a:r>
            <a:r>
              <a:rPr lang="vi-VN" sz="2400" u="sng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sz="2400" dirty="0">
                <a:latin typeface="Arial" panose="020B0604020202020204" pitchFamily="34" charset="0"/>
                <a:cs typeface="Arial" panose="020B0604020202020204" pitchFamily="34" charset="0"/>
              </a:rPr>
              <a:t> Tạo build </a:t>
            </a:r>
            <a:r>
              <a:rPr lang="vi-VN" sz="2400" dirty="0">
                <a:cs typeface="Arial" panose="020B0604020202020204" pitchFamily="34" charset="0"/>
              </a:rPr>
              <a:t>definition cho mỗi dự án</a:t>
            </a:r>
            <a:endParaRPr lang="vi-V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vi-V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Các template hỗ trợ:</a:t>
            </a:r>
          </a:p>
          <a:p>
            <a:pPr lvl="2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Ant</a:t>
            </a:r>
          </a:p>
          <a:p>
            <a:pPr lvl="2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Maven</a:t>
            </a:r>
          </a:p>
          <a:p>
            <a:pPr lvl="2"/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Msbuild</a:t>
            </a: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Command line (jazz build engine/rational build agent),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hundson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/Jenkins build, rational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forge, z/OS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dependency build… </a:t>
            </a:r>
          </a:p>
          <a:p>
            <a:pPr lvl="1"/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Cấu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build </a:t>
            </a:r>
          </a:p>
          <a:p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vi-VN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ước 4</a:t>
            </a:r>
            <a:r>
              <a:rPr lang="vi-VN" sz="2400" u="sng" dirty="0">
                <a:cs typeface="Arial" panose="020B0604020202020204" pitchFamily="34" charset="0"/>
              </a:rPr>
              <a:t>:</a:t>
            </a:r>
            <a:r>
              <a:rPr lang="vi-VN" sz="2400" dirty="0">
                <a:cs typeface="Arial" panose="020B0604020202020204" pitchFamily="34" charset="0"/>
              </a:rPr>
              <a:t> Tạo build engine và chạy tiến trình lắng nghe request build trên Build </a:t>
            </a:r>
            <a:r>
              <a:rPr lang="vi-VN" sz="2400" dirty="0" smtClean="0">
                <a:cs typeface="Arial" panose="020B0604020202020204" pitchFamily="34" charset="0"/>
              </a:rPr>
              <a:t>server</a:t>
            </a:r>
            <a:r>
              <a:rPr lang="vi-VN" sz="2400" dirty="0" smtClean="0"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Bước</a:t>
            </a:r>
            <a:r>
              <a:rPr lang="en-US" sz="24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 5: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Team membe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tiến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hành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request build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từ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web/IDE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lập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lịch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hằng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ngày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vi-VN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98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43000"/>
          </a:xfrm>
        </p:spPr>
        <p:txBody>
          <a:bodyPr/>
          <a:lstStyle/>
          <a:p>
            <a:r>
              <a:rPr lang="vi-VN" sz="38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Tích hợp </a:t>
            </a:r>
            <a:r>
              <a:rPr lang="vi-VN" sz="3800" b="1" dirty="0" smtClean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SonarQube</a:t>
            </a:r>
            <a:r>
              <a:rPr lang="vi-VN" sz="3800" b="1" dirty="0">
                <a:latin typeface="Calibri" panose="020F0502020204030204" pitchFamily="34" charset="0"/>
                <a:ea typeface="Tahoma" panose="020B0604030504040204" pitchFamily="34" charset="0"/>
                <a:cs typeface="Calibri" panose="020F0502020204030204" pitchFamily="34" charset="0"/>
              </a:rPr>
              <a:t>, build và quét source code hằng ngày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82400" y="6524625"/>
            <a:ext cx="609600" cy="333375"/>
          </a:xfrm>
        </p:spPr>
        <p:txBody>
          <a:bodyPr/>
          <a:lstStyle/>
          <a:p>
            <a:fld id="{92BEBB8C-77F5-40D9-8B48-B78E5C420A3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58" y="1047163"/>
            <a:ext cx="10977883" cy="4763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987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Các quy tắc áp dụng </a:t>
            </a:r>
            <a:r>
              <a:rPr lang="vi-VN" dirty="0" smtClean="0"/>
              <a:t>trong SonarQube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Java:</a:t>
            </a:r>
          </a:p>
          <a:p>
            <a:pPr lvl="1"/>
            <a:r>
              <a:rPr lang="vi-VN" dirty="0" smtClean="0"/>
              <a:t>Findbugs </a:t>
            </a:r>
            <a:r>
              <a:rPr lang="vi-VN" dirty="0" smtClean="0"/>
              <a:t>rules</a:t>
            </a:r>
            <a:r>
              <a:rPr lang="en-US" dirty="0" smtClean="0"/>
              <a:t> (</a:t>
            </a:r>
            <a:r>
              <a:rPr lang="en-US" dirty="0">
                <a:hlinkClick r:id="rId3"/>
              </a:rPr>
              <a:t>The University of Maryland</a:t>
            </a:r>
            <a:r>
              <a:rPr lang="en-US" dirty="0" smtClean="0"/>
              <a:t>)</a:t>
            </a:r>
            <a:endParaRPr lang="vi-VN" dirty="0" smtClean="0"/>
          </a:p>
          <a:p>
            <a:pPr lvl="1"/>
            <a:r>
              <a:rPr lang="vi-VN" dirty="0" smtClean="0"/>
              <a:t>PMD </a:t>
            </a:r>
            <a:r>
              <a:rPr lang="vi-VN" dirty="0" smtClean="0"/>
              <a:t>rules</a:t>
            </a:r>
            <a:r>
              <a:rPr lang="en-US" dirty="0"/>
              <a:t> (</a:t>
            </a:r>
            <a:r>
              <a:rPr lang="en-US" dirty="0">
                <a:hlinkClick r:id="rId4"/>
              </a:rPr>
              <a:t>https://pmd.github.io</a:t>
            </a:r>
            <a:r>
              <a:rPr lang="en-US" dirty="0" smtClean="0">
                <a:hlinkClick r:id="rId4"/>
              </a:rPr>
              <a:t>/</a:t>
            </a:r>
            <a:r>
              <a:rPr lang="en-US" dirty="0" smtClean="0"/>
              <a:t>)</a:t>
            </a:r>
            <a:endParaRPr lang="vi-VN" dirty="0" smtClean="0"/>
          </a:p>
          <a:p>
            <a:pPr lvl="1"/>
            <a:r>
              <a:rPr lang="vi-VN" dirty="0" smtClean="0"/>
              <a:t>SonarQube rules</a:t>
            </a:r>
          </a:p>
          <a:p>
            <a:r>
              <a:rPr lang="vi-VN" dirty="0" smtClean="0"/>
              <a:t>.NET:</a:t>
            </a:r>
          </a:p>
          <a:p>
            <a:pPr lvl="1"/>
            <a:r>
              <a:rPr lang="vi-VN" dirty="0" smtClean="0"/>
              <a:t>Reshaper </a:t>
            </a:r>
            <a:r>
              <a:rPr lang="vi-VN" dirty="0" smtClean="0"/>
              <a:t>rules</a:t>
            </a:r>
            <a:r>
              <a:rPr lang="en-US" dirty="0" smtClean="0"/>
              <a:t> (</a:t>
            </a:r>
            <a:r>
              <a:rPr lang="en-US" dirty="0" smtClean="0">
                <a:hlinkClick r:id="rId5"/>
              </a:rPr>
              <a:t>jetbrains</a:t>
            </a:r>
            <a:r>
              <a:rPr lang="en-US" dirty="0" smtClean="0">
                <a:hlinkClick r:id="rId5"/>
              </a:rPr>
              <a:t>.com</a:t>
            </a:r>
            <a:r>
              <a:rPr lang="en-US" dirty="0" smtClean="0"/>
              <a:t>)</a:t>
            </a:r>
            <a:endParaRPr lang="vi-VN" dirty="0" smtClean="0"/>
          </a:p>
          <a:p>
            <a:pPr lvl="1"/>
            <a:r>
              <a:rPr lang="vi-VN" dirty="0"/>
              <a:t>Fxcop/code </a:t>
            </a:r>
            <a:r>
              <a:rPr lang="vi-VN" dirty="0" smtClean="0"/>
              <a:t>analysis rules</a:t>
            </a:r>
          </a:p>
          <a:p>
            <a:pPr lvl="1"/>
            <a:r>
              <a:rPr lang="vi-VN" dirty="0" smtClean="0"/>
              <a:t>SonarQube rules</a:t>
            </a:r>
          </a:p>
          <a:p>
            <a:pPr lvl="1"/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2057400" y="13741"/>
            <a:ext cx="1531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2800" b="1" dirty="0" err="1">
                <a:ea typeface="Tahoma" pitchFamily="34" charset="0"/>
                <a:cs typeface="Tahoma" pitchFamily="34" charset="0"/>
              </a:rPr>
              <a:t>Nội</a:t>
            </a:r>
            <a:r>
              <a:rPr lang="en-US" sz="2800" b="1" dirty="0">
                <a:ea typeface="Tahoma" pitchFamily="34" charset="0"/>
                <a:cs typeface="Tahoma" pitchFamily="34" charset="0"/>
              </a:rPr>
              <a:t> dung</a:t>
            </a:r>
            <a:endParaRPr lang="vi-VN" sz="2800" b="1" dirty="0">
              <a:latin typeface="+mj-lt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757363" y="1305966"/>
            <a:ext cx="8605838" cy="11114"/>
          </a:xfrm>
          <a:prstGeom prst="line">
            <a:avLst/>
          </a:prstGeom>
          <a:noFill/>
          <a:ln w="25400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514476" y="1199604"/>
            <a:ext cx="182563" cy="182562"/>
            <a:chOff x="1239" y="1515"/>
            <a:chExt cx="115" cy="115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gray">
            <a:xfrm rot="2700000">
              <a:off x="1239" y="1515"/>
              <a:ext cx="115" cy="115"/>
            </a:xfrm>
            <a:prstGeom prst="rtTriangl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5"/>
            <p:cNvSpPr>
              <a:spLocks noChangeArrowheads="1"/>
            </p:cNvSpPr>
            <p:nvPr/>
          </p:nvSpPr>
          <p:spPr bwMode="gray">
            <a:xfrm rot="18900000" flipH="1">
              <a:off x="1239" y="1515"/>
              <a:ext cx="115" cy="115"/>
            </a:xfrm>
            <a:prstGeom prst="rtTriangle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971676" y="851942"/>
            <a:ext cx="6523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/>
              <a:t>1. </a:t>
            </a:r>
            <a:r>
              <a:rPr lang="en-US" sz="2400" dirty="0" err="1" smtClean="0"/>
              <a:t>Tích</a:t>
            </a:r>
            <a:r>
              <a:rPr lang="en-US" sz="2400" dirty="0" smtClean="0"/>
              <a:t> </a:t>
            </a:r>
            <a:r>
              <a:rPr lang="en-US" sz="2400" dirty="0" err="1" smtClean="0"/>
              <a:t>hợp</a:t>
            </a:r>
            <a:r>
              <a:rPr lang="en-US" sz="2400" dirty="0"/>
              <a:t> </a:t>
            </a:r>
            <a:r>
              <a:rPr lang="en-US" sz="2400" dirty="0" err="1" smtClean="0"/>
              <a:t>liên</a:t>
            </a:r>
            <a:r>
              <a:rPr lang="en-US" sz="2400" dirty="0"/>
              <a:t> </a:t>
            </a:r>
            <a:r>
              <a:rPr lang="en-US" sz="2400" dirty="0" err="1" smtClean="0"/>
              <a:t>tục</a:t>
            </a:r>
            <a:r>
              <a:rPr lang="en-US" sz="2400" dirty="0"/>
              <a:t> (CI) </a:t>
            </a:r>
            <a:r>
              <a:rPr lang="en-US" sz="2400" dirty="0" err="1" smtClean="0"/>
              <a:t>và</a:t>
            </a:r>
            <a:r>
              <a:rPr lang="en-US" sz="2400" dirty="0"/>
              <a:t> </a:t>
            </a:r>
            <a:r>
              <a:rPr lang="en-US" sz="2400" dirty="0" err="1" smtClean="0"/>
              <a:t>thực</a:t>
            </a:r>
            <a:r>
              <a:rPr lang="en-US" sz="2400" dirty="0"/>
              <a:t> </a:t>
            </a:r>
            <a:r>
              <a:rPr lang="en-US" sz="2400" dirty="0" err="1" smtClean="0"/>
              <a:t>trạng</a:t>
            </a:r>
            <a:r>
              <a:rPr lang="en-US" sz="2400" dirty="0"/>
              <a:t> </a:t>
            </a:r>
            <a:r>
              <a:rPr lang="en-US" sz="2400" dirty="0" err="1" smtClean="0"/>
              <a:t>công</a:t>
            </a:r>
            <a:r>
              <a:rPr lang="en-US" sz="2400" dirty="0"/>
              <a:t> </a:t>
            </a:r>
            <a:r>
              <a:rPr lang="en-US" sz="2400" dirty="0" err="1" smtClean="0"/>
              <a:t>cụ</a:t>
            </a:r>
            <a:r>
              <a:rPr lang="en-US" sz="2400" dirty="0" smtClean="0"/>
              <a:t> IBM</a:t>
            </a:r>
            <a:endParaRPr lang="en-US" sz="2400" dirty="0"/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1514476" y="1766342"/>
            <a:ext cx="9437690" cy="530225"/>
            <a:chOff x="1239" y="1296"/>
            <a:chExt cx="5945" cy="334"/>
          </a:xfrm>
        </p:grpSpPr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1392" y="1569"/>
              <a:ext cx="5421" cy="13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9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14" name="AutoShape 10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AutoShape 11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527" y="1296"/>
              <a:ext cx="56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/>
                <a:t>2. </a:t>
              </a:r>
              <a:r>
                <a:rPr lang="en-US" sz="2400" dirty="0" err="1" smtClean="0"/>
                <a:t>Tích</a:t>
              </a:r>
              <a:r>
                <a:rPr lang="en-US" sz="2400" dirty="0"/>
                <a:t> </a:t>
              </a:r>
              <a:r>
                <a:rPr lang="en-US" sz="2400" dirty="0" err="1" smtClean="0"/>
                <a:t>hợp</a:t>
              </a:r>
              <a:r>
                <a:rPr lang="en-US" sz="2400" dirty="0" smtClean="0"/>
                <a:t> </a:t>
              </a:r>
              <a:r>
                <a:rPr lang="en-US" sz="2400" dirty="0" err="1" smtClean="0"/>
                <a:t>SonarQube</a:t>
              </a:r>
              <a:r>
                <a:rPr lang="en-US" sz="2400" dirty="0" smtClean="0"/>
                <a:t>, auto build IBM - </a:t>
              </a:r>
              <a:r>
                <a:rPr lang="en-US" sz="2400" dirty="0" err="1" smtClean="0"/>
                <a:t>Quét</a:t>
              </a:r>
              <a:r>
                <a:rPr lang="en-US" sz="2400" dirty="0" smtClean="0"/>
                <a:t> source code </a:t>
              </a:r>
              <a:r>
                <a:rPr lang="en-US" sz="2400" dirty="0" err="1" smtClean="0"/>
                <a:t>hằng</a:t>
              </a:r>
              <a:r>
                <a:rPr lang="en-US" sz="2400" dirty="0" smtClean="0"/>
                <a:t> </a:t>
              </a:r>
              <a:r>
                <a:rPr lang="en-US" sz="2400" dirty="0" err="1"/>
                <a:t>ngày</a:t>
              </a:r>
              <a:endParaRPr lang="en-US" sz="2400" dirty="0"/>
            </a:p>
          </p:txBody>
        </p:sp>
      </p:grp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1514476" y="2683917"/>
            <a:ext cx="8848728" cy="530225"/>
            <a:chOff x="1239" y="1296"/>
            <a:chExt cx="5574" cy="334"/>
          </a:xfrm>
        </p:grpSpPr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V="1">
              <a:off x="1392" y="1572"/>
              <a:ext cx="5421" cy="1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" name="Group 15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0" name="AutoShape 16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AutoShape 17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1527" y="1296"/>
              <a:ext cx="247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b="1" dirty="0">
                  <a:solidFill>
                    <a:srgbClr val="C00000"/>
                  </a:solidFill>
                </a:rPr>
                <a:t>3.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Các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khó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khăn</a:t>
              </a:r>
              <a:r>
                <a:rPr lang="en-US" sz="2400" b="1" dirty="0" smtClean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khi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thực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>
                  <a:solidFill>
                    <a:srgbClr val="C00000"/>
                  </a:solidFill>
                </a:rPr>
                <a:t>hiện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1514475" y="3595142"/>
            <a:ext cx="8848726" cy="530225"/>
            <a:chOff x="1239" y="1296"/>
            <a:chExt cx="5574" cy="334"/>
          </a:xfrm>
        </p:grpSpPr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V="1">
              <a:off x="1392" y="1581"/>
              <a:ext cx="5421" cy="1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" name="Group 21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6" name="AutoShape 22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AutoShape 23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527" y="1296"/>
              <a:ext cx="26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>
                  <a:solidFill>
                    <a:srgbClr val="000000"/>
                  </a:solidFill>
                </a:rPr>
                <a:t>4.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Yêu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cầu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đảm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bảo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và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 smtClean="0">
                  <a:solidFill>
                    <a:srgbClr val="000000"/>
                  </a:solidFill>
                </a:rPr>
                <a:t>cách</a:t>
              </a:r>
              <a:r>
                <a:rPr lang="en-US" sz="2400" dirty="0">
                  <a:solidFill>
                    <a:srgbClr val="000000"/>
                  </a:solidFill>
                </a:rPr>
                <a:t> </a:t>
              </a:r>
              <a:r>
                <a:rPr lang="en-US" sz="2400" dirty="0" err="1">
                  <a:solidFill>
                    <a:srgbClr val="000000"/>
                  </a:solidFill>
                </a:rPr>
                <a:t>làm</a:t>
              </a:r>
              <a:endParaRPr lang="en-US" sz="24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554918" y="6542114"/>
            <a:ext cx="609600" cy="333375"/>
          </a:xfrm>
        </p:spPr>
        <p:txBody>
          <a:bodyPr/>
          <a:lstStyle/>
          <a:p>
            <a:fld id="{92BEBB8C-77F5-40D9-8B48-B78E5C420A3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294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Các khó khăn khi thực hiện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2000"/>
            <a:ext cx="12192000" cy="5135564"/>
          </a:xfrm>
        </p:spPr>
        <p:txBody>
          <a:bodyPr/>
          <a:lstStyle/>
          <a:p>
            <a:r>
              <a:rPr lang="vi-VN" sz="2000" dirty="0"/>
              <a:t>Các đội dự án vẫn chưa thực sự quản lý source code trên hệ </a:t>
            </a:r>
            <a:r>
              <a:rPr lang="vi-VN" sz="2000" dirty="0" smtClean="0"/>
              <a:t>thống IBM</a:t>
            </a:r>
          </a:p>
          <a:p>
            <a:r>
              <a:rPr lang="vi-VN" sz="2000" dirty="0"/>
              <a:t>Source code các dự án hầu như không thể build ngay lập tức khi lấy về (</a:t>
            </a:r>
            <a:r>
              <a:rPr lang="vi-VN" sz="2000" dirty="0" smtClean="0"/>
              <a:t>Có lỗi</a:t>
            </a:r>
            <a:r>
              <a:rPr lang="vi-VN" sz="2000" dirty="0"/>
              <a:t>, thiếu lib, </a:t>
            </a:r>
            <a:r>
              <a:rPr lang="vi-VN" sz="2000" dirty="0" smtClean="0"/>
              <a:t>thiếu source...)</a:t>
            </a:r>
            <a:endParaRPr lang="vi-V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846710"/>
              </p:ext>
            </p:extLst>
          </p:nvPr>
        </p:nvGraphicFramePr>
        <p:xfrm>
          <a:off x="1295400" y="1524000"/>
          <a:ext cx="9601199" cy="48005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3975"/>
                <a:gridCol w="3988191"/>
                <a:gridCol w="3545058"/>
                <a:gridCol w="1033975"/>
              </a:tblGrid>
              <a:tr h="2988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Đơn vị 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 b="1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Sản phẩm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Mã nguồn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B</a:t>
                      </a:r>
                      <a:r>
                        <a:rPr lang="vi-VN" sz="11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uild?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DACP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Dự án CSDLQG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Viettel.VTICT.TKTHDS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Viettel.VTICT.TKTHDS.PM3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row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SPGD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Uni.One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BUGD_VA_Uni.One.CMS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8685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BUGD_VA_Uni.One.SYNC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success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BUGD_VA_Uni.One.Api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EduPlatform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VTICT.EduPlatform.Cms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EMIS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TKGD_Online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Quản lý Thi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Quanly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ThiSinh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ToolHoTroCham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ToolHoTroTuyenSinh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4288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SPYT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Điện tâm đồ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Báo cáo đã chuyển đổi nhưng lại không có mã nguồn.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</a:tr>
              <a:tr h="348685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Tablet bác sỹ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DKKhamOnline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success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2486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Quản lý tiêm chủng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TCMR_Web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00B0F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success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8871">
                <a:tc vMerge="1">
                  <a:txBody>
                    <a:bodyPr/>
                    <a:lstStyle/>
                    <a:p>
                      <a:endParaRPr lang="vi-V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3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tế Phường Xã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 </a:t>
                      </a:r>
                      <a:endParaRPr lang="vi-V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vi-VN" sz="1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Failed</a:t>
                      </a:r>
                      <a:endParaRPr lang="vi-V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2615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"/>
          <p:cNvSpPr txBox="1">
            <a:spLocks noChangeArrowheads="1"/>
          </p:cNvSpPr>
          <p:nvPr/>
        </p:nvSpPr>
        <p:spPr bwMode="auto">
          <a:xfrm>
            <a:off x="2057400" y="13741"/>
            <a:ext cx="153118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sz="2800" b="1" dirty="0" err="1">
                <a:ea typeface="Tahoma" pitchFamily="34" charset="0"/>
                <a:cs typeface="Tahoma" pitchFamily="34" charset="0"/>
              </a:rPr>
              <a:t>Nội</a:t>
            </a:r>
            <a:r>
              <a:rPr lang="en-US" sz="2800" b="1" dirty="0">
                <a:ea typeface="Tahoma" pitchFamily="34" charset="0"/>
                <a:cs typeface="Tahoma" pitchFamily="34" charset="0"/>
              </a:rPr>
              <a:t> dung</a:t>
            </a:r>
            <a:endParaRPr lang="vi-VN" sz="2800" b="1" dirty="0">
              <a:latin typeface="+mj-lt"/>
            </a:endParaRPr>
          </a:p>
        </p:txBody>
      </p:sp>
      <p:sp>
        <p:nvSpPr>
          <p:cNvPr id="5" name="Line 2"/>
          <p:cNvSpPr>
            <a:spLocks noChangeShapeType="1"/>
          </p:cNvSpPr>
          <p:nvPr/>
        </p:nvSpPr>
        <p:spPr bwMode="auto">
          <a:xfrm>
            <a:off x="1757363" y="1305966"/>
            <a:ext cx="8605838" cy="11114"/>
          </a:xfrm>
          <a:prstGeom prst="line">
            <a:avLst/>
          </a:prstGeom>
          <a:noFill/>
          <a:ln w="25400">
            <a:solidFill>
              <a:srgbClr val="5F5F5F"/>
            </a:solidFill>
            <a:prstDash val="sysDot"/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1514476" y="1199604"/>
            <a:ext cx="182563" cy="182562"/>
            <a:chOff x="1239" y="1515"/>
            <a:chExt cx="115" cy="115"/>
          </a:xfrm>
        </p:grpSpPr>
        <p:sp>
          <p:nvSpPr>
            <p:cNvPr id="7" name="AutoShape 4"/>
            <p:cNvSpPr>
              <a:spLocks noChangeArrowheads="1"/>
            </p:cNvSpPr>
            <p:nvPr/>
          </p:nvSpPr>
          <p:spPr bwMode="gray">
            <a:xfrm rot="2700000">
              <a:off x="1239" y="1515"/>
              <a:ext cx="115" cy="115"/>
            </a:xfrm>
            <a:prstGeom prst="rtTriangle">
              <a:avLst/>
            </a:prstGeom>
            <a:solidFill>
              <a:srgbClr val="80808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AutoShape 5"/>
            <p:cNvSpPr>
              <a:spLocks noChangeArrowheads="1"/>
            </p:cNvSpPr>
            <p:nvPr/>
          </p:nvSpPr>
          <p:spPr bwMode="gray">
            <a:xfrm rot="18900000" flipH="1">
              <a:off x="1239" y="1515"/>
              <a:ext cx="115" cy="115"/>
            </a:xfrm>
            <a:prstGeom prst="rtTriangle">
              <a:avLst/>
            </a:prstGeom>
            <a:solidFill>
              <a:srgbClr val="FF99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971676" y="851942"/>
            <a:ext cx="6523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/>
              <a:t>1. </a:t>
            </a:r>
            <a:r>
              <a:rPr lang="en-US" sz="2400" dirty="0" err="1" smtClean="0"/>
              <a:t>Tích</a:t>
            </a:r>
            <a:r>
              <a:rPr lang="en-US" sz="2400" dirty="0" smtClean="0"/>
              <a:t> </a:t>
            </a:r>
            <a:r>
              <a:rPr lang="en-US" sz="2400" dirty="0" err="1" smtClean="0"/>
              <a:t>hợp</a:t>
            </a:r>
            <a:r>
              <a:rPr lang="en-US" sz="2400" dirty="0"/>
              <a:t> </a:t>
            </a:r>
            <a:r>
              <a:rPr lang="en-US" sz="2400" dirty="0" err="1" smtClean="0"/>
              <a:t>liên</a:t>
            </a:r>
            <a:r>
              <a:rPr lang="en-US" sz="2400" dirty="0"/>
              <a:t> </a:t>
            </a:r>
            <a:r>
              <a:rPr lang="en-US" sz="2400" dirty="0" err="1" smtClean="0"/>
              <a:t>tục</a:t>
            </a:r>
            <a:r>
              <a:rPr lang="en-US" sz="2400" dirty="0"/>
              <a:t> (CI) </a:t>
            </a:r>
            <a:r>
              <a:rPr lang="en-US" sz="2400" dirty="0" err="1" smtClean="0"/>
              <a:t>và</a:t>
            </a:r>
            <a:r>
              <a:rPr lang="en-US" sz="2400" dirty="0"/>
              <a:t> </a:t>
            </a:r>
            <a:r>
              <a:rPr lang="en-US" sz="2400" dirty="0" err="1" smtClean="0"/>
              <a:t>thực</a:t>
            </a:r>
            <a:r>
              <a:rPr lang="en-US" sz="2400" dirty="0"/>
              <a:t> </a:t>
            </a:r>
            <a:r>
              <a:rPr lang="en-US" sz="2400" dirty="0" err="1" smtClean="0"/>
              <a:t>trạng</a:t>
            </a:r>
            <a:r>
              <a:rPr lang="en-US" sz="2400" dirty="0"/>
              <a:t> </a:t>
            </a:r>
            <a:r>
              <a:rPr lang="en-US" sz="2400" dirty="0" err="1" smtClean="0"/>
              <a:t>công</a:t>
            </a:r>
            <a:r>
              <a:rPr lang="en-US" sz="2400" dirty="0"/>
              <a:t> </a:t>
            </a:r>
            <a:r>
              <a:rPr lang="en-US" sz="2400" dirty="0" err="1" smtClean="0"/>
              <a:t>cụ</a:t>
            </a:r>
            <a:r>
              <a:rPr lang="en-US" sz="2400" dirty="0" smtClean="0"/>
              <a:t> IBM</a:t>
            </a:r>
            <a:endParaRPr lang="en-US" sz="2400" dirty="0"/>
          </a:p>
        </p:txBody>
      </p:sp>
      <p:grpSp>
        <p:nvGrpSpPr>
          <p:cNvPr id="10" name="Group 7"/>
          <p:cNvGrpSpPr>
            <a:grpSpLocks/>
          </p:cNvGrpSpPr>
          <p:nvPr/>
        </p:nvGrpSpPr>
        <p:grpSpPr bwMode="auto">
          <a:xfrm>
            <a:off x="1514476" y="1766342"/>
            <a:ext cx="9437690" cy="530225"/>
            <a:chOff x="1239" y="1296"/>
            <a:chExt cx="5945" cy="334"/>
          </a:xfrm>
        </p:grpSpPr>
        <p:sp>
          <p:nvSpPr>
            <p:cNvPr id="11" name="Line 8"/>
            <p:cNvSpPr>
              <a:spLocks noChangeShapeType="1"/>
            </p:cNvSpPr>
            <p:nvPr/>
          </p:nvSpPr>
          <p:spPr bwMode="auto">
            <a:xfrm flipV="1">
              <a:off x="1392" y="1569"/>
              <a:ext cx="5421" cy="13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2" name="Group 9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14" name="AutoShape 10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AutoShape 11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1527" y="1296"/>
              <a:ext cx="56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/>
                <a:t>2. </a:t>
              </a:r>
              <a:r>
                <a:rPr lang="en-US" sz="2400" dirty="0" err="1" smtClean="0"/>
                <a:t>Tích</a:t>
              </a:r>
              <a:r>
                <a:rPr lang="en-US" sz="2400" dirty="0"/>
                <a:t> </a:t>
              </a:r>
              <a:r>
                <a:rPr lang="en-US" sz="2400" dirty="0" err="1" smtClean="0"/>
                <a:t>hợp</a:t>
              </a:r>
              <a:r>
                <a:rPr lang="en-US" sz="2400" dirty="0" smtClean="0"/>
                <a:t> </a:t>
              </a:r>
              <a:r>
                <a:rPr lang="en-US" sz="2400" dirty="0" err="1" smtClean="0"/>
                <a:t>SonarQube</a:t>
              </a:r>
              <a:r>
                <a:rPr lang="en-US" sz="2400" dirty="0" smtClean="0"/>
                <a:t>, auto build IBM - </a:t>
              </a:r>
              <a:r>
                <a:rPr lang="en-US" sz="2400" dirty="0" err="1" smtClean="0"/>
                <a:t>Quét</a:t>
              </a:r>
              <a:r>
                <a:rPr lang="en-US" sz="2400" dirty="0" smtClean="0"/>
                <a:t> source code </a:t>
              </a:r>
              <a:r>
                <a:rPr lang="en-US" sz="2400" dirty="0" err="1" smtClean="0"/>
                <a:t>hằng</a:t>
              </a:r>
              <a:r>
                <a:rPr lang="en-US" sz="2400" dirty="0" smtClean="0"/>
                <a:t> </a:t>
              </a:r>
              <a:r>
                <a:rPr lang="en-US" sz="2400" dirty="0" err="1"/>
                <a:t>ngày</a:t>
              </a:r>
              <a:endParaRPr lang="en-US" sz="2400" dirty="0"/>
            </a:p>
          </p:txBody>
        </p:sp>
      </p:grp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1514476" y="2683917"/>
            <a:ext cx="8848728" cy="530225"/>
            <a:chOff x="1239" y="1296"/>
            <a:chExt cx="5574" cy="334"/>
          </a:xfrm>
        </p:grpSpPr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V="1">
              <a:off x="1392" y="1572"/>
              <a:ext cx="5421" cy="10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" name="Group 15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0" name="AutoShape 16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AutoShape 17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1527" y="1296"/>
              <a:ext cx="247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dirty="0"/>
                <a:t>3. </a:t>
              </a:r>
              <a:r>
                <a:rPr lang="en-US" sz="2400" dirty="0" err="1" smtClean="0"/>
                <a:t>Các</a:t>
              </a:r>
              <a:r>
                <a:rPr lang="en-US" sz="2400" dirty="0"/>
                <a:t> </a:t>
              </a:r>
              <a:r>
                <a:rPr lang="en-US" sz="2400" dirty="0" err="1" smtClean="0"/>
                <a:t>khó</a:t>
              </a:r>
              <a:r>
                <a:rPr lang="en-US" sz="2400" dirty="0"/>
                <a:t> </a:t>
              </a:r>
              <a:r>
                <a:rPr lang="en-US" sz="2400" dirty="0" err="1" smtClean="0"/>
                <a:t>khăn</a:t>
              </a:r>
              <a:r>
                <a:rPr lang="en-US" sz="2400" dirty="0" smtClean="0"/>
                <a:t> </a:t>
              </a:r>
              <a:r>
                <a:rPr lang="en-US" sz="2400" dirty="0" err="1" smtClean="0"/>
                <a:t>khi</a:t>
              </a:r>
              <a:r>
                <a:rPr lang="en-US" sz="2400" dirty="0"/>
                <a:t> </a:t>
              </a:r>
              <a:r>
                <a:rPr lang="en-US" sz="2400" dirty="0" err="1" smtClean="0"/>
                <a:t>thực</a:t>
              </a:r>
              <a:r>
                <a:rPr lang="en-US" sz="2400" dirty="0"/>
                <a:t> </a:t>
              </a:r>
              <a:r>
                <a:rPr lang="en-US" sz="2400" dirty="0" err="1"/>
                <a:t>hiện</a:t>
              </a:r>
              <a:endParaRPr lang="en-US" sz="2400" dirty="0"/>
            </a:p>
          </p:txBody>
        </p:sp>
      </p:grpSp>
      <p:grpSp>
        <p:nvGrpSpPr>
          <p:cNvPr id="22" name="Group 19"/>
          <p:cNvGrpSpPr>
            <a:grpSpLocks/>
          </p:cNvGrpSpPr>
          <p:nvPr/>
        </p:nvGrpSpPr>
        <p:grpSpPr bwMode="auto">
          <a:xfrm>
            <a:off x="1514475" y="3595142"/>
            <a:ext cx="8848726" cy="530225"/>
            <a:chOff x="1239" y="1296"/>
            <a:chExt cx="5574" cy="334"/>
          </a:xfrm>
        </p:grpSpPr>
        <p:sp>
          <p:nvSpPr>
            <p:cNvPr id="23" name="Line 20"/>
            <p:cNvSpPr>
              <a:spLocks noChangeShapeType="1"/>
            </p:cNvSpPr>
            <p:nvPr/>
          </p:nvSpPr>
          <p:spPr bwMode="auto">
            <a:xfrm flipV="1">
              <a:off x="1392" y="1581"/>
              <a:ext cx="5421" cy="1"/>
            </a:xfrm>
            <a:prstGeom prst="line">
              <a:avLst/>
            </a:prstGeom>
            <a:noFill/>
            <a:ln w="25400">
              <a:solidFill>
                <a:srgbClr val="5F5F5F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4" name="Group 21"/>
            <p:cNvGrpSpPr>
              <a:grpSpLocks/>
            </p:cNvGrpSpPr>
            <p:nvPr/>
          </p:nvGrpSpPr>
          <p:grpSpPr bwMode="auto">
            <a:xfrm>
              <a:off x="1239" y="1515"/>
              <a:ext cx="115" cy="115"/>
              <a:chOff x="1239" y="1515"/>
              <a:chExt cx="115" cy="115"/>
            </a:xfrm>
          </p:grpSpPr>
          <p:sp>
            <p:nvSpPr>
              <p:cNvPr id="26" name="AutoShape 22"/>
              <p:cNvSpPr>
                <a:spLocks noChangeArrowheads="1"/>
              </p:cNvSpPr>
              <p:nvPr/>
            </p:nvSpPr>
            <p:spPr bwMode="gray">
              <a:xfrm rot="2700000">
                <a:off x="1239" y="1515"/>
                <a:ext cx="115" cy="115"/>
              </a:xfrm>
              <a:prstGeom prst="rtTriangle">
                <a:avLst/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AutoShape 23"/>
              <p:cNvSpPr>
                <a:spLocks noChangeArrowheads="1"/>
              </p:cNvSpPr>
              <p:nvPr/>
            </p:nvSpPr>
            <p:spPr bwMode="gray">
              <a:xfrm rot="18900000" flipH="1">
                <a:off x="1239" y="1515"/>
                <a:ext cx="115" cy="115"/>
              </a:xfrm>
              <a:prstGeom prst="rtTriangle">
                <a:avLst/>
              </a:prstGeom>
              <a:solidFill>
                <a:srgbClr val="FF99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1527" y="1296"/>
              <a:ext cx="265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b="1" dirty="0">
                  <a:solidFill>
                    <a:srgbClr val="C00000"/>
                  </a:solidFill>
                </a:rPr>
                <a:t>4.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Yêu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cầu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đảm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bảo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và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 smtClean="0">
                  <a:solidFill>
                    <a:srgbClr val="C00000"/>
                  </a:solidFill>
                </a:rPr>
                <a:t>cách</a:t>
              </a:r>
              <a:r>
                <a:rPr lang="en-US" sz="2400" b="1" dirty="0">
                  <a:solidFill>
                    <a:srgbClr val="C00000"/>
                  </a:solidFill>
                </a:rPr>
                <a:t> </a:t>
              </a:r>
              <a:r>
                <a:rPr lang="en-US" sz="2400" b="1" dirty="0" err="1">
                  <a:solidFill>
                    <a:srgbClr val="C00000"/>
                  </a:solidFill>
                </a:rPr>
                <a:t>làm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554918" y="6542114"/>
            <a:ext cx="609600" cy="333375"/>
          </a:xfrm>
        </p:spPr>
        <p:txBody>
          <a:bodyPr/>
          <a:lstStyle/>
          <a:p>
            <a:fld id="{92BEBB8C-77F5-40D9-8B48-B78E5C420A3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35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Yêu cầu đảm bảo và cách làm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11887200" cy="5135564"/>
          </a:xfrm>
        </p:spPr>
        <p:txBody>
          <a:bodyPr/>
          <a:lstStyle/>
          <a:p>
            <a:r>
              <a:rPr lang="vi-VN" sz="2400" b="1" u="sng" dirty="0"/>
              <a:t>Yêu cầu đảm bảo:</a:t>
            </a:r>
            <a:r>
              <a:rPr lang="vi-VN" sz="2400" b="1" dirty="0"/>
              <a:t> </a:t>
            </a:r>
            <a:r>
              <a:rPr lang="vi-VN" sz="2400" dirty="0"/>
              <a:t>Source code phải được deliver đầy đủ đảm bảo có thể build </a:t>
            </a:r>
            <a:r>
              <a:rPr lang="vi-VN" sz="2400" dirty="0" smtClean="0"/>
              <a:t>được</a:t>
            </a:r>
          </a:p>
          <a:p>
            <a:r>
              <a:rPr lang="vi-VN" sz="2400" b="1" u="sng" dirty="0"/>
              <a:t>Cách </a:t>
            </a:r>
            <a:r>
              <a:rPr lang="vi-VN" sz="2400" b="1" u="sng" dirty="0" smtClean="0"/>
              <a:t>làm:</a:t>
            </a:r>
          </a:p>
          <a:p>
            <a:pPr lvl="1"/>
            <a:r>
              <a:rPr lang="vi-VN" sz="2400" dirty="0"/>
              <a:t>TTCN hoàn thiện bộ rules áp </a:t>
            </a:r>
            <a:r>
              <a:rPr lang="vi-VN" sz="2400" dirty="0" smtClean="0"/>
              <a:t>dụng</a:t>
            </a:r>
          </a:p>
          <a:p>
            <a:pPr lvl="1"/>
            <a:r>
              <a:rPr lang="vi-VN" sz="2400" dirty="0"/>
              <a:t>P.QLCL đưa ra chế tài, tiêu chí áp dụng với các dự án dựa trên bộ rules đã </a:t>
            </a:r>
            <a:r>
              <a:rPr lang="vi-VN" sz="2400" dirty="0" smtClean="0"/>
              <a:t>có</a:t>
            </a:r>
          </a:p>
          <a:p>
            <a:pPr lvl="1"/>
            <a:r>
              <a:rPr lang="vi-VN" sz="2400" dirty="0"/>
              <a:t>Triển khai toàn bộ các dự án trung </a:t>
            </a:r>
            <a:r>
              <a:rPr lang="vi-VN" sz="2400" dirty="0" smtClean="0"/>
              <a:t>tâm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308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0"/>
            <a:ext cx="7772400" cy="990600"/>
          </a:xfrm>
        </p:spPr>
        <p:txBody>
          <a:bodyPr/>
          <a:lstStyle/>
          <a:p>
            <a:pPr algn="l"/>
            <a:r>
              <a:rPr lang="en-US" sz="2800" b="1" dirty="0" err="1">
                <a:cs typeface="Times New Roman" pitchFamily="18" charset="0"/>
              </a:rPr>
              <a:t>Thảo</a:t>
            </a:r>
            <a:r>
              <a:rPr lang="en-US" sz="2800" b="1" dirty="0">
                <a:cs typeface="Times New Roman" pitchFamily="18" charset="0"/>
              </a:rPr>
              <a:t> </a:t>
            </a:r>
            <a:r>
              <a:rPr lang="en-US" sz="2800" b="1" dirty="0" err="1">
                <a:cs typeface="Times New Roman" pitchFamily="18" charset="0"/>
              </a:rPr>
              <a:t>luận</a:t>
            </a:r>
            <a:endParaRPr lang="en-US" sz="2800" b="1" dirty="0">
              <a:cs typeface="Times New Roman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1424781"/>
            <a:ext cx="4572000" cy="45720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BEBB8C-77F5-40D9-8B48-B78E5C420A33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25074</TotalTime>
  <Words>807</Words>
  <Application>Microsoft Office PowerPoint</Application>
  <PresentationFormat>Widescreen</PresentationFormat>
  <Paragraphs>143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Tahoma</vt:lpstr>
      <vt:lpstr>Times New Roman</vt:lpstr>
      <vt:lpstr>Office Theme</vt:lpstr>
      <vt:lpstr>PowerPoint Presentation</vt:lpstr>
      <vt:lpstr>PowerPoint Presentation</vt:lpstr>
      <vt:lpstr>Tích hợp liên tục</vt:lpstr>
      <vt:lpstr>Practices of Continuous Integration</vt:lpstr>
      <vt:lpstr>Thực trạng áp dụng CI ở VTICT</vt:lpstr>
      <vt:lpstr>Luồng tích hợp liên tục trong RTC IBM</vt:lpstr>
      <vt:lpstr>Một số quy tắc nâng cao chất lượng source code</vt:lpstr>
      <vt:lpstr>PowerPoint Presentation</vt:lpstr>
      <vt:lpstr>Automation build IBM</vt:lpstr>
      <vt:lpstr>Tích hợp SonarQube, build và quét source code hằng ngày</vt:lpstr>
      <vt:lpstr>Các quy tắc áp dụng trong SonarQube</vt:lpstr>
      <vt:lpstr>PowerPoint Presentation</vt:lpstr>
      <vt:lpstr>Các khó khăn khi thực hiện</vt:lpstr>
      <vt:lpstr>PowerPoint Presentation</vt:lpstr>
      <vt:lpstr>Yêu cầu đảm bảo và cách làm</vt:lpstr>
      <vt:lpstr>Thảo luận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iOS 8 có gì cho developers</dc:title>
  <dc:creator/>
  <cp:lastModifiedBy>NCPT-DungDB</cp:lastModifiedBy>
  <cp:revision>799</cp:revision>
  <cp:lastPrinted>2014-06-25T10:19:18Z</cp:lastPrinted>
  <dcterms:created xsi:type="dcterms:W3CDTF">2006-08-16T00:00:00Z</dcterms:created>
  <dcterms:modified xsi:type="dcterms:W3CDTF">2015-09-28T16:26:53Z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BMPSD">
    <vt:lpwstr>K</vt:lpwstr>
  </property>
</Properties>
</file>